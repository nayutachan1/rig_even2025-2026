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3"/>
  </p:notesMasterIdLst>
  <p:sldIdLst>
    <p:sldId id="256" r:id="rId5"/>
    <p:sldId id="395" r:id="rId6"/>
    <p:sldId id="553" r:id="rId7"/>
    <p:sldId id="565" r:id="rId8"/>
    <p:sldId id="566" r:id="rId9"/>
    <p:sldId id="551" r:id="rId10"/>
    <p:sldId id="492" r:id="rId11"/>
    <p:sldId id="394" r:id="rId12"/>
    <p:sldId id="398" r:id="rId13"/>
    <p:sldId id="462" r:id="rId14"/>
    <p:sldId id="473" r:id="rId15"/>
    <p:sldId id="463" r:id="rId16"/>
    <p:sldId id="464" r:id="rId17"/>
    <p:sldId id="561" r:id="rId18"/>
    <p:sldId id="439" r:id="rId19"/>
    <p:sldId id="440" r:id="rId20"/>
    <p:sldId id="467" r:id="rId21"/>
    <p:sldId id="468" r:id="rId22"/>
    <p:sldId id="441" r:id="rId23"/>
    <p:sldId id="460" r:id="rId24"/>
    <p:sldId id="461" r:id="rId25"/>
    <p:sldId id="474" r:id="rId26"/>
    <p:sldId id="562" r:id="rId27"/>
    <p:sldId id="491" r:id="rId28"/>
    <p:sldId id="554" r:id="rId29"/>
    <p:sldId id="465" r:id="rId30"/>
    <p:sldId id="470" r:id="rId31"/>
    <p:sldId id="475" r:id="rId32"/>
    <p:sldId id="476" r:id="rId33"/>
    <p:sldId id="490" r:id="rId34"/>
    <p:sldId id="493" r:id="rId35"/>
    <p:sldId id="481" r:id="rId36"/>
    <p:sldId id="482" r:id="rId37"/>
    <p:sldId id="483" r:id="rId38"/>
    <p:sldId id="484" r:id="rId39"/>
    <p:sldId id="485" r:id="rId40"/>
    <p:sldId id="555" r:id="rId41"/>
    <p:sldId id="486" r:id="rId42"/>
    <p:sldId id="487" r:id="rId43"/>
    <p:sldId id="488" r:id="rId44"/>
    <p:sldId id="556" r:id="rId45"/>
    <p:sldId id="489" r:id="rId46"/>
    <p:sldId id="494" r:id="rId47"/>
    <p:sldId id="495" r:id="rId48"/>
    <p:sldId id="429" r:id="rId49"/>
    <p:sldId id="430" r:id="rId50"/>
    <p:sldId id="442" r:id="rId51"/>
    <p:sldId id="434" r:id="rId52"/>
    <p:sldId id="435" r:id="rId53"/>
    <p:sldId id="458" r:id="rId54"/>
    <p:sldId id="459" r:id="rId55"/>
    <p:sldId id="353" r:id="rId56"/>
    <p:sldId id="404" r:id="rId57"/>
    <p:sldId id="258" r:id="rId58"/>
    <p:sldId id="405" r:id="rId59"/>
    <p:sldId id="406" r:id="rId60"/>
    <p:sldId id="408" r:id="rId61"/>
    <p:sldId id="382" r:id="rId62"/>
    <p:sldId id="377" r:id="rId63"/>
    <p:sldId id="407" r:id="rId64"/>
    <p:sldId id="569" r:id="rId65"/>
    <p:sldId id="379" r:id="rId66"/>
    <p:sldId id="380" r:id="rId67"/>
    <p:sldId id="383" r:id="rId68"/>
    <p:sldId id="384" r:id="rId69"/>
    <p:sldId id="385" r:id="rId70"/>
    <p:sldId id="567" r:id="rId71"/>
    <p:sldId id="386" r:id="rId72"/>
    <p:sldId id="570" r:id="rId73"/>
    <p:sldId id="557" r:id="rId74"/>
    <p:sldId id="387" r:id="rId75"/>
    <p:sldId id="549" r:id="rId76"/>
    <p:sldId id="550" r:id="rId77"/>
    <p:sldId id="422" r:id="rId78"/>
    <p:sldId id="451" r:id="rId79"/>
    <p:sldId id="563" r:id="rId80"/>
    <p:sldId id="453" r:id="rId81"/>
    <p:sldId id="279" r:id="rId8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A62EE6-BBC8-7C45-9599-AC699AB6F44F}">
          <p14:sldIdLst>
            <p14:sldId id="256"/>
          </p14:sldIdLst>
        </p14:section>
        <p14:section name="General" id="{8930D27E-192D-3649-AF75-89D7FD21F5CB}">
          <p14:sldIdLst>
            <p14:sldId id="395"/>
            <p14:sldId id="553"/>
            <p14:sldId id="565"/>
            <p14:sldId id="566"/>
          </p14:sldIdLst>
        </p14:section>
        <p14:section name="UAP" id="{C44E88BE-F1E9-704D-8DE9-8FF9E46F13F1}">
          <p14:sldIdLst>
            <p14:sldId id="551"/>
            <p14:sldId id="492"/>
            <p14:sldId id="394"/>
            <p14:sldId id="398"/>
            <p14:sldId id="462"/>
            <p14:sldId id="473"/>
            <p14:sldId id="463"/>
            <p14:sldId id="464"/>
            <p14:sldId id="561"/>
            <p14:sldId id="439"/>
            <p14:sldId id="440"/>
            <p14:sldId id="467"/>
            <p14:sldId id="468"/>
            <p14:sldId id="441"/>
            <p14:sldId id="460"/>
            <p14:sldId id="461"/>
            <p14:sldId id="474"/>
            <p14:sldId id="562"/>
            <p14:sldId id="491"/>
            <p14:sldId id="554"/>
            <p14:sldId id="465"/>
            <p14:sldId id="470"/>
            <p14:sldId id="475"/>
            <p14:sldId id="476"/>
            <p14:sldId id="490"/>
            <p14:sldId id="493"/>
            <p14:sldId id="481"/>
            <p14:sldId id="482"/>
            <p14:sldId id="483"/>
            <p14:sldId id="484"/>
            <p14:sldId id="485"/>
            <p14:sldId id="555"/>
            <p14:sldId id="486"/>
            <p14:sldId id="487"/>
            <p14:sldId id="488"/>
            <p14:sldId id="556"/>
            <p14:sldId id="489"/>
            <p14:sldId id="494"/>
            <p14:sldId id="495"/>
            <p14:sldId id="429"/>
            <p14:sldId id="430"/>
            <p14:sldId id="442"/>
            <p14:sldId id="434"/>
            <p14:sldId id="435"/>
          </p14:sldIdLst>
        </p14:section>
        <p14:section name="Kelas Tambahan" id="{A0888FE0-1721-724B-AD87-0338D142484E}">
          <p14:sldIdLst>
            <p14:sldId id="458"/>
            <p14:sldId id="459"/>
          </p14:sldIdLst>
        </p14:section>
        <p14:section name="Proyek" id="{FDAD08D5-B2AE-CD4F-BA15-1E31CCDDF7A4}">
          <p14:sldIdLst>
            <p14:sldId id="353"/>
            <p14:sldId id="404"/>
            <p14:sldId id="258"/>
            <p14:sldId id="405"/>
            <p14:sldId id="406"/>
            <p14:sldId id="408"/>
            <p14:sldId id="382"/>
            <p14:sldId id="377"/>
            <p14:sldId id="407"/>
            <p14:sldId id="569"/>
            <p14:sldId id="379"/>
            <p14:sldId id="380"/>
            <p14:sldId id="383"/>
            <p14:sldId id="384"/>
            <p14:sldId id="385"/>
            <p14:sldId id="567"/>
            <p14:sldId id="386"/>
            <p14:sldId id="570"/>
            <p14:sldId id="557"/>
            <p14:sldId id="387"/>
            <p14:sldId id="549"/>
            <p14:sldId id="550"/>
          </p14:sldIdLst>
        </p14:section>
        <p14:section name="Lain-Lain dan Penutup" id="{7F76B87B-2145-6B48-ABCE-14767BA5AE83}">
          <p14:sldIdLst>
            <p14:sldId id="422"/>
            <p14:sldId id="451"/>
            <p14:sldId id="563"/>
            <p14:sldId id="453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2B728-B44A-68F5-4C2E-5F6164B87E65}" name="Josua Golden Umboh" initials="JGU" userId="S::josua.umboh@binus.edu::a99a5d6c-fc91-4a58-a027-f9811fe5f4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L" initials="P" lastIdx="1" clrIdx="0">
    <p:extLst>
      <p:ext uri="{19B8F6BF-5375-455C-9EA6-DF929625EA0E}">
        <p15:presenceInfo xmlns:p15="http://schemas.microsoft.com/office/powerpoint/2012/main" userId="PL" providerId="None"/>
      </p:ext>
    </p:extLst>
  </p:cmAuthor>
  <p:cmAuthor id="2" name="NP" initials="N" lastIdx="6" clrIdx="1">
    <p:extLst>
      <p:ext uri="{19B8F6BF-5375-455C-9EA6-DF929625EA0E}">
        <p15:presenceInfo xmlns:p15="http://schemas.microsoft.com/office/powerpoint/2012/main" userId="NP" providerId="None"/>
      </p:ext>
    </p:extLst>
  </p:cmAuthor>
  <p:cmAuthor id="3" name="ERICK MARCHELINO SUYANTO" initials="EMS" lastIdx="1" clrIdx="2">
    <p:extLst>
      <p:ext uri="{19B8F6BF-5375-455C-9EA6-DF929625EA0E}">
        <p15:presenceInfo xmlns:p15="http://schemas.microsoft.com/office/powerpoint/2012/main" userId="ERICK MARCHELINO SUYANT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8DCF"/>
    <a:srgbClr val="0079B8"/>
    <a:srgbClr val="A6A6A6"/>
    <a:srgbClr val="0D0D0D"/>
    <a:srgbClr val="595959"/>
    <a:srgbClr val="7F7F7F"/>
    <a:srgbClr val="BFBFBF"/>
    <a:srgbClr val="E6F2EA"/>
    <a:srgbClr val="D9D9D9"/>
    <a:srgbClr val="23B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3D97B-A1BD-D267-1A09-2B5A74E4C8D4}" v="162" dt="2026-05-06T10:20:46.815"/>
    <p1510:client id="{1E502361-DFF4-C7AA-393A-9CD9B9A1366C}" v="3" dt="2026-05-07T07:56:37.445"/>
    <p1510:client id="{6353198A-58CC-0C57-70F4-ABC7E46D2481}" v="618" dt="2026-05-07T05:20:23.507"/>
    <p1510:client id="{C067EF72-97E1-B4BA-6181-DB42D649F88A}" v="467" dt="2026-05-07T04:37:07.790"/>
    <p1510:client id="{DE0E1FD0-3D73-1768-9139-456ECD51919C}" v="95" dt="2026-05-06T10:22:19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microsoft.com/office/2016/11/relationships/changesInfo" Target="changesInfos/changesInfo1.xml"/><Relationship Id="rId90" Type="http://schemas.microsoft.com/office/2015/10/relationships/revisionInfo" Target="revisionInfo.xml"/><Relationship Id="rId9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Kurniawan" userId="S::daniel.kurniawan@binus.edu::2655d05c-721f-42fc-8aae-00402b43a656" providerId="AD" clId="Web-{6353198A-58CC-0C57-70F4-ABC7E46D2481}"/>
    <pc:docChg chg="addSld delSld modSld modSection">
      <pc:chgData name="Daniel Kurniawan" userId="S::daniel.kurniawan@binus.edu::2655d05c-721f-42fc-8aae-00402b43a656" providerId="AD" clId="Web-{6353198A-58CC-0C57-70F4-ABC7E46D2481}" dt="2026-05-07T05:20:23.507" v="601" actId="20577"/>
      <pc:docMkLst>
        <pc:docMk/>
      </pc:docMkLst>
      <pc:sldChg chg="modSp">
        <pc:chgData name="Daniel Kurniawan" userId="S::daniel.kurniawan@binus.edu::2655d05c-721f-42fc-8aae-00402b43a656" providerId="AD" clId="Web-{6353198A-58CC-0C57-70F4-ABC7E46D2481}" dt="2026-05-07T04:52:44.068" v="543" actId="20577"/>
        <pc:sldMkLst>
          <pc:docMk/>
          <pc:sldMk cId="1850368332" sldId="384"/>
        </pc:sldMkLst>
        <pc:spChg chg="mod">
          <ac:chgData name="Daniel Kurniawan" userId="S::daniel.kurniawan@binus.edu::2655d05c-721f-42fc-8aae-00402b43a656" providerId="AD" clId="Web-{6353198A-58CC-0C57-70F4-ABC7E46D2481}" dt="2026-05-07T04:52:44.068" v="543" actId="20577"/>
          <ac:spMkLst>
            <pc:docMk/>
            <pc:sldMk cId="1850368332" sldId="384"/>
            <ac:spMk id="3" creationId="{28D191C4-04E0-415B-8E11-C299FFF76742}"/>
          </ac:spMkLst>
        </pc:spChg>
      </pc:sldChg>
      <pc:sldChg chg="addSp delSp modSp">
        <pc:chgData name="Daniel Kurniawan" userId="S::daniel.kurniawan@binus.edu::2655d05c-721f-42fc-8aae-00402b43a656" providerId="AD" clId="Web-{6353198A-58CC-0C57-70F4-ABC7E46D2481}" dt="2026-05-07T02:51:15.981" v="15" actId="1076"/>
        <pc:sldMkLst>
          <pc:docMk/>
          <pc:sldMk cId="2989930135" sldId="385"/>
        </pc:sldMkLst>
        <pc:spChg chg="mod">
          <ac:chgData name="Daniel Kurniawan" userId="S::daniel.kurniawan@binus.edu::2655d05c-721f-42fc-8aae-00402b43a656" providerId="AD" clId="Web-{6353198A-58CC-0C57-70F4-ABC7E46D2481}" dt="2026-05-07T02:38:10.069" v="3" actId="20577"/>
          <ac:spMkLst>
            <pc:docMk/>
            <pc:sldMk cId="2989930135" sldId="385"/>
            <ac:spMk id="3" creationId="{28D191C4-04E0-415B-8E11-C299FFF76742}"/>
          </ac:spMkLst>
        </pc:spChg>
        <pc:grpChg chg="del">
          <ac:chgData name="Daniel Kurniawan" userId="S::daniel.kurniawan@binus.edu::2655d05c-721f-42fc-8aae-00402b43a656" providerId="AD" clId="Web-{6353198A-58CC-0C57-70F4-ABC7E46D2481}" dt="2026-05-07T02:38:14.272" v="4"/>
          <ac:grpSpMkLst>
            <pc:docMk/>
            <pc:sldMk cId="2989930135" sldId="385"/>
            <ac:grpSpMk id="5" creationId="{84EEFD50-4209-C296-84EC-958281030236}"/>
          </ac:grpSpMkLst>
        </pc:grpChg>
        <pc:grpChg chg="del">
          <ac:chgData name="Daniel Kurniawan" userId="S::daniel.kurniawan@binus.edu::2655d05c-721f-42fc-8aae-00402b43a656" providerId="AD" clId="Web-{6353198A-58CC-0C57-70F4-ABC7E46D2481}" dt="2026-05-07T02:38:15.553" v="5"/>
          <ac:grpSpMkLst>
            <pc:docMk/>
            <pc:sldMk cId="2989930135" sldId="385"/>
            <ac:grpSpMk id="11" creationId="{0EA81D6E-CCEC-3278-31AA-BF787F70709D}"/>
          </ac:grpSpMkLst>
        </pc:grpChg>
        <pc:picChg chg="add mod modCrop">
          <ac:chgData name="Daniel Kurniawan" userId="S::daniel.kurniawan@binus.edu::2655d05c-721f-42fc-8aae-00402b43a656" providerId="AD" clId="Web-{6353198A-58CC-0C57-70F4-ABC7E46D2481}" dt="2026-05-07T02:51:15.981" v="15" actId="1076"/>
          <ac:picMkLst>
            <pc:docMk/>
            <pc:sldMk cId="2989930135" sldId="385"/>
            <ac:picMk id="4" creationId="{B89A7919-8C7A-6E18-A2F8-4BD4B581CE00}"/>
          </ac:picMkLst>
        </pc:picChg>
      </pc:sldChg>
      <pc:sldChg chg="addSp delSp modSp">
        <pc:chgData name="Daniel Kurniawan" userId="S::daniel.kurniawan@binus.edu::2655d05c-721f-42fc-8aae-00402b43a656" providerId="AD" clId="Web-{6353198A-58CC-0C57-70F4-ABC7E46D2481}" dt="2026-05-07T05:19:04.908" v="590" actId="20577"/>
        <pc:sldMkLst>
          <pc:docMk/>
          <pc:sldMk cId="1126947052" sldId="386"/>
        </pc:sldMkLst>
        <pc:spChg chg="mod">
          <ac:chgData name="Daniel Kurniawan" userId="S::daniel.kurniawan@binus.edu::2655d05c-721f-42fc-8aae-00402b43a656" providerId="AD" clId="Web-{6353198A-58CC-0C57-70F4-ABC7E46D2481}" dt="2026-05-07T05:19:04.908" v="590" actId="20577"/>
          <ac:spMkLst>
            <pc:docMk/>
            <pc:sldMk cId="1126947052" sldId="386"/>
            <ac:spMk id="3" creationId="{28D191C4-04E0-415B-8E11-C299FFF76742}"/>
          </ac:spMkLst>
        </pc:spChg>
        <pc:grpChg chg="del">
          <ac:chgData name="Daniel Kurniawan" userId="S::daniel.kurniawan@binus.edu::2655d05c-721f-42fc-8aae-00402b43a656" providerId="AD" clId="Web-{6353198A-58CC-0C57-70F4-ABC7E46D2481}" dt="2026-05-07T03:45:12.647" v="183"/>
          <ac:grpSpMkLst>
            <pc:docMk/>
            <pc:sldMk cId="1126947052" sldId="386"/>
            <ac:grpSpMk id="2" creationId="{6188854B-30DE-0961-7975-D7E0D523F45F}"/>
          </ac:grpSpMkLst>
        </pc:grpChg>
        <pc:picChg chg="add mod modCrop">
          <ac:chgData name="Daniel Kurniawan" userId="S::daniel.kurniawan@binus.edu::2655d05c-721f-42fc-8aae-00402b43a656" providerId="AD" clId="Web-{6353198A-58CC-0C57-70F4-ABC7E46D2481}" dt="2026-05-07T04:34:48.344" v="209" actId="1076"/>
          <ac:picMkLst>
            <pc:docMk/>
            <pc:sldMk cId="1126947052" sldId="386"/>
            <ac:picMk id="2" creationId="{73F4DD0D-7E0B-7624-DB66-2C749AFD7F5F}"/>
          </ac:picMkLst>
        </pc:picChg>
        <pc:picChg chg="add del mod modCrop">
          <ac:chgData name="Daniel Kurniawan" userId="S::daniel.kurniawan@binus.edu::2655d05c-721f-42fc-8aae-00402b43a656" providerId="AD" clId="Web-{6353198A-58CC-0C57-70F4-ABC7E46D2481}" dt="2026-05-07T03:56:11.279" v="194"/>
          <ac:picMkLst>
            <pc:docMk/>
            <pc:sldMk cId="1126947052" sldId="386"/>
            <ac:picMk id="4" creationId="{637CAC75-C106-569A-099D-2FE0BD4E8BBD}"/>
          </ac:picMkLst>
        </pc:picChg>
        <pc:picChg chg="add del mod">
          <ac:chgData name="Daniel Kurniawan" userId="S::daniel.kurniawan@binus.edu::2655d05c-721f-42fc-8aae-00402b43a656" providerId="AD" clId="Web-{6353198A-58CC-0C57-70F4-ABC7E46D2481}" dt="2026-05-07T03:56:41.938" v="196"/>
          <ac:picMkLst>
            <pc:docMk/>
            <pc:sldMk cId="1126947052" sldId="386"/>
            <ac:picMk id="6" creationId="{42364A26-D83A-CC43-8A28-532929DCA452}"/>
          </ac:picMkLst>
        </pc:picChg>
      </pc:sldChg>
      <pc:sldChg chg="addSp delSp modSp">
        <pc:chgData name="Daniel Kurniawan" userId="S::daniel.kurniawan@binus.edu::2655d05c-721f-42fc-8aae-00402b43a656" providerId="AD" clId="Web-{6353198A-58CC-0C57-70F4-ABC7E46D2481}" dt="2026-05-07T05:20:23.507" v="601" actId="20577"/>
        <pc:sldMkLst>
          <pc:docMk/>
          <pc:sldMk cId="2932918619" sldId="387"/>
        </pc:sldMkLst>
        <pc:spChg chg="mod">
          <ac:chgData name="Daniel Kurniawan" userId="S::daniel.kurniawan@binus.edu::2655d05c-721f-42fc-8aae-00402b43a656" providerId="AD" clId="Web-{6353198A-58CC-0C57-70F4-ABC7E46D2481}" dt="2026-05-07T05:20:23.507" v="601" actId="20577"/>
          <ac:spMkLst>
            <pc:docMk/>
            <pc:sldMk cId="2932918619" sldId="387"/>
            <ac:spMk id="3" creationId="{28D191C4-04E0-415B-8E11-C299FFF76742}"/>
          </ac:spMkLst>
        </pc:spChg>
        <pc:grpChg chg="del">
          <ac:chgData name="Daniel Kurniawan" userId="S::daniel.kurniawan@binus.edu::2655d05c-721f-42fc-8aae-00402b43a656" providerId="AD" clId="Web-{6353198A-58CC-0C57-70F4-ABC7E46D2481}" dt="2026-05-07T05:10:43.900" v="567"/>
          <ac:grpSpMkLst>
            <pc:docMk/>
            <pc:sldMk cId="2932918619" sldId="387"/>
            <ac:grpSpMk id="5" creationId="{7B510353-EA9A-34FB-6AD8-764A942E3C85}"/>
          </ac:grpSpMkLst>
        </pc:grpChg>
        <pc:picChg chg="add mod modCrop">
          <ac:chgData name="Daniel Kurniawan" userId="S::daniel.kurniawan@binus.edu::2655d05c-721f-42fc-8aae-00402b43a656" providerId="AD" clId="Web-{6353198A-58CC-0C57-70F4-ABC7E46D2481}" dt="2026-05-07T05:18:22.173" v="578" actId="1076"/>
          <ac:picMkLst>
            <pc:docMk/>
            <pc:sldMk cId="2932918619" sldId="387"/>
            <ac:picMk id="4" creationId="{AD523D53-51D3-1142-67DC-72013F969E3F}"/>
          </ac:picMkLst>
        </pc:picChg>
      </pc:sldChg>
      <pc:sldChg chg="addSp delSp modSp">
        <pc:chgData name="Daniel Kurniawan" userId="S::daniel.kurniawan@binus.edu::2655d05c-721f-42fc-8aae-00402b43a656" providerId="AD" clId="Web-{6353198A-58CC-0C57-70F4-ABC7E46D2481}" dt="2026-05-07T04:55:59.791" v="559" actId="1076"/>
        <pc:sldMkLst>
          <pc:docMk/>
          <pc:sldMk cId="514301034" sldId="557"/>
        </pc:sldMkLst>
        <pc:spChg chg="mod">
          <ac:chgData name="Daniel Kurniawan" userId="S::daniel.kurniawan@binus.edu::2655d05c-721f-42fc-8aae-00402b43a656" providerId="AD" clId="Web-{6353198A-58CC-0C57-70F4-ABC7E46D2481}" dt="2026-05-07T04:55:56.900" v="558" actId="20577"/>
          <ac:spMkLst>
            <pc:docMk/>
            <pc:sldMk cId="514301034" sldId="557"/>
            <ac:spMk id="3" creationId="{1F82275D-0DDA-8F3F-60B7-A1A52B1D30D5}"/>
          </ac:spMkLst>
        </pc:spChg>
        <pc:picChg chg="add mod">
          <ac:chgData name="Daniel Kurniawan" userId="S::daniel.kurniawan@binus.edu::2655d05c-721f-42fc-8aae-00402b43a656" providerId="AD" clId="Web-{6353198A-58CC-0C57-70F4-ABC7E46D2481}" dt="2026-05-07T04:55:59.791" v="559" actId="1076"/>
          <ac:picMkLst>
            <pc:docMk/>
            <pc:sldMk cId="514301034" sldId="557"/>
            <ac:picMk id="2" creationId="{C2F98ABC-FC10-83E6-BB7D-71F6669B0D6D}"/>
          </ac:picMkLst>
        </pc:picChg>
        <pc:picChg chg="del">
          <ac:chgData name="Daniel Kurniawan" userId="S::daniel.kurniawan@binus.edu::2655d05c-721f-42fc-8aae-00402b43a656" providerId="AD" clId="Web-{6353198A-58CC-0C57-70F4-ABC7E46D2481}" dt="2026-05-07T04:53:24.319" v="544"/>
          <ac:picMkLst>
            <pc:docMk/>
            <pc:sldMk cId="514301034" sldId="557"/>
            <ac:picMk id="4" creationId="{D70503F8-1E09-BB38-5BB0-D72FD333A8E3}"/>
          </ac:picMkLst>
        </pc:picChg>
      </pc:sldChg>
      <pc:sldChg chg="addSp delSp modSp add replId">
        <pc:chgData name="Daniel Kurniawan" userId="S::daniel.kurniawan@binus.edu::2655d05c-721f-42fc-8aae-00402b43a656" providerId="AD" clId="Web-{6353198A-58CC-0C57-70F4-ABC7E46D2481}" dt="2026-05-07T05:18:43.423" v="581" actId="20577"/>
        <pc:sldMkLst>
          <pc:docMk/>
          <pc:sldMk cId="2077318671" sldId="567"/>
        </pc:sldMkLst>
        <pc:spChg chg="mod">
          <ac:chgData name="Daniel Kurniawan" userId="S::daniel.kurniawan@binus.edu::2655d05c-721f-42fc-8aae-00402b43a656" providerId="AD" clId="Web-{6353198A-58CC-0C57-70F4-ABC7E46D2481}" dt="2026-05-07T05:18:43.423" v="581" actId="20577"/>
          <ac:spMkLst>
            <pc:docMk/>
            <pc:sldMk cId="2077318671" sldId="567"/>
            <ac:spMk id="3" creationId="{74F9E5C8-E749-5B6D-5586-CA7259E44E48}"/>
          </ac:spMkLst>
        </pc:spChg>
        <pc:picChg chg="del">
          <ac:chgData name="Daniel Kurniawan" userId="S::daniel.kurniawan@binus.edu::2655d05c-721f-42fc-8aae-00402b43a656" providerId="AD" clId="Web-{6353198A-58CC-0C57-70F4-ABC7E46D2481}" dt="2026-05-07T03:25:37.759" v="17"/>
          <ac:picMkLst>
            <pc:docMk/>
            <pc:sldMk cId="2077318671" sldId="567"/>
            <ac:picMk id="4" creationId="{7FE61AE2-0E01-9E74-3861-3A3280CF2AA7}"/>
          </ac:picMkLst>
        </pc:picChg>
        <pc:picChg chg="add mod modCrop">
          <ac:chgData name="Daniel Kurniawan" userId="S::daniel.kurniawan@binus.edu::2655d05c-721f-42fc-8aae-00402b43a656" providerId="AD" clId="Web-{6353198A-58CC-0C57-70F4-ABC7E46D2481}" dt="2026-05-07T03:40:36.887" v="160"/>
          <ac:picMkLst>
            <pc:docMk/>
            <pc:sldMk cId="2077318671" sldId="567"/>
            <ac:picMk id="5" creationId="{43FF8D67-78B1-F922-A6F3-53AB90C7F661}"/>
          </ac:picMkLst>
        </pc:picChg>
      </pc:sldChg>
      <pc:sldChg chg="addSp delSp modSp add del replId">
        <pc:chgData name="Daniel Kurniawan" userId="S::daniel.kurniawan@binus.edu::2655d05c-721f-42fc-8aae-00402b43a656" providerId="AD" clId="Web-{6353198A-58CC-0C57-70F4-ABC7E46D2481}" dt="2026-05-07T04:56:02.463" v="560"/>
        <pc:sldMkLst>
          <pc:docMk/>
          <pc:sldMk cId="2164716407" sldId="568"/>
        </pc:sldMkLst>
        <pc:spChg chg="mod">
          <ac:chgData name="Daniel Kurniawan" userId="S::daniel.kurniawan@binus.edu::2655d05c-721f-42fc-8aae-00402b43a656" providerId="AD" clId="Web-{6353198A-58CC-0C57-70F4-ABC7E46D2481}" dt="2026-05-07T04:49:25.404" v="527" actId="20577"/>
          <ac:spMkLst>
            <pc:docMk/>
            <pc:sldMk cId="2164716407" sldId="568"/>
            <ac:spMk id="3" creationId="{BCCBD1FF-FC40-839D-72BA-118DC7248DE9}"/>
          </ac:spMkLst>
        </pc:spChg>
        <pc:grpChg chg="del mod">
          <ac:chgData name="Daniel Kurniawan" userId="S::daniel.kurniawan@binus.edu::2655d05c-721f-42fc-8aae-00402b43a656" providerId="AD" clId="Web-{6353198A-58CC-0C57-70F4-ABC7E46D2481}" dt="2026-05-07T04:47:10.349" v="449"/>
          <ac:grpSpMkLst>
            <pc:docMk/>
            <pc:sldMk cId="2164716407" sldId="568"/>
            <ac:grpSpMk id="2" creationId="{DBD73ABF-46F3-5D49-A9F4-8E35B8B61637}"/>
          </ac:grpSpMkLst>
        </pc:grpChg>
        <pc:picChg chg="add mod modCrop">
          <ac:chgData name="Daniel Kurniawan" userId="S::daniel.kurniawan@binus.edu::2655d05c-721f-42fc-8aae-00402b43a656" providerId="AD" clId="Web-{6353198A-58CC-0C57-70F4-ABC7E46D2481}" dt="2026-05-07T04:49:29.685" v="528" actId="1076"/>
          <ac:picMkLst>
            <pc:docMk/>
            <pc:sldMk cId="2164716407" sldId="568"/>
            <ac:picMk id="4" creationId="{4443A041-0133-5A8E-1B8D-74D698CFD903}"/>
          </ac:picMkLst>
        </pc:picChg>
      </pc:sldChg>
      <pc:sldChg chg="modSp">
        <pc:chgData name="Daniel Kurniawan" userId="S::daniel.kurniawan@binus.edu::2655d05c-721f-42fc-8aae-00402b43a656" providerId="AD" clId="Web-{6353198A-58CC-0C57-70F4-ABC7E46D2481}" dt="2026-05-07T04:34:02.437" v="199" actId="20577"/>
        <pc:sldMkLst>
          <pc:docMk/>
          <pc:sldMk cId="461986039" sldId="569"/>
        </pc:sldMkLst>
        <pc:spChg chg="mod">
          <ac:chgData name="Daniel Kurniawan" userId="S::daniel.kurniawan@binus.edu::2655d05c-721f-42fc-8aae-00402b43a656" providerId="AD" clId="Web-{6353198A-58CC-0C57-70F4-ABC7E46D2481}" dt="2026-05-07T04:34:02.437" v="199" actId="20577"/>
          <ac:spMkLst>
            <pc:docMk/>
            <pc:sldMk cId="461986039" sldId="569"/>
            <ac:spMk id="3" creationId="{FD2C9B1C-30A1-B5D5-9C34-CB673DDE5A5E}"/>
          </ac:spMkLst>
        </pc:spChg>
      </pc:sldChg>
      <pc:sldChg chg="addSp delSp modSp add replId">
        <pc:chgData name="Daniel Kurniawan" userId="S::daniel.kurniawan@binus.edu::2655d05c-721f-42fc-8aae-00402b43a656" providerId="AD" clId="Web-{6353198A-58CC-0C57-70F4-ABC7E46D2481}" dt="2026-05-07T05:19:25.518" v="593" actId="20577"/>
        <pc:sldMkLst>
          <pc:docMk/>
          <pc:sldMk cId="2855698471" sldId="570"/>
        </pc:sldMkLst>
        <pc:spChg chg="mod">
          <ac:chgData name="Daniel Kurniawan" userId="S::daniel.kurniawan@binus.edu::2655d05c-721f-42fc-8aae-00402b43a656" providerId="AD" clId="Web-{6353198A-58CC-0C57-70F4-ABC7E46D2481}" dt="2026-05-07T05:19:25.518" v="593" actId="20577"/>
          <ac:spMkLst>
            <pc:docMk/>
            <pc:sldMk cId="2855698471" sldId="570"/>
            <ac:spMk id="3" creationId="{9A7FA1C5-646C-C4D2-308C-AAC9CF4EB213}"/>
          </ac:spMkLst>
        </pc:spChg>
        <pc:spChg chg="add mod">
          <ac:chgData name="Daniel Kurniawan" userId="S::daniel.kurniawan@binus.edu::2655d05c-721f-42fc-8aae-00402b43a656" providerId="AD" clId="Web-{6353198A-58CC-0C57-70F4-ABC7E46D2481}" dt="2026-05-07T04:46:34.752" v="440" actId="1076"/>
          <ac:spMkLst>
            <pc:docMk/>
            <pc:sldMk cId="2855698471" sldId="570"/>
            <ac:spMk id="8" creationId="{46211591-068E-E0B7-E004-4D9E4F8D3E6A}"/>
          </ac:spMkLst>
        </pc:spChg>
        <pc:picChg chg="del">
          <ac:chgData name="Daniel Kurniawan" userId="S::daniel.kurniawan@binus.edu::2655d05c-721f-42fc-8aae-00402b43a656" providerId="AD" clId="Web-{6353198A-58CC-0C57-70F4-ABC7E46D2481}" dt="2026-05-07T04:35:02.189" v="211"/>
          <ac:picMkLst>
            <pc:docMk/>
            <pc:sldMk cId="2855698471" sldId="570"/>
            <ac:picMk id="2" creationId="{6D567A32-E08A-684B-F8FA-4D2070F69CBE}"/>
          </ac:picMkLst>
        </pc:picChg>
        <pc:picChg chg="add del mod">
          <ac:chgData name="Daniel Kurniawan" userId="S::daniel.kurniawan@binus.edu::2655d05c-721f-42fc-8aae-00402b43a656" providerId="AD" clId="Web-{6353198A-58CC-0C57-70F4-ABC7E46D2481}" dt="2026-05-07T04:35:09.845" v="213"/>
          <ac:picMkLst>
            <pc:docMk/>
            <pc:sldMk cId="2855698471" sldId="570"/>
            <ac:picMk id="4" creationId="{60D724C8-5422-1EA1-3223-E62CB7A38F22}"/>
          </ac:picMkLst>
        </pc:picChg>
        <pc:picChg chg="add mod">
          <ac:chgData name="Daniel Kurniawan" userId="S::daniel.kurniawan@binus.edu::2655d05c-721f-42fc-8aae-00402b43a656" providerId="AD" clId="Web-{6353198A-58CC-0C57-70F4-ABC7E46D2481}" dt="2026-05-07T04:46:31.096" v="438" actId="1076"/>
          <ac:picMkLst>
            <pc:docMk/>
            <pc:sldMk cId="2855698471" sldId="570"/>
            <ac:picMk id="6" creationId="{DA163208-1563-F150-3D63-3DFC42E617DD}"/>
          </ac:picMkLst>
        </pc:picChg>
        <pc:picChg chg="add mod">
          <ac:chgData name="Daniel Kurniawan" userId="S::daniel.kurniawan@binus.edu::2655d05c-721f-42fc-8aae-00402b43a656" providerId="AD" clId="Web-{6353198A-58CC-0C57-70F4-ABC7E46D2481}" dt="2026-05-07T04:46:36.299" v="441" actId="1076"/>
          <ac:picMkLst>
            <pc:docMk/>
            <pc:sldMk cId="2855698471" sldId="570"/>
            <ac:picMk id="7" creationId="{04A24D0F-4B68-09C1-E009-BAE4855B2EAE}"/>
          </ac:picMkLst>
        </pc:picChg>
      </pc:sldChg>
    </pc:docChg>
  </pc:docChgLst>
  <pc:docChgLst>
    <pc:chgData name="Daniel Kurniawan" userId="S::daniel.kurniawan@binus.edu::2655d05c-721f-42fc-8aae-00402b43a656" providerId="AD" clId="Web-{DE0E1FD0-3D73-1768-9139-456ECD51919C}"/>
    <pc:docChg chg="addSld delSld modSld sldOrd modSection">
      <pc:chgData name="Daniel Kurniawan" userId="S::daniel.kurniawan@binus.edu::2655d05c-721f-42fc-8aae-00402b43a656" providerId="AD" clId="Web-{DE0E1FD0-3D73-1768-9139-456ECD51919C}" dt="2026-05-06T10:21:56.296" v="88"/>
      <pc:docMkLst>
        <pc:docMk/>
      </pc:docMkLst>
      <pc:sldChg chg="modSp">
        <pc:chgData name="Daniel Kurniawan" userId="S::daniel.kurniawan@binus.edu::2655d05c-721f-42fc-8aae-00402b43a656" providerId="AD" clId="Web-{DE0E1FD0-3D73-1768-9139-456ECD51919C}" dt="2026-05-06T10:16:37.698" v="86" actId="20577"/>
        <pc:sldMkLst>
          <pc:docMk/>
          <pc:sldMk cId="3115081693" sldId="405"/>
        </pc:sldMkLst>
        <pc:spChg chg="mod">
          <ac:chgData name="Daniel Kurniawan" userId="S::daniel.kurniawan@binus.edu::2655d05c-721f-42fc-8aae-00402b43a656" providerId="AD" clId="Web-{DE0E1FD0-3D73-1768-9139-456ECD51919C}" dt="2026-05-06T10:16:37.698" v="86" actId="20577"/>
          <ac:spMkLst>
            <pc:docMk/>
            <pc:sldMk cId="3115081693" sldId="405"/>
            <ac:spMk id="3" creationId="{28D191C4-04E0-415B-8E11-C299FFF76742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10:09:52.656" v="84" actId="20577"/>
        <pc:sldMkLst>
          <pc:docMk/>
          <pc:sldMk cId="105322654" sldId="430"/>
        </pc:sldMkLst>
        <pc:spChg chg="mod">
          <ac:chgData name="Daniel Kurniawan" userId="S::daniel.kurniawan@binus.edu::2655d05c-721f-42fc-8aae-00402b43a656" providerId="AD" clId="Web-{DE0E1FD0-3D73-1768-9139-456ECD51919C}" dt="2026-05-06T10:09:52.656" v="84" actId="20577"/>
          <ac:spMkLst>
            <pc:docMk/>
            <pc:sldMk cId="105322654" sldId="430"/>
            <ac:spMk id="7" creationId="{E2880F83-D657-B59D-2CF8-01689663973B}"/>
          </ac:spMkLst>
        </pc:spChg>
      </pc:sldChg>
      <pc:sldChg chg="del">
        <pc:chgData name="Daniel Kurniawan" userId="S::daniel.kurniawan@binus.edu::2655d05c-721f-42fc-8aae-00402b43a656" providerId="AD" clId="Web-{DE0E1FD0-3D73-1768-9139-456ECD51919C}" dt="2026-05-06T10:21:56.296" v="88"/>
        <pc:sldMkLst>
          <pc:docMk/>
          <pc:sldMk cId="2881381554" sldId="452"/>
        </pc:sldMkLst>
      </pc:sldChg>
      <pc:sldChg chg="modSp">
        <pc:chgData name="Daniel Kurniawan" userId="S::daniel.kurniawan@binus.edu::2655d05c-721f-42fc-8aae-00402b43a656" providerId="AD" clId="Web-{DE0E1FD0-3D73-1768-9139-456ECD51919C}" dt="2026-05-06T09:54:55.140" v="43" actId="20577"/>
        <pc:sldMkLst>
          <pc:docMk/>
          <pc:sldMk cId="3566536897" sldId="461"/>
        </pc:sldMkLst>
        <pc:spChg chg="mod">
          <ac:chgData name="Daniel Kurniawan" userId="S::daniel.kurniawan@binus.edu::2655d05c-721f-42fc-8aae-00402b43a656" providerId="AD" clId="Web-{DE0E1FD0-3D73-1768-9139-456ECD51919C}" dt="2026-05-06T09:54:55.140" v="43" actId="20577"/>
          <ac:spMkLst>
            <pc:docMk/>
            <pc:sldMk cId="3566536897" sldId="461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09:52:25.276" v="31" actId="20577"/>
        <pc:sldMkLst>
          <pc:docMk/>
          <pc:sldMk cId="827533757" sldId="462"/>
        </pc:sldMkLst>
        <pc:spChg chg="mod">
          <ac:chgData name="Daniel Kurniawan" userId="S::daniel.kurniawan@binus.edu::2655d05c-721f-42fc-8aae-00402b43a656" providerId="AD" clId="Web-{DE0E1FD0-3D73-1768-9139-456ECD51919C}" dt="2026-05-06T09:52:25.276" v="31" actId="20577"/>
          <ac:spMkLst>
            <pc:docMk/>
            <pc:sldMk cId="827533757" sldId="462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09:56:07.095" v="55" actId="20577"/>
        <pc:sldMkLst>
          <pc:docMk/>
          <pc:sldMk cId="2952751921" sldId="474"/>
        </pc:sldMkLst>
        <pc:spChg chg="mod">
          <ac:chgData name="Daniel Kurniawan" userId="S::daniel.kurniawan@binus.edu::2655d05c-721f-42fc-8aae-00402b43a656" providerId="AD" clId="Web-{DE0E1FD0-3D73-1768-9139-456ECD51919C}" dt="2026-05-06T09:56:07.095" v="55" actId="20577"/>
          <ac:spMkLst>
            <pc:docMk/>
            <pc:sldMk cId="2952751921" sldId="474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10:03:54.429" v="60" actId="20577"/>
        <pc:sldMkLst>
          <pc:docMk/>
          <pc:sldMk cId="4066373394" sldId="491"/>
        </pc:sldMkLst>
        <pc:spChg chg="mod">
          <ac:chgData name="Daniel Kurniawan" userId="S::daniel.kurniawan@binus.edu::2655d05c-721f-42fc-8aae-00402b43a656" providerId="AD" clId="Web-{DE0E1FD0-3D73-1768-9139-456ECD51919C}" dt="2026-05-06T10:03:54.429" v="60" actId="20577"/>
          <ac:spMkLst>
            <pc:docMk/>
            <pc:sldMk cId="4066373394" sldId="491"/>
            <ac:spMk id="3" creationId="{00000000-0000-0000-0000-000000000000}"/>
          </ac:spMkLst>
        </pc:spChg>
      </pc:sldChg>
      <pc:sldChg chg="modSp ord">
        <pc:chgData name="Daniel Kurniawan" userId="S::daniel.kurniawan@binus.edu::2655d05c-721f-42fc-8aae-00402b43a656" providerId="AD" clId="Web-{DE0E1FD0-3D73-1768-9139-456ECD51919C}" dt="2026-05-06T09:54:02.045" v="39" actId="20577"/>
        <pc:sldMkLst>
          <pc:docMk/>
          <pc:sldMk cId="76199009" sldId="561"/>
        </pc:sldMkLst>
        <pc:spChg chg="mod">
          <ac:chgData name="Daniel Kurniawan" userId="S::daniel.kurniawan@binus.edu::2655d05c-721f-42fc-8aae-00402b43a656" providerId="AD" clId="Web-{DE0E1FD0-3D73-1768-9139-456ECD51919C}" dt="2026-05-06T09:54:02.045" v="39" actId="20577"/>
          <ac:spMkLst>
            <pc:docMk/>
            <pc:sldMk cId="76199009" sldId="561"/>
            <ac:spMk id="3" creationId="{483DBCE8-8280-84FA-5E87-4FABE28CE8A5}"/>
          </ac:spMkLst>
        </pc:spChg>
      </pc:sldChg>
      <pc:sldChg chg="modSp">
        <pc:chgData name="Daniel Kurniawan" userId="S::daniel.kurniawan@binus.edu::2655d05c-721f-42fc-8aae-00402b43a656" providerId="AD" clId="Web-{DE0E1FD0-3D73-1768-9139-456ECD51919C}" dt="2026-05-06T09:59:05.285" v="58" actId="20577"/>
        <pc:sldMkLst>
          <pc:docMk/>
          <pc:sldMk cId="3121963026" sldId="562"/>
        </pc:sldMkLst>
        <pc:spChg chg="mod">
          <ac:chgData name="Daniel Kurniawan" userId="S::daniel.kurniawan@binus.edu::2655d05c-721f-42fc-8aae-00402b43a656" providerId="AD" clId="Web-{DE0E1FD0-3D73-1768-9139-456ECD51919C}" dt="2026-05-06T09:59:05.285" v="58" actId="20577"/>
          <ac:spMkLst>
            <pc:docMk/>
            <pc:sldMk cId="3121963026" sldId="562"/>
            <ac:spMk id="3" creationId="{55711846-B2F6-E319-C9BF-9F148F525CF4}"/>
          </ac:spMkLst>
        </pc:spChg>
      </pc:sldChg>
      <pc:sldChg chg="add">
        <pc:chgData name="Daniel Kurniawan" userId="S::daniel.kurniawan@binus.edu::2655d05c-721f-42fc-8aae-00402b43a656" providerId="AD" clId="Web-{DE0E1FD0-3D73-1768-9139-456ECD51919C}" dt="2026-05-06T10:21:52.593" v="87"/>
        <pc:sldMkLst>
          <pc:docMk/>
          <pc:sldMk cId="3808811614" sldId="563"/>
        </pc:sldMkLst>
      </pc:sldChg>
    </pc:docChg>
  </pc:docChgLst>
  <pc:docChgLst>
    <pc:chgData clId="Web-{0473D97B-A1BD-D267-1A09-2B5A74E4C8D4}"/>
    <pc:docChg chg="modSld">
      <pc:chgData name="" userId="" providerId="" clId="Web-{0473D97B-A1BD-D267-1A09-2B5A74E4C8D4}" dt="2026-05-06T09:41:00.869" v="0" actId="20577"/>
      <pc:docMkLst>
        <pc:docMk/>
      </pc:docMkLst>
      <pc:sldChg chg="modSp">
        <pc:chgData name="" userId="" providerId="" clId="Web-{0473D97B-A1BD-D267-1A09-2B5A74E4C8D4}" dt="2026-05-06T09:41:00.869" v="0" actId="20577"/>
        <pc:sldMkLst>
          <pc:docMk/>
          <pc:sldMk cId="3394399515" sldId="256"/>
        </pc:sldMkLst>
        <pc:spChg chg="mod">
          <ac:chgData name="" userId="" providerId="" clId="Web-{0473D97B-A1BD-D267-1A09-2B5A74E4C8D4}" dt="2026-05-06T09:41:00.869" v="0" actId="20577"/>
          <ac:spMkLst>
            <pc:docMk/>
            <pc:sldMk cId="3394399515" sldId="256"/>
            <ac:spMk id="3" creationId="{00000000-0000-0000-0000-000000000000}"/>
          </ac:spMkLst>
        </pc:spChg>
      </pc:sldChg>
    </pc:docChg>
  </pc:docChgLst>
  <pc:docChgLst>
    <pc:chgData name="Helena Aurelia Sanjaya" userId="S::helena.sanjaya@binus.edu::45b48009-4051-4c7f-9d22-5f81eddd03f5" providerId="AD" clId="Web-{1E502361-DFF4-C7AA-393A-9CD9B9A1366C}"/>
    <pc:docChg chg="modSld">
      <pc:chgData name="Helena Aurelia Sanjaya" userId="S::helena.sanjaya@binus.edu::45b48009-4051-4c7f-9d22-5f81eddd03f5" providerId="AD" clId="Web-{1E502361-DFF4-C7AA-393A-9CD9B9A1366C}" dt="2026-05-07T07:56:37.445" v="1" actId="20577"/>
      <pc:docMkLst>
        <pc:docMk/>
      </pc:docMkLst>
      <pc:sldChg chg="modSp">
        <pc:chgData name="Helena Aurelia Sanjaya" userId="S::helena.sanjaya@binus.edu::45b48009-4051-4c7f-9d22-5f81eddd03f5" providerId="AD" clId="Web-{1E502361-DFF4-C7AA-393A-9CD9B9A1366C}" dt="2026-05-07T06:01:40.792" v="0" actId="20577"/>
        <pc:sldMkLst>
          <pc:docMk/>
          <pc:sldMk cId="3121963026" sldId="562"/>
        </pc:sldMkLst>
        <pc:spChg chg="mod">
          <ac:chgData name="Helena Aurelia Sanjaya" userId="S::helena.sanjaya@binus.edu::45b48009-4051-4c7f-9d22-5f81eddd03f5" providerId="AD" clId="Web-{1E502361-DFF4-C7AA-393A-9CD9B9A1366C}" dt="2026-05-07T06:01:40.792" v="0" actId="20577"/>
          <ac:spMkLst>
            <pc:docMk/>
            <pc:sldMk cId="3121963026" sldId="562"/>
            <ac:spMk id="3" creationId="{55711846-B2F6-E319-C9BF-9F148F525CF4}"/>
          </ac:spMkLst>
        </pc:spChg>
      </pc:sldChg>
      <pc:sldChg chg="modSp">
        <pc:chgData name="Helena Aurelia Sanjaya" userId="S::helena.sanjaya@binus.edu::45b48009-4051-4c7f-9d22-5f81eddd03f5" providerId="AD" clId="Web-{1E502361-DFF4-C7AA-393A-9CD9B9A1366C}" dt="2026-05-07T07:56:37.445" v="1" actId="20577"/>
        <pc:sldMkLst>
          <pc:docMk/>
          <pc:sldMk cId="461986039" sldId="569"/>
        </pc:sldMkLst>
        <pc:spChg chg="mod">
          <ac:chgData name="Helena Aurelia Sanjaya" userId="S::helena.sanjaya@binus.edu::45b48009-4051-4c7f-9d22-5f81eddd03f5" providerId="AD" clId="Web-{1E502361-DFF4-C7AA-393A-9CD9B9A1366C}" dt="2026-05-07T07:56:37.445" v="1" actId="20577"/>
          <ac:spMkLst>
            <pc:docMk/>
            <pc:sldMk cId="461986039" sldId="569"/>
            <ac:spMk id="3" creationId="{FD2C9B1C-30A1-B5D5-9C34-CB673DDE5A5E}"/>
          </ac:spMkLst>
        </pc:spChg>
      </pc:sldChg>
    </pc:docChg>
  </pc:docChgLst>
  <pc:docChgLst>
    <pc:chgData name="Helena Aurelia Sanjaya" userId="S::helena.sanjaya@binus.edu::45b48009-4051-4c7f-9d22-5f81eddd03f5" providerId="AD" clId="Web-{0473D97B-A1BD-D267-1A09-2B5A74E4C8D4}"/>
    <pc:docChg chg="addSld delSld modSld modSection">
      <pc:chgData name="Helena Aurelia Sanjaya" userId="S::helena.sanjaya@binus.edu::45b48009-4051-4c7f-9d22-5f81eddd03f5" providerId="AD" clId="Web-{0473D97B-A1BD-D267-1A09-2B5A74E4C8D4}" dt="2026-05-06T10:20:46.815" v="152"/>
      <pc:docMkLst>
        <pc:docMk/>
      </pc:docMkLst>
      <pc:sldChg chg="modSp">
        <pc:chgData name="Helena Aurelia Sanjaya" userId="S::helena.sanjaya@binus.edu::45b48009-4051-4c7f-9d22-5f81eddd03f5" providerId="AD" clId="Web-{0473D97B-A1BD-D267-1A09-2B5A74E4C8D4}" dt="2026-05-06T10:20:46.815" v="152"/>
        <pc:sldMkLst>
          <pc:docMk/>
          <pc:sldMk cId="3935018688" sldId="382"/>
        </pc:sldMkLst>
        <pc:graphicFrameChg chg="mod modGraphic">
          <ac:chgData name="Helena Aurelia Sanjaya" userId="S::helena.sanjaya@binus.edu::45b48009-4051-4c7f-9d22-5f81eddd03f5" providerId="AD" clId="Web-{0473D97B-A1BD-D267-1A09-2B5A74E4C8D4}" dt="2026-05-06T10:20:46.815" v="152"/>
          <ac:graphicFrameMkLst>
            <pc:docMk/>
            <pc:sldMk cId="3935018688" sldId="382"/>
            <ac:graphicFrameMk id="5" creationId="{572BE844-E4A7-F926-559F-CB1777E283AA}"/>
          </ac:graphicFrameMkLst>
        </pc:graphicFrameChg>
      </pc:sldChg>
      <pc:sldChg chg="del">
        <pc:chgData name="Helena Aurelia Sanjaya" userId="S::helena.sanjaya@binus.edu::45b48009-4051-4c7f-9d22-5f81eddd03f5" providerId="AD" clId="Web-{0473D97B-A1BD-D267-1A09-2B5A74E4C8D4}" dt="2026-05-06T09:41:15.104" v="2"/>
        <pc:sldMkLst>
          <pc:docMk/>
          <pc:sldMk cId="2173487237" sldId="397"/>
        </pc:sldMkLst>
      </pc:sldChg>
      <pc:sldChg chg="modSp">
        <pc:chgData name="Helena Aurelia Sanjaya" userId="S::helena.sanjaya@binus.edu::45b48009-4051-4c7f-9d22-5f81eddd03f5" providerId="AD" clId="Web-{0473D97B-A1BD-D267-1A09-2B5A74E4C8D4}" dt="2026-05-06T09:53:29.100" v="128" actId="20577"/>
        <pc:sldMkLst>
          <pc:docMk/>
          <pc:sldMk cId="4183188522" sldId="465"/>
        </pc:sldMkLst>
        <pc:spChg chg="mod">
          <ac:chgData name="Helena Aurelia Sanjaya" userId="S::helena.sanjaya@binus.edu::45b48009-4051-4c7f-9d22-5f81eddd03f5" providerId="AD" clId="Web-{0473D97B-A1BD-D267-1A09-2B5A74E4C8D4}" dt="2026-05-06T09:53:29.100" v="128" actId="20577"/>
          <ac:spMkLst>
            <pc:docMk/>
            <pc:sldMk cId="4183188522" sldId="465"/>
            <ac:spMk id="3" creationId="{00000000-0000-0000-0000-000000000000}"/>
          </ac:spMkLst>
        </pc:spChg>
      </pc:sldChg>
      <pc:sldChg chg="modSp">
        <pc:chgData name="Helena Aurelia Sanjaya" userId="S::helena.sanjaya@binus.edu::45b48009-4051-4c7f-9d22-5f81eddd03f5" providerId="AD" clId="Web-{0473D97B-A1BD-D267-1A09-2B5A74E4C8D4}" dt="2026-05-06T09:50:03.236" v="113"/>
        <pc:sldMkLst>
          <pc:docMk/>
          <pc:sldMk cId="3999323215" sldId="553"/>
        </pc:sldMkLst>
        <pc:graphicFrameChg chg="mod modGraphic">
          <ac:chgData name="Helena Aurelia Sanjaya" userId="S::helena.sanjaya@binus.edu::45b48009-4051-4c7f-9d22-5f81eddd03f5" providerId="AD" clId="Web-{0473D97B-A1BD-D267-1A09-2B5A74E4C8D4}" dt="2026-05-06T09:50:03.236" v="113"/>
          <ac:graphicFrameMkLst>
            <pc:docMk/>
            <pc:sldMk cId="3999323215" sldId="553"/>
            <ac:graphicFrameMk id="7" creationId="{8148A7A9-A6E3-FF7A-93BD-530DD06849D7}"/>
          </ac:graphicFrameMkLst>
        </pc:graphicFrameChg>
      </pc:sldChg>
      <pc:sldChg chg="modSp">
        <pc:chgData name="Helena Aurelia Sanjaya" userId="S::helena.sanjaya@binus.edu::45b48009-4051-4c7f-9d22-5f81eddd03f5" providerId="AD" clId="Web-{0473D97B-A1BD-D267-1A09-2B5A74E4C8D4}" dt="2026-05-06T09:51:47.864" v="116" actId="20577"/>
        <pc:sldMkLst>
          <pc:docMk/>
          <pc:sldMk cId="1710583846" sldId="554"/>
        </pc:sldMkLst>
        <pc:spChg chg="mod">
          <ac:chgData name="Helena Aurelia Sanjaya" userId="S::helena.sanjaya@binus.edu::45b48009-4051-4c7f-9d22-5f81eddd03f5" providerId="AD" clId="Web-{0473D97B-A1BD-D267-1A09-2B5A74E4C8D4}" dt="2026-05-06T09:51:47.864" v="116" actId="20577"/>
          <ac:spMkLst>
            <pc:docMk/>
            <pc:sldMk cId="1710583846" sldId="554"/>
            <ac:spMk id="3" creationId="{0D26E128-CCDA-CDBE-3F26-03182DEBD2B4}"/>
          </ac:spMkLst>
        </pc:spChg>
      </pc:sldChg>
      <pc:sldChg chg="del">
        <pc:chgData name="Helena Aurelia Sanjaya" userId="S::helena.sanjaya@binus.edu::45b48009-4051-4c7f-9d22-5f81eddd03f5" providerId="AD" clId="Web-{0473D97B-A1BD-D267-1A09-2B5A74E4C8D4}" dt="2026-05-06T09:41:15.104" v="3"/>
        <pc:sldMkLst>
          <pc:docMk/>
          <pc:sldMk cId="2961941835" sldId="560"/>
        </pc:sldMkLst>
      </pc:sldChg>
      <pc:sldChg chg="add">
        <pc:chgData name="Helena Aurelia Sanjaya" userId="S::helena.sanjaya@binus.edu::45b48009-4051-4c7f-9d22-5f81eddd03f5" providerId="AD" clId="Web-{0473D97B-A1BD-D267-1A09-2B5A74E4C8D4}" dt="2026-05-06T09:41:11.041" v="0"/>
        <pc:sldMkLst>
          <pc:docMk/>
          <pc:sldMk cId="29960443" sldId="565"/>
        </pc:sldMkLst>
      </pc:sldChg>
      <pc:sldChg chg="add">
        <pc:chgData name="Helena Aurelia Sanjaya" userId="S::helena.sanjaya@binus.edu::45b48009-4051-4c7f-9d22-5f81eddd03f5" providerId="AD" clId="Web-{0473D97B-A1BD-D267-1A09-2B5A74E4C8D4}" dt="2026-05-06T09:41:11.182" v="1"/>
        <pc:sldMkLst>
          <pc:docMk/>
          <pc:sldMk cId="1977849686" sldId="566"/>
        </pc:sldMkLst>
      </pc:sldChg>
    </pc:docChg>
  </pc:docChgLst>
  <pc:docChgLst>
    <pc:chgData name="Helena Aurelia Sanjaya" userId="S::helena.sanjaya@binus.edu::45b48009-4051-4c7f-9d22-5f81eddd03f5" providerId="AD" clId="Web-{C067EF72-97E1-B4BA-6181-DB42D649F88A}"/>
    <pc:docChg chg="addSld modSld modSection">
      <pc:chgData name="Helena Aurelia Sanjaya" userId="S::helena.sanjaya@binus.edu::45b48009-4051-4c7f-9d22-5f81eddd03f5" providerId="AD" clId="Web-{C067EF72-97E1-B4BA-6181-DB42D649F88A}" dt="2026-05-07T04:36:52.632" v="461"/>
      <pc:docMkLst>
        <pc:docMk/>
      </pc:docMkLst>
      <pc:sldChg chg="modSp">
        <pc:chgData name="Helena Aurelia Sanjaya" userId="S::helena.sanjaya@binus.edu::45b48009-4051-4c7f-9d22-5f81eddd03f5" providerId="AD" clId="Web-{C067EF72-97E1-B4BA-6181-DB42D649F88A}" dt="2026-05-07T04:23:55.829" v="0" actId="14100"/>
        <pc:sldMkLst>
          <pc:docMk/>
          <pc:sldMk cId="73880261" sldId="377"/>
        </pc:sldMkLst>
        <pc:spChg chg="mod">
          <ac:chgData name="Helena Aurelia Sanjaya" userId="S::helena.sanjaya@binus.edu::45b48009-4051-4c7f-9d22-5f81eddd03f5" providerId="AD" clId="Web-{C067EF72-97E1-B4BA-6181-DB42D649F88A}" dt="2026-05-07T04:23:55.829" v="0" actId="14100"/>
          <ac:spMkLst>
            <pc:docMk/>
            <pc:sldMk cId="73880261" sldId="377"/>
            <ac:spMk id="3" creationId="{28D191C4-04E0-415B-8E11-C299FFF76742}"/>
          </ac:spMkLst>
        </pc:spChg>
      </pc:sldChg>
      <pc:sldChg chg="modSp">
        <pc:chgData name="Helena Aurelia Sanjaya" userId="S::helena.sanjaya@binus.edu::45b48009-4051-4c7f-9d22-5f81eddd03f5" providerId="AD" clId="Web-{C067EF72-97E1-B4BA-6181-DB42D649F88A}" dt="2026-05-07T04:36:52.632" v="461"/>
        <pc:sldMkLst>
          <pc:docMk/>
          <pc:sldMk cId="3935018688" sldId="382"/>
        </pc:sldMkLst>
        <pc:graphicFrameChg chg="mod modGraphic">
          <ac:chgData name="Helena Aurelia Sanjaya" userId="S::helena.sanjaya@binus.edu::45b48009-4051-4c7f-9d22-5f81eddd03f5" providerId="AD" clId="Web-{C067EF72-97E1-B4BA-6181-DB42D649F88A}" dt="2026-05-07T04:36:52.632" v="461"/>
          <ac:graphicFrameMkLst>
            <pc:docMk/>
            <pc:sldMk cId="3935018688" sldId="382"/>
            <ac:graphicFrameMk id="5" creationId="{572BE844-E4A7-F926-559F-CB1777E283AA}"/>
          </ac:graphicFrameMkLst>
        </pc:graphicFrameChg>
      </pc:sldChg>
      <pc:sldChg chg="modSp">
        <pc:chgData name="Helena Aurelia Sanjaya" userId="S::helena.sanjaya@binus.edu::45b48009-4051-4c7f-9d22-5f81eddd03f5" providerId="AD" clId="Web-{C067EF72-97E1-B4BA-6181-DB42D649F88A}" dt="2026-05-07T04:29:39.716" v="445" actId="20577"/>
        <pc:sldMkLst>
          <pc:docMk/>
          <pc:sldMk cId="3016690442" sldId="407"/>
        </pc:sldMkLst>
        <pc:spChg chg="mod">
          <ac:chgData name="Helena Aurelia Sanjaya" userId="S::helena.sanjaya@binus.edu::45b48009-4051-4c7f-9d22-5f81eddd03f5" providerId="AD" clId="Web-{C067EF72-97E1-B4BA-6181-DB42D649F88A}" dt="2026-05-07T04:29:39.716" v="445" actId="20577"/>
          <ac:spMkLst>
            <pc:docMk/>
            <pc:sldMk cId="3016690442" sldId="407"/>
            <ac:spMk id="3" creationId="{28D191C4-04E0-415B-8E11-C299FFF76742}"/>
          </ac:spMkLst>
        </pc:spChg>
      </pc:sldChg>
      <pc:sldChg chg="modSp add replId">
        <pc:chgData name="Helena Aurelia Sanjaya" userId="S::helena.sanjaya@binus.edu::45b48009-4051-4c7f-9d22-5f81eddd03f5" providerId="AD" clId="Web-{C067EF72-97E1-B4BA-6181-DB42D649F88A}" dt="2026-05-07T04:31:11.155" v="459" actId="20577"/>
        <pc:sldMkLst>
          <pc:docMk/>
          <pc:sldMk cId="461986039" sldId="569"/>
        </pc:sldMkLst>
        <pc:spChg chg="mod">
          <ac:chgData name="Helena Aurelia Sanjaya" userId="S::helena.sanjaya@binus.edu::45b48009-4051-4c7f-9d22-5f81eddd03f5" providerId="AD" clId="Web-{C067EF72-97E1-B4BA-6181-DB42D649F88A}" dt="2026-05-07T04:31:11.155" v="459" actId="20577"/>
          <ac:spMkLst>
            <pc:docMk/>
            <pc:sldMk cId="461986039" sldId="569"/>
            <ac:spMk id="3" creationId="{FD2C9B1C-30A1-B5D5-9C34-CB673DDE5A5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7258D-F0EF-486A-9EC2-3432FF0CFBEA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EAE57-A476-45F6-B40D-B97FF463F9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5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27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73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7522-92A5-28DE-6116-B34D1A840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7A34A-B104-E481-6770-0B29AFCB6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D1700-18CE-F6C7-F3EE-84088B502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73EE4-D8A3-1EB6-8A89-8E45FE8F0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2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36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22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91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108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254375"/>
            <a:ext cx="7010400" cy="147002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59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09800"/>
            <a:ext cx="76200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53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124200"/>
            <a:ext cx="6858000" cy="1362075"/>
          </a:xfrm>
        </p:spPr>
        <p:txBody>
          <a:bodyPr anchor="ctr">
            <a:normAutofit/>
          </a:bodyPr>
          <a:lstStyle>
            <a:lvl1pPr algn="ctr">
              <a:defRPr sz="3200" b="1" cap="all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4267200"/>
            <a:ext cx="6858000" cy="9667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09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1066800" y="2209800"/>
            <a:ext cx="28956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4038600" y="2209800"/>
            <a:ext cx="46482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89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Background 01-04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83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5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95400" y="1295400"/>
            <a:ext cx="7866290" cy="5562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3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388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81763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EC61741-52CD-4647-B3E1-B299B0A28C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5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Background 01-02.jpg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42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9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hyperlink" Target="https://socs1.binus.ac.id/dbprk" TargetMode="External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microsoft.com/office/2007/relationships/hdphoto" Target="../media/hdphoto1.wdp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Relationship Id="rId3" Type="http://schemas.openxmlformats.org/officeDocument/2006/relationships/image" Target="../media/image3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7.jpeg"/><Relationship Id="rId3" Type="http://schemas.openxmlformats.org/officeDocument/2006/relationships/image" Target="../media/image38.jpe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9.jpe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linktr.ee/OfficialAccountSLC" TargetMode="External"/><Relationship Id="rId3" Type="http://schemas.openxmlformats.org/officeDocument/2006/relationships/hyperlink" Target="https://linktr.ee/contactlsc" TargetMode="External"/><Relationship Id="rId4" Type="http://schemas.openxmlformats.org/officeDocument/2006/relationships/hyperlink" Target="https://bluejack.binus.ac.id/prk/" TargetMode="External"/><Relationship Id="rId5" Type="http://schemas.openxmlformats.org/officeDocument/2006/relationships/hyperlink" Target="http://labfacility.apps.binus.ac.id/" TargetMode="External"/><Relationship Id="rId6" Type="http://schemas.openxmlformats.org/officeDocument/2006/relationships/hyperlink" Target="https://linktr.ee/slcbinusuniv" TargetMode="External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2133600"/>
            <a:ext cx="7010400" cy="4016697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>
                <a:latin typeface="Arial"/>
                <a:cs typeface="Arial"/>
              </a:rPr>
              <a:t>Briefing </a:t>
            </a:r>
            <a:r>
              <a:rPr lang="en-US" sz="3600" err="1">
                <a:latin typeface="Arial"/>
                <a:cs typeface="Arial"/>
              </a:rPr>
              <a:t>Pelaksanaan</a:t>
            </a:r>
            <a:r>
              <a:rPr lang="en-US" sz="3600">
                <a:latin typeface="Arial"/>
                <a:cs typeface="Arial"/>
              </a:rPr>
              <a:t> </a:t>
            </a:r>
            <a:r>
              <a:rPr lang="en-US" sz="3600" err="1">
                <a:latin typeface="Arial"/>
                <a:cs typeface="Arial"/>
              </a:rPr>
              <a:t>Ujian</a:t>
            </a:r>
            <a:r>
              <a:rPr lang="en-US" sz="3600">
                <a:latin typeface="Arial"/>
                <a:cs typeface="Arial"/>
              </a:rPr>
              <a:t> Akhir </a:t>
            </a:r>
            <a:r>
              <a:rPr lang="en-US" sz="3600" err="1">
                <a:latin typeface="Arial"/>
                <a:cs typeface="Arial"/>
              </a:rPr>
              <a:t>Praktikum</a:t>
            </a:r>
            <a:r>
              <a:rPr lang="en-US" sz="3600">
                <a:latin typeface="Arial"/>
                <a:cs typeface="Arial"/>
              </a:rPr>
              <a:t> &amp; </a:t>
            </a:r>
            <a:r>
              <a:rPr lang="en-US" sz="3600" err="1">
                <a:latin typeface="Arial"/>
                <a:cs typeface="Arial"/>
              </a:rPr>
              <a:t>Pengumpulan</a:t>
            </a:r>
            <a:r>
              <a:rPr lang="en-US" sz="3600">
                <a:latin typeface="Arial"/>
                <a:cs typeface="Arial"/>
              </a:rPr>
              <a:t> </a:t>
            </a:r>
            <a:r>
              <a:rPr lang="en-US" sz="3600" err="1">
                <a:latin typeface="Arial"/>
                <a:cs typeface="Arial"/>
              </a:rPr>
              <a:t>Proyek</a:t>
            </a:r>
            <a:r>
              <a:rPr lang="en-US" sz="3600">
                <a:latin typeface="Arial"/>
                <a:cs typeface="Arial"/>
              </a:rPr>
              <a:t> </a:t>
            </a:r>
            <a:r>
              <a:rPr lang="en-US" sz="3600" err="1">
                <a:latin typeface="Arial"/>
                <a:cs typeface="Arial"/>
              </a:rPr>
              <a:t>Praktikum</a:t>
            </a:r>
            <a:br>
              <a:rPr lang="id-ID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d-ID" sz="2800">
                <a:latin typeface="Arial"/>
                <a:cs typeface="Arial"/>
              </a:rPr>
              <a:t> </a:t>
            </a:r>
            <a:br>
              <a:rPr lang="id-ID" sz="28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br>
              <a:rPr lang="id-ID" sz="2400">
                <a:cs typeface="Arial" panose="020B0604020202020204" pitchFamily="34" charset="0"/>
              </a:rPr>
            </a:br>
            <a:r>
              <a:rPr lang="id-ID" sz="2000" err="1">
                <a:cs typeface="Arial"/>
              </a:rPr>
              <a:t>Software</a:t>
            </a:r>
            <a:r>
              <a:rPr lang="id-ID" sz="2000">
                <a:cs typeface="Arial"/>
              </a:rPr>
              <a:t> </a:t>
            </a:r>
            <a:r>
              <a:rPr lang="id-ID" sz="2000" err="1">
                <a:cs typeface="Arial"/>
              </a:rPr>
              <a:t>Laboratory</a:t>
            </a:r>
            <a:r>
              <a:rPr lang="id-ID" sz="2000">
                <a:cs typeface="Arial"/>
              </a:rPr>
              <a:t> Center Genap </a:t>
            </a:r>
            <a:r>
              <a:rPr lang="en-US" sz="2000">
                <a:cs typeface="Arial"/>
              </a:rPr>
              <a:t>2526</a:t>
            </a:r>
            <a:endParaRPr lang="en-US" sz="1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43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30063"/>
            <a:ext cx="7696201" cy="134653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solidFill/>
                <a:latin typeface="Open Sans"/>
              </a:rPr>
              <a:t>Mahasiswa</a:t>
            </a:r>
            <a:r>
              <a:rPr lang="en-US" sz="1600">
                <a:solidFill/>
                <a:latin typeface="Open Sans"/>
              </a:rPr>
              <a:t> </a:t>
            </a:r>
            <a:r>
              <a:rPr lang="en-US" sz="1600" b="1" err="1">
                <a:solidFill/>
                <a:latin typeface="Open Sans"/>
              </a:rPr>
              <a:t>wajib</a:t>
            </a:r>
            <a:r>
              <a:rPr lang="en-US" sz="1600" b="1">
                <a:solidFill/>
                <a:latin typeface="Open Sans"/>
              </a:rPr>
              <a:t> joi</a:t>
            </a:r>
            <a:r>
              <a:rPr lang="en-US" sz="1600" b="1">
                <a:solidFill/>
              </a:rPr>
              <a:t>n group LINE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untuk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koordinasi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terkait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mata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kuliah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praktikum</a:t>
            </a:r>
            <a:r>
              <a:rPr lang="en-US" sz="1600">
                <a:solidFill/>
              </a:rPr>
              <a:t>.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solidFill/>
                <a:latin typeface="Open Sans"/>
              </a:rPr>
              <a:t>Link Group: </a:t>
            </a:r>
            <a:r>
              <a:rPr lang="en-US" sz="1600">
                <a:solidFill/>
                <a:latin typeface="Open Sans"/>
              </a:rPr>
              <a:t>[Link Group]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 LINE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KdMtk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NamaMtk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KdKelas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</a:p>
        </p:txBody>
      </p:sp>
      <p:pic>
        <p:nvPicPr>
          <p:cNvPr id="2" name="Picture 6" descr="Hasil gambar untuk qr code icon">
            <a:extLst>
              <a:ext uri="{FF2B5EF4-FFF2-40B4-BE49-F238E27FC236}">
                <a16:creationId xmlns:a16="http://schemas.microsoft.com/office/drawing/2014/main" id="{C527F78E-A68F-8E23-8E33-5391D3BBC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619" y="3302876"/>
            <a:ext cx="3052762" cy="305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KdMtk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NamaMtk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KdKelas</a:t>
            </a:r>
            <a:r>
              <a:rPr lang="en-US" sz="3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090B68B8-B43C-1A05-5A73-6CC640476F14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2000965"/>
          <a:ext cx="8076129" cy="341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429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1104428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  <a:gridCol w="1173454">
                  <a:extLst>
                    <a:ext uri="{9D8B030D-6E8A-4147-A177-3AD203B41FA5}">
                      <a16:colId xmlns:a16="http://schemas.microsoft.com/office/drawing/2014/main" val="3958765812"/>
                    </a:ext>
                  </a:extLst>
                </a:gridCol>
                <a:gridCol w="1104428">
                  <a:extLst>
                    <a:ext uri="{9D8B030D-6E8A-4147-A177-3AD203B41FA5}">
                      <a16:colId xmlns:a16="http://schemas.microsoft.com/office/drawing/2014/main" val="3294215636"/>
                    </a:ext>
                  </a:extLst>
                </a:gridCol>
                <a:gridCol w="1380534">
                  <a:extLst>
                    <a:ext uri="{9D8B030D-6E8A-4147-A177-3AD203B41FA5}">
                      <a16:colId xmlns:a16="http://schemas.microsoft.com/office/drawing/2014/main" val="2932436950"/>
                    </a:ext>
                  </a:extLst>
                </a:gridCol>
                <a:gridCol w="1104428">
                  <a:extLst>
                    <a:ext uri="{9D8B030D-6E8A-4147-A177-3AD203B41FA5}">
                      <a16:colId xmlns:a16="http://schemas.microsoft.com/office/drawing/2014/main" val="3487380642"/>
                    </a:ext>
                  </a:extLst>
                </a:gridCol>
                <a:gridCol w="1104428">
                  <a:extLst>
                    <a:ext uri="{9D8B030D-6E8A-4147-A177-3AD203B41FA5}">
                      <a16:colId xmlns:a16="http://schemas.microsoft.com/office/drawing/2014/main" val="539418632"/>
                    </a:ext>
                  </a:extLst>
                </a:gridCol>
              </a:tblGrid>
              <a:tr h="545014"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Komponen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Bobot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Pertemuan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Peserta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Durasi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/>
                        <a:t>Max File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259425"/>
                  </a:ext>
                </a:extLst>
              </a:tr>
              <a:tr h="1250328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TM/Quiz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40%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3 - 5 orang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50</a:t>
                      </a:r>
                      <a:r>
                        <a:rPr lang="en-US" sz="1600" err="1"/>
                        <a:t>menit</a:t>
                      </a:r>
                      <a:r>
                        <a:rPr lang="en-US" sz="1600"/>
                        <a:t> di </a:t>
                      </a:r>
                      <a:r>
                        <a:rPr lang="en-US" sz="1600" err="1"/>
                        <a:t>awal</a:t>
                      </a:r>
                      <a:endParaRPr lang="en-US" sz="160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/>
                      </a:r>
                      <a:r>
                        <a:rPr lang="en-US" sz="1600" err="1"/>
                        <a:t>Boleh</a:t>
                      </a:r>
                      <a:r>
                        <a:rPr lang="en-US" sz="1600"/>
                        <a:t>, SQL Documentation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/>
                      </a: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75 mb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1250328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UAP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60%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 orang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100</a:t>
                      </a:r>
                      <a:r>
                        <a:rPr lang="en-US" sz="1600" err="1"/>
                        <a:t>menit</a:t>
                      </a:r>
                      <a:r>
                        <a:rPr lang="en-US" sz="1600"/>
                        <a:t> di </a:t>
                      </a:r>
                      <a:r>
                        <a:rPr lang="en-US" sz="1600" err="1"/>
                        <a:t>awal</a:t>
                      </a:r>
                      <a:endParaRPr lang="en-US" sz="160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/>
                      </a:r>
                      <a:r>
                        <a:rPr lang="en-US" sz="1600" err="1"/>
                        <a:t>Boleh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, SQL Documentation</a:t>
                      </a:r>
                      <a:endParaRPr lang="en-US" sz="160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75 mb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/>
                        <a:t>Proyek</a:t>
                      </a:r>
                      <a:endParaRPr lang="en-US" sz="1600" b="1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0%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/>
                        <a:t>-</a:t>
                      </a:r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243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48A7A9-A6E3-FF7A-93BD-530DD0684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193962"/>
              </p:ext>
            </p:extLst>
          </p:nvPr>
        </p:nvGraphicFramePr>
        <p:xfrm>
          <a:off x="838201" y="5606231"/>
          <a:ext cx="4451429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447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247698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Software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Python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Extension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.</a:t>
                      </a:r>
                      <a:r>
                        <a:rPr lang="en-US" err="1"/>
                        <a:t>ipynb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323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D182697-C818-CDE1-0779-4D7C50B21137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52600"/>
          <a:ext cx="7696200" cy="31736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42794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4353406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Awal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Dimulai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Feb – 1 Apr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Proyek/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6 – 8 Apr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Proyek/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4 Mei 2026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Rutin Hari Jumat 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Pertemuan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7)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965330"/>
                  </a:ext>
                </a:extLst>
              </a:tr>
              <a:tr h="3694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Jun 2026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Praktikum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 Rutin Hari Kamis (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Pertemuan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 10)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92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25 Mei – 11 Jun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Akhir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(UAP)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6 – 9 Jul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20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19C3F9D9-5A95-1440-0AFA-6BA4F4FA9525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37360"/>
          <a:ext cx="7531096" cy="34287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5568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5445528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8 Mei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Termasuk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Pengumuman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416324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8 – 11 Mei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17 Jul 2026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</a:p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Termasuk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Pengumuman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17 – 20 Jul 2026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6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31 Jul 2026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Hasil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(Batch 1, 2,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8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31 Jul –  4 Agu 2026</a:t>
                      </a:r>
                      <a:endParaRPr lang="en-US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Konfirmasi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Berkas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14 Agu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Akhir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dan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(Final)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B757-F393-9FC8-4F5B-AEDDC38B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5286375"/>
            <a:ext cx="7696201" cy="55399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i="1"/>
              <a:t>* Nilai yang </a:t>
            </a:r>
            <a:r>
              <a:rPr lang="en-US" sz="1400" i="1" err="1"/>
              <a:t>keluar</a:t>
            </a:r>
            <a:r>
              <a:rPr lang="en-US" sz="1400" i="1"/>
              <a:t> pada batch 1 </a:t>
            </a:r>
            <a:r>
              <a:rPr lang="en-US" sz="1400" i="1" err="1"/>
              <a:t>adalah</a:t>
            </a:r>
            <a:r>
              <a:rPr lang="en-US" sz="1400" i="1"/>
              <a:t> </a:t>
            </a:r>
            <a:r>
              <a:rPr lang="en-US" sz="1400" i="1" err="1"/>
              <a:t>nilai</a:t>
            </a:r>
            <a:r>
              <a:rPr lang="en-US" sz="1400" i="1"/>
              <a:t> quiz </a:t>
            </a:r>
            <a:r>
              <a:rPr lang="en-US" sz="1400" i="1" err="1"/>
              <a:t>untuk</a:t>
            </a:r>
            <a:r>
              <a:rPr lang="en-US" sz="1400" i="1"/>
              <a:t> </a:t>
            </a:r>
            <a:r>
              <a:rPr lang="en-US" sz="1400" i="1" err="1"/>
              <a:t>mata</a:t>
            </a:r>
            <a:r>
              <a:rPr lang="en-US" sz="1400" i="1"/>
              <a:t> </a:t>
            </a:r>
            <a:r>
              <a:rPr lang="en-US" sz="1400" i="1" err="1"/>
              <a:t>kuliah</a:t>
            </a:r>
            <a:r>
              <a:rPr lang="en-US" sz="1400" i="1"/>
              <a:t> </a:t>
            </a:r>
            <a:r>
              <a:rPr lang="en-US" sz="1400" i="1" err="1"/>
              <a:t>praktikum</a:t>
            </a:r>
            <a:r>
              <a:rPr lang="en-US" sz="1400" i="1"/>
              <a:t> yang </a:t>
            </a:r>
            <a:r>
              <a:rPr lang="en-US" sz="1400" i="1" err="1"/>
              <a:t>hanya</a:t>
            </a:r>
            <a:r>
              <a:rPr lang="en-US" sz="1400" i="1"/>
              <a:t> </a:t>
            </a:r>
            <a:r>
              <a:rPr lang="en-US" sz="1400" i="1" err="1"/>
              <a:t>memiliki</a:t>
            </a:r>
            <a:r>
              <a:rPr lang="en-US" sz="1400" i="1"/>
              <a:t> </a:t>
            </a:r>
            <a:r>
              <a:rPr lang="en-US" sz="1400" b="1" i="1"/>
              <a:t>1 kali </a:t>
            </a:r>
            <a:r>
              <a:rPr lang="en-US" sz="1400" b="1" i="1" err="1"/>
              <a:t>penilaian</a:t>
            </a:r>
            <a:r>
              <a:rPr lang="en-US" sz="1400" b="1" i="1"/>
              <a:t> quiz </a:t>
            </a:r>
            <a:r>
              <a:rPr lang="en-US" sz="1400" i="1"/>
              <a:t>dan </a:t>
            </a:r>
            <a:r>
              <a:rPr lang="en-US" sz="1400" i="1" err="1"/>
              <a:t>sudah</a:t>
            </a:r>
            <a:r>
              <a:rPr lang="en-US" sz="1400" i="1"/>
              <a:t> </a:t>
            </a:r>
            <a:r>
              <a:rPr lang="en-US" sz="1400" i="1" err="1"/>
              <a:t>terlaksana</a:t>
            </a:r>
            <a:r>
              <a:rPr lang="en-US" sz="1400" i="1"/>
              <a:t> </a:t>
            </a:r>
            <a:r>
              <a:rPr lang="en-US" sz="1400" b="1" i="1" err="1"/>
              <a:t>sebelum</a:t>
            </a:r>
            <a:r>
              <a:rPr lang="en-US" sz="1400" b="1" i="1"/>
              <a:t> </a:t>
            </a:r>
            <a:r>
              <a:rPr lang="en-US" sz="1400" b="1" i="1" err="1"/>
              <a:t>tanggal</a:t>
            </a:r>
            <a:r>
              <a:rPr lang="en-US" sz="1400" b="1" i="1"/>
              <a:t> </a:t>
            </a:r>
            <a:r>
              <a:rPr lang="en-US" sz="1400" b="1" i="1" err="1"/>
              <a:t>keluar</a:t>
            </a:r>
            <a:r>
              <a:rPr lang="en-US" sz="1400" b="1" i="1"/>
              <a:t> </a:t>
            </a:r>
            <a:r>
              <a:rPr lang="en-US" sz="1400" b="1" i="1" err="1"/>
              <a:t>nilai</a:t>
            </a:r>
            <a:r>
              <a:rPr lang="en-US" sz="1400" b="1" i="1"/>
              <a:t> </a:t>
            </a:r>
            <a:r>
              <a:rPr lang="en-US" sz="1400" b="1" i="1" err="1"/>
              <a:t>praktikum</a:t>
            </a:r>
            <a:r>
              <a:rPr lang="en-US" sz="1400" b="1" i="1"/>
              <a:t> batch 1</a:t>
            </a:r>
            <a:r>
              <a:rPr lang="en-US" sz="1400" i="1"/>
              <a:t>.</a:t>
            </a:r>
            <a:endParaRPr lang="en-US" sz="1200" i="1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784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Ujian</a:t>
            </a:r>
            <a:r>
              <a:rPr lang="en-US"/>
              <a:t> Akhir </a:t>
            </a:r>
            <a:r>
              <a:rPr lang="en-US" err="1"/>
              <a:t>Praktikum</a:t>
            </a:r>
            <a:r>
              <a:rPr lang="en-US"/>
              <a:t> (UAP)</a:t>
            </a:r>
          </a:p>
        </p:txBody>
      </p:sp>
    </p:spTree>
    <p:extLst>
      <p:ext uri="{BB962C8B-B14F-4D97-AF65-F5344CB8AC3E}">
        <p14:creationId xmlns:p14="http://schemas.microsoft.com/office/powerpoint/2010/main" val="251889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43424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UAP </a:t>
            </a:r>
            <a:r>
              <a:rPr lang="en-US" sz="1600" err="1"/>
              <a:t>apabila</a:t>
            </a:r>
            <a:r>
              <a:rPr lang="en-US" sz="160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Persyaratan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Mengikuti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84DCEB-A74E-D716-DC19-49F752B2CCB7}"/>
              </a:ext>
            </a:extLst>
          </p:cNvPr>
          <p:cNvSpPr txBox="1">
            <a:spLocks/>
          </p:cNvSpPr>
          <p:nvPr/>
        </p:nvSpPr>
        <p:spPr>
          <a:xfrm>
            <a:off x="1480456" y="2091306"/>
            <a:ext cx="7184573" cy="518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membawa</a:t>
            </a:r>
            <a:r>
              <a:rPr lang="en-US" sz="1600"/>
              <a:t> </a:t>
            </a:r>
            <a:r>
              <a:rPr lang="en-US" sz="1600" b="1" err="1"/>
              <a:t>Binusian</a:t>
            </a:r>
            <a:r>
              <a:rPr lang="en-US" sz="1600" b="1"/>
              <a:t> </a:t>
            </a:r>
            <a:r>
              <a:rPr lang="en-US" sz="1600" b="1" err="1"/>
              <a:t>FlazzCard</a:t>
            </a:r>
            <a:r>
              <a:rPr lang="en-US" sz="1600" b="1"/>
              <a:t> </a:t>
            </a:r>
            <a:r>
              <a:rPr lang="en-US" sz="1600" err="1"/>
              <a:t>sebagai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(</a:t>
            </a:r>
            <a:r>
              <a:rPr lang="en-US" sz="1600" err="1"/>
              <a:t>wajib</a:t>
            </a:r>
            <a:r>
              <a:rPr lang="en-US" sz="1600"/>
              <a:t>).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48148E-CD51-619C-2914-FA261D9A126D}"/>
              </a:ext>
            </a:extLst>
          </p:cNvPr>
          <p:cNvSpPr txBox="1">
            <a:spLocks/>
          </p:cNvSpPr>
          <p:nvPr/>
        </p:nvSpPr>
        <p:spPr>
          <a:xfrm>
            <a:off x="1480455" y="2842078"/>
            <a:ext cx="7184573" cy="9026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terdata</a:t>
            </a:r>
            <a:r>
              <a:rPr lang="en-US" sz="1600"/>
              <a:t> </a:t>
            </a:r>
            <a:r>
              <a:rPr lang="en-US" sz="1600" b="1" i="1"/>
              <a:t>eligible</a:t>
            </a:r>
            <a:r>
              <a:rPr lang="en-US" sz="1600"/>
              <a:t> </a:t>
            </a:r>
            <a:r>
              <a:rPr lang="en-US" sz="1600" err="1"/>
              <a:t>baik</a:t>
            </a:r>
            <a:r>
              <a:rPr lang="en-US" sz="1600"/>
              <a:t> </a:t>
            </a:r>
            <a:r>
              <a:rPr lang="en-US" sz="1600" err="1"/>
              <a:t>terkait</a:t>
            </a:r>
            <a:r>
              <a:rPr lang="en-US" sz="1600"/>
              <a:t> data </a:t>
            </a:r>
            <a:r>
              <a:rPr lang="en-US" sz="1600" err="1"/>
              <a:t>kehadiran</a:t>
            </a:r>
            <a:r>
              <a:rPr lang="en-US" sz="1600"/>
              <a:t>, </a:t>
            </a:r>
            <a:r>
              <a:rPr lang="en-US" sz="1600" err="1"/>
              <a:t>dokumen</a:t>
            </a:r>
            <a:r>
              <a:rPr lang="en-US" sz="1600"/>
              <a:t>, </a:t>
            </a:r>
            <a:r>
              <a:rPr lang="en-US" sz="1600" err="1"/>
              <a:t>maupun</a:t>
            </a:r>
            <a:r>
              <a:rPr lang="en-US" sz="1600"/>
              <a:t> </a:t>
            </a:r>
            <a:r>
              <a:rPr lang="en-US" sz="1600" err="1"/>
              <a:t>keuangan</a:t>
            </a:r>
            <a:r>
              <a:rPr lang="en-US" sz="1600"/>
              <a:t>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68CC6D-53F8-ACA7-CE99-C0DDEA2D4433}"/>
              </a:ext>
            </a:extLst>
          </p:cNvPr>
          <p:cNvSpPr txBox="1">
            <a:spLocks/>
          </p:cNvSpPr>
          <p:nvPr/>
        </p:nvSpPr>
        <p:spPr>
          <a:xfrm>
            <a:off x="1480454" y="3977103"/>
            <a:ext cx="7184573" cy="9026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b="1" err="1"/>
              <a:t>ketentuan</a:t>
            </a:r>
            <a:r>
              <a:rPr lang="en-US" sz="1600" b="1"/>
              <a:t> </a:t>
            </a:r>
            <a:r>
              <a:rPr lang="en-US" sz="1600" b="1" err="1"/>
              <a:t>kehadiran</a:t>
            </a:r>
            <a:r>
              <a:rPr lang="en-US" sz="1600" b="1"/>
              <a:t> </a:t>
            </a:r>
            <a:r>
              <a:rPr lang="en-US" sz="1600"/>
              <a:t>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ditetapkan</a:t>
            </a:r>
            <a:r>
              <a:rPr lang="en-US" sz="1600"/>
              <a:t> (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ujian</a:t>
            </a:r>
            <a:r>
              <a:rPr lang="en-US" sz="1600"/>
              <a:t> dan </a:t>
            </a:r>
            <a:r>
              <a:rPr lang="en-US" sz="1600" err="1"/>
              <a:t>batas</a:t>
            </a:r>
            <a:r>
              <a:rPr lang="en-US" sz="1600"/>
              <a:t> </a:t>
            </a:r>
            <a:r>
              <a:rPr lang="en-US" sz="1600" err="1"/>
              <a:t>keterlambatan</a:t>
            </a:r>
            <a:r>
              <a:rPr lang="en-US" sz="1600"/>
              <a:t>).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50566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UAP</a:t>
            </a:r>
          </a:p>
        </p:txBody>
      </p:sp>
    </p:spTree>
    <p:extLst>
      <p:ext uri="{BB962C8B-B14F-4D97-AF65-F5344CB8AC3E}">
        <p14:creationId xmlns:p14="http://schemas.microsoft.com/office/powerpoint/2010/main" val="2610600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6D916C-8D08-8485-CCA2-3365EEE23378}"/>
              </a:ext>
            </a:extLst>
          </p:cNvPr>
          <p:cNvSpPr/>
          <p:nvPr/>
        </p:nvSpPr>
        <p:spPr>
          <a:xfrm>
            <a:off x="4621426" y="5016505"/>
            <a:ext cx="3979152" cy="9270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4342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Menghadiri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perkuliahan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. UAP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b="1"/>
              <a:t>100% onsite</a:t>
            </a:r>
            <a:r>
              <a:rPr lang="en-US" sz="1600"/>
              <a:t>, </a:t>
            </a:r>
            <a:r>
              <a:rPr lang="en-US" sz="1600" err="1"/>
              <a:t>sehingga</a:t>
            </a:r>
            <a:r>
              <a:rPr lang="en-US" sz="1600"/>
              <a:t> UAP </a:t>
            </a:r>
            <a:r>
              <a:rPr lang="en-US" sz="1600" err="1"/>
              <a:t>dilaksanakan</a:t>
            </a:r>
            <a:r>
              <a:rPr lang="en-US" sz="1600"/>
              <a:t> di </a:t>
            </a:r>
            <a:r>
              <a:rPr lang="en-US" sz="1600" err="1"/>
              <a:t>ruangan</a:t>
            </a:r>
            <a:r>
              <a:rPr lang="en-US" sz="160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Apabila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terlambat</a:t>
            </a:r>
            <a:r>
              <a:rPr lang="en-US" sz="1400"/>
              <a:t> (</a:t>
            </a:r>
            <a:r>
              <a:rPr lang="en-US" sz="1400" err="1"/>
              <a:t>datang</a:t>
            </a:r>
            <a:r>
              <a:rPr lang="en-US" sz="1400"/>
              <a:t> </a:t>
            </a:r>
            <a:r>
              <a:rPr lang="en-US" sz="1400" err="1"/>
              <a:t>setelah</a:t>
            </a:r>
            <a:r>
              <a:rPr lang="en-US" sz="1400"/>
              <a:t> </a:t>
            </a:r>
            <a:r>
              <a:rPr lang="en-US" sz="1400" b="1"/>
              <a:t>UAP </a:t>
            </a:r>
            <a:r>
              <a:rPr lang="en-US" sz="1400" b="1" err="1"/>
              <a:t>sudah</a:t>
            </a:r>
            <a:r>
              <a:rPr lang="en-US" sz="1400" b="1"/>
              <a:t> </a:t>
            </a:r>
            <a:r>
              <a:rPr lang="en-US" sz="1400" b="1" err="1"/>
              <a:t>berlangsung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</a:t>
            </a:r>
            <a:r>
              <a:rPr lang="en-US" sz="1400" b="1" err="1"/>
              <a:t>atau</a:t>
            </a:r>
            <a:r>
              <a:rPr lang="en-US" sz="1400" b="1"/>
              <a:t> </a:t>
            </a:r>
            <a:r>
              <a:rPr lang="en-US" sz="1400" b="1" err="1"/>
              <a:t>lebih</a:t>
            </a:r>
            <a:r>
              <a:rPr lang="en-US" sz="1400" b="1"/>
              <a:t> </a:t>
            </a:r>
            <a:r>
              <a:rPr lang="en-US" sz="1400" b="1" err="1"/>
              <a:t>dari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/>
              <a:t>),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>
                <a:solidFill>
                  <a:srgbClr val="C00000"/>
                </a:solidFill>
              </a:rPr>
              <a:t>tidak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diperkenankan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mengikuti</a:t>
            </a:r>
            <a:r>
              <a:rPr lang="en-US" sz="1400" b="1">
                <a:solidFill>
                  <a:srgbClr val="C00000"/>
                </a:solidFill>
              </a:rPr>
              <a:t> UAP</a:t>
            </a:r>
            <a:r>
              <a:rPr lang="en-US" sz="1400"/>
              <a:t>.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b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terdapat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pelaksanaan</a:t>
            </a:r>
            <a:r>
              <a:rPr lang="en-US" sz="1400">
                <a:ea typeface="Open Sans"/>
                <a:cs typeface="Open Sans"/>
              </a:rPr>
              <a:t> UAP </a:t>
            </a:r>
            <a:r>
              <a:rPr lang="en-US" sz="1400" err="1">
                <a:ea typeface="Open Sans"/>
                <a:cs typeface="Open Sans"/>
              </a:rPr>
              <a:t>secara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i="1">
                <a:ea typeface="Open Sans"/>
                <a:cs typeface="Open Sans"/>
              </a:rPr>
              <a:t>online</a:t>
            </a:r>
            <a:r>
              <a:rPr lang="en-US" sz="1400">
                <a:ea typeface="Open Sans"/>
                <a:cs typeface="Open Sans"/>
              </a:rPr>
              <a:t>. </a:t>
            </a:r>
            <a:r>
              <a:rPr lang="en-US" sz="1400" err="1">
                <a:ea typeface="Open Sans"/>
                <a:cs typeface="Open Sans"/>
              </a:rPr>
              <a:t>Apabila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tidak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dapat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hadir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>
                <a:ea typeface="Open Sans"/>
                <a:cs typeface="Open Sans"/>
              </a:rPr>
              <a:t>di </a:t>
            </a:r>
            <a:r>
              <a:rPr lang="en-US" sz="1400" err="1">
                <a:ea typeface="Open Sans"/>
                <a:cs typeface="Open Sans"/>
              </a:rPr>
              <a:t>tempat</a:t>
            </a:r>
            <a:r>
              <a:rPr lang="en-US" sz="1400">
                <a:ea typeface="Open Sans"/>
                <a:cs typeface="Open Sans"/>
              </a:rPr>
              <a:t> pada </a:t>
            </a:r>
            <a:r>
              <a:rPr lang="en-US" sz="1400" err="1">
                <a:ea typeface="Open Sans"/>
                <a:cs typeface="Open Sans"/>
              </a:rPr>
              <a:t>pertemuan</a:t>
            </a:r>
            <a:r>
              <a:rPr lang="en-US" sz="1400">
                <a:ea typeface="Open Sans"/>
                <a:cs typeface="Open Sans"/>
              </a:rPr>
              <a:t> UAP,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DILARANG 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mengumpulkan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jawaban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 UAP</a:t>
            </a:r>
            <a:r>
              <a:rPr lang="en-US" sz="1400">
                <a:solidFill>
                  <a:srgbClr val="C00000"/>
                </a:solidFill>
                <a:ea typeface="Open Sans"/>
                <a:cs typeface="Open Sans"/>
              </a:rPr>
              <a:t> 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selain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 di website yang 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sudah</a:t>
            </a:r>
            <a:r>
              <a:rPr lang="en-US" sz="1400" b="1">
                <a:solidFill>
                  <a:srgbClr val="C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C00000"/>
                </a:solidFill>
                <a:ea typeface="Open Sans"/>
                <a:cs typeface="Open Sans"/>
              </a:rPr>
              <a:t>ditentukkan</a:t>
            </a:r>
            <a:r>
              <a:rPr lang="en-US" sz="1400">
                <a:solidFill>
                  <a:srgbClr val="000000"/>
                </a:solidFill>
                <a:ea typeface="Open Sans"/>
                <a:cs typeface="Open Sans"/>
              </a:rPr>
              <a:t>.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7D050C-E458-0B53-2E8B-54B814253AA4}"/>
              </a:ext>
            </a:extLst>
          </p:cNvPr>
          <p:cNvSpPr/>
          <p:nvPr/>
        </p:nvSpPr>
        <p:spPr>
          <a:xfrm>
            <a:off x="1393955" y="4818349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04C2D-2249-F31A-E1A7-9A0424E850B8}"/>
              </a:ext>
            </a:extLst>
          </p:cNvPr>
          <p:cNvSpPr/>
          <p:nvPr/>
        </p:nvSpPr>
        <p:spPr>
          <a:xfrm>
            <a:off x="1500999" y="4888975"/>
            <a:ext cx="3120427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4FF6E3-CE9F-8CDC-0FBB-B5A97C71347A}"/>
              </a:ext>
            </a:extLst>
          </p:cNvPr>
          <p:cNvSpPr/>
          <p:nvPr/>
        </p:nvSpPr>
        <p:spPr>
          <a:xfrm>
            <a:off x="4546882" y="4818349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E60086-141F-A705-83CA-59BBF727744D}"/>
              </a:ext>
            </a:extLst>
          </p:cNvPr>
          <p:cNvSpPr txBox="1">
            <a:spLocks/>
          </p:cNvSpPr>
          <p:nvPr/>
        </p:nvSpPr>
        <p:spPr>
          <a:xfrm>
            <a:off x="982415" y="440466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85E116-6ED8-C10F-339A-C875E1BE1736}"/>
              </a:ext>
            </a:extLst>
          </p:cNvPr>
          <p:cNvSpPr txBox="1">
            <a:spLocks/>
          </p:cNvSpPr>
          <p:nvPr/>
        </p:nvSpPr>
        <p:spPr>
          <a:xfrm>
            <a:off x="4115383" y="437814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E7AB28-207D-58D0-5603-EAF39AB799AE}"/>
              </a:ext>
            </a:extLst>
          </p:cNvPr>
          <p:cNvSpPr/>
          <p:nvPr/>
        </p:nvSpPr>
        <p:spPr>
          <a:xfrm>
            <a:off x="4621427" y="4888975"/>
            <a:ext cx="3979151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1B199F7-BF7A-9056-404F-E3CE38E22719}"/>
              </a:ext>
            </a:extLst>
          </p:cNvPr>
          <p:cNvSpPr txBox="1">
            <a:spLocks/>
          </p:cNvSpPr>
          <p:nvPr/>
        </p:nvSpPr>
        <p:spPr>
          <a:xfrm>
            <a:off x="4944094" y="5054761"/>
            <a:ext cx="3333815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baru</a:t>
            </a:r>
            <a:r>
              <a:rPr lang="en-US" sz="1600"/>
              <a:t> </a:t>
            </a:r>
            <a:r>
              <a:rPr lang="en-US" sz="1600" err="1"/>
              <a:t>hadir</a:t>
            </a:r>
            <a:r>
              <a:rPr lang="en-US" sz="1600"/>
              <a:t>,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mengikuti</a:t>
            </a:r>
            <a:r>
              <a:rPr lang="en-US" sz="1600" b="1"/>
              <a:t> UAP</a:t>
            </a:r>
            <a:endParaRPr lang="en-US" sz="1400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17C853-92A5-D60A-A26F-8077C96B6510}"/>
              </a:ext>
            </a:extLst>
          </p:cNvPr>
          <p:cNvSpPr/>
          <p:nvPr/>
        </p:nvSpPr>
        <p:spPr>
          <a:xfrm>
            <a:off x="1739590" y="5016504"/>
            <a:ext cx="2782985" cy="927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2BC2AE5-7F2E-602B-85E1-4CB8FC1DE37B}"/>
              </a:ext>
            </a:extLst>
          </p:cNvPr>
          <p:cNvSpPr txBox="1">
            <a:spLocks/>
          </p:cNvSpPr>
          <p:nvPr/>
        </p:nvSpPr>
        <p:spPr>
          <a:xfrm>
            <a:off x="1739590" y="5063145"/>
            <a:ext cx="2750560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masuk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UAP</a:t>
            </a:r>
            <a:endParaRPr lang="en-US" sz="14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E8831C-EC49-B36A-B17F-4C1D5D264696}"/>
              </a:ext>
            </a:extLst>
          </p:cNvPr>
          <p:cNvGrpSpPr/>
          <p:nvPr/>
        </p:nvGrpSpPr>
        <p:grpSpPr>
          <a:xfrm>
            <a:off x="2705924" y="4284569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66B32C61-543C-9092-AB96-CF2158CAA73A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2E5578-4ABC-0644-4AA1-02D8172E80D6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4443D3-84AA-EDE0-703E-50857EB160F5}"/>
              </a:ext>
            </a:extLst>
          </p:cNvPr>
          <p:cNvGrpSpPr/>
          <p:nvPr/>
        </p:nvGrpSpPr>
        <p:grpSpPr>
          <a:xfrm>
            <a:off x="5492724" y="4258301"/>
            <a:ext cx="534643" cy="592414"/>
            <a:chOff x="-117036" y="3760261"/>
            <a:chExt cx="534643" cy="592414"/>
          </a:xfrm>
        </p:grpSpPr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04531107-C481-A95C-EF03-60FB0066331B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481E54-31F1-C7C1-2A74-5CFE4193C8B7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35A3AAF-C0EC-6CC8-A11E-A92BB93C268D}"/>
              </a:ext>
            </a:extLst>
          </p:cNvPr>
          <p:cNvSpPr txBox="1">
            <a:spLocks/>
          </p:cNvSpPr>
          <p:nvPr/>
        </p:nvSpPr>
        <p:spPr>
          <a:xfrm>
            <a:off x="245503" y="5156681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UAP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596B25-B829-6117-9B13-D7501826273E}"/>
              </a:ext>
            </a:extLst>
          </p:cNvPr>
          <p:cNvCxnSpPr>
            <a:cxnSpLocks/>
          </p:cNvCxnSpPr>
          <p:nvPr/>
        </p:nvCxnSpPr>
        <p:spPr>
          <a:xfrm flipH="1">
            <a:off x="1237785" y="5016504"/>
            <a:ext cx="149108" cy="246872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77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624" y="1468399"/>
            <a:ext cx="7820026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Mengikuti</a:t>
            </a:r>
            <a:r>
              <a:rPr lang="en-US" sz="1600"/>
              <a:t>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mode </a:t>
            </a:r>
            <a:r>
              <a:rPr lang="en-US" sz="1600" err="1"/>
              <a:t>perkuliahan</a:t>
            </a:r>
            <a:r>
              <a:rPr lang="en-US" sz="1600"/>
              <a:t> yang </a:t>
            </a:r>
            <a:r>
              <a:rPr lang="en-US" sz="1600" err="1"/>
              <a:t>diikuti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b="1" i="1"/>
              <a:t>classroom attendance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err="1"/>
              <a:t>wifi</a:t>
            </a:r>
            <a:r>
              <a:rPr lang="en-US" sz="1600"/>
              <a:t> Binus Access.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 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 err="1"/>
              <a:t>tidak</a:t>
            </a:r>
            <a:r>
              <a:rPr lang="en-US" sz="1600" b="1"/>
              <a:t> </a:t>
            </a:r>
            <a:r>
              <a:rPr lang="en-US" sz="1600" b="1" err="1"/>
              <a:t>dapat</a:t>
            </a:r>
            <a:r>
              <a:rPr lang="en-US" sz="1600" b="1"/>
              <a:t> </a:t>
            </a:r>
            <a:r>
              <a:rPr lang="en-US" sz="1600" b="1" err="1"/>
              <a:t>hadir</a:t>
            </a:r>
            <a:r>
              <a:rPr lang="en-US" sz="1600" b="1"/>
              <a:t> </a:t>
            </a:r>
            <a:r>
              <a:rPr lang="en-US" sz="1600"/>
              <a:t>di </a:t>
            </a:r>
            <a:r>
              <a:rPr lang="en-US" sz="1600" err="1"/>
              <a:t>tempat</a:t>
            </a:r>
            <a:r>
              <a:rPr lang="en-US" sz="1600"/>
              <a:t> pada </a:t>
            </a:r>
            <a:r>
              <a:rPr lang="en-US" sz="1600" err="1"/>
              <a:t>pertemuan</a:t>
            </a:r>
            <a:r>
              <a:rPr lang="en-US" sz="1600"/>
              <a:t> UAP, 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 err="1"/>
              <a:t>tidak</a:t>
            </a:r>
            <a:r>
              <a:rPr lang="en-US" sz="1600" b="1"/>
              <a:t> </a:t>
            </a:r>
            <a:r>
              <a:rPr lang="en-US" sz="1600" b="1" err="1"/>
              <a:t>diperkenankan</a:t>
            </a:r>
            <a:r>
              <a:rPr lang="en-US" sz="1600" b="1"/>
              <a:t> </a:t>
            </a:r>
            <a:r>
              <a:rPr lang="en-US" sz="1600" b="1" err="1"/>
              <a:t>mengumpulkan</a:t>
            </a:r>
            <a:r>
              <a:rPr lang="en-US" sz="1600" b="1"/>
              <a:t> </a:t>
            </a:r>
            <a:r>
              <a:rPr lang="en-US" sz="1600" b="1" err="1"/>
              <a:t>jawaban</a:t>
            </a:r>
            <a:r>
              <a:rPr lang="en-US" sz="1600" b="1"/>
              <a:t> 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metode</a:t>
            </a:r>
            <a:r>
              <a:rPr lang="en-US" sz="1600"/>
              <a:t> </a:t>
            </a:r>
            <a:r>
              <a:rPr lang="en-US" sz="1600" err="1"/>
              <a:t>apapun</a:t>
            </a:r>
            <a:r>
              <a:rPr lang="en-US" sz="1600"/>
              <a:t>.</a:t>
            </a:r>
            <a:endParaRPr lang="en-US" sz="1400"/>
          </a:p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Apabila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hadir</a:t>
            </a:r>
            <a:r>
              <a:rPr lang="en-US" sz="1600">
                <a:ea typeface="Open Sans"/>
                <a:cs typeface="Open Sans"/>
              </a:rPr>
              <a:t> (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nilainya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dinolkan</a:t>
            </a:r>
            <a:r>
              <a:rPr lang="en-US" sz="1600">
                <a:ea typeface="Open Sans"/>
                <a:cs typeface="Open Sans"/>
              </a:rPr>
              <a:t>) pada </a:t>
            </a:r>
            <a:r>
              <a:rPr lang="en-US" sz="1600" err="1">
                <a:ea typeface="Open Sans"/>
                <a:cs typeface="Open Sans"/>
              </a:rPr>
              <a:t>pertemuan</a:t>
            </a:r>
            <a:r>
              <a:rPr lang="en-US" sz="1600">
                <a:ea typeface="Open Sans"/>
                <a:cs typeface="Open Sans"/>
              </a:rPr>
              <a:t> UAP, </a:t>
            </a:r>
            <a:r>
              <a:rPr lang="en-US" sz="1600" err="1">
                <a:ea typeface="Open Sans"/>
                <a:cs typeface="Open Sans"/>
              </a:rPr>
              <a:t>namun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pengajuan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dispensasi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diterima</a:t>
            </a:r>
            <a:r>
              <a:rPr lang="en-US" sz="1600" b="1">
                <a:ea typeface="Open Sans"/>
                <a:cs typeface="Open Sans"/>
              </a:rPr>
              <a:t> LSC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mengikuti</a:t>
            </a:r>
            <a:r>
              <a:rPr lang="en-US" sz="1600">
                <a:ea typeface="Open Sans"/>
                <a:cs typeface="Open Sans"/>
              </a:rPr>
              <a:t> UAP </a:t>
            </a:r>
            <a:r>
              <a:rPr lang="en-US" sz="1600" err="1">
                <a:ea typeface="Open Sans"/>
                <a:cs typeface="Open Sans"/>
              </a:rPr>
              <a:t>susulan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Jika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/>
              <a:t>pada </a:t>
            </a:r>
            <a:r>
              <a:rPr lang="en-US" sz="1600" b="1"/>
              <a:t>UAP </a:t>
            </a:r>
            <a:r>
              <a:rPr lang="en-US" sz="1600" b="1" err="1"/>
              <a:t>susulan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UAP </a:t>
            </a:r>
            <a:r>
              <a:rPr lang="en-US" sz="1600" err="1"/>
              <a:t>susulan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dinyatakan</a:t>
            </a:r>
            <a:r>
              <a:rPr lang="en-US" sz="1600"/>
              <a:t> 0 (NOL), </a:t>
            </a:r>
            <a:r>
              <a:rPr lang="en-US" sz="1600" err="1"/>
              <a:t>tanpa</a:t>
            </a:r>
            <a:r>
              <a:rPr lang="en-US" sz="1600"/>
              <a:t> </a:t>
            </a:r>
            <a:r>
              <a:rPr lang="en-US" sz="1600" err="1"/>
              <a:t>terkecuali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82753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FDAAE6-E3BD-64B0-9AB2-10A6B1345317}"/>
              </a:ext>
            </a:extLst>
          </p:cNvPr>
          <p:cNvSpPr/>
          <p:nvPr/>
        </p:nvSpPr>
        <p:spPr>
          <a:xfrm>
            <a:off x="957943" y="2307771"/>
            <a:ext cx="7968343" cy="7511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menunggu</a:t>
            </a:r>
            <a:r>
              <a:rPr lang="en-US" sz="1600" b="1"/>
              <a:t> di </a:t>
            </a:r>
            <a:r>
              <a:rPr lang="en-US" sz="1600" b="1" err="1"/>
              <a:t>luar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pengawas</a:t>
            </a:r>
            <a:r>
              <a:rPr lang="en-US" sz="1600"/>
              <a:t> </a:t>
            </a:r>
            <a:r>
              <a:rPr lang="en-US" sz="1600" err="1"/>
              <a:t>mempersiapkan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UAP.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menunjukkan</a:t>
            </a:r>
            <a:r>
              <a:rPr lang="en-US" sz="1600"/>
              <a:t> </a:t>
            </a:r>
            <a:r>
              <a:rPr lang="en-US" sz="1600" b="1" err="1"/>
              <a:t>Binusian</a:t>
            </a:r>
            <a:r>
              <a:rPr lang="en-US" sz="1600" b="1"/>
              <a:t> </a:t>
            </a:r>
            <a:r>
              <a:rPr lang="en-US" sz="1600" b="1" err="1"/>
              <a:t>FlazzCard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memasuki</a:t>
            </a:r>
            <a:r>
              <a:rPr lang="en-US" sz="1600" b="1"/>
              <a:t> </a:t>
            </a:r>
            <a:r>
              <a:rPr lang="en-US" sz="1600" b="1" err="1"/>
              <a:t>ruangan</a:t>
            </a:r>
            <a:r>
              <a:rPr lang="en-US" sz="1600" b="1"/>
              <a:t> </a:t>
            </a:r>
            <a:r>
              <a:rPr lang="en-US" sz="1600"/>
              <a:t>UAP.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meletakkan</a:t>
            </a:r>
            <a:r>
              <a:rPr lang="en-US" sz="1600" b="1"/>
              <a:t> </a:t>
            </a:r>
            <a:r>
              <a:rPr lang="en-US" sz="1600" b="1" err="1"/>
              <a:t>tas</a:t>
            </a:r>
            <a:r>
              <a:rPr lang="en-US" sz="1600" b="1"/>
              <a:t>, </a:t>
            </a:r>
            <a:r>
              <a:rPr lang="en-US" sz="1600" b="1" err="1"/>
              <a:t>ponsel</a:t>
            </a:r>
            <a:r>
              <a:rPr lang="en-US" sz="1600" b="1"/>
              <a:t>, dan </a:t>
            </a:r>
            <a:r>
              <a:rPr lang="en-US" sz="1600" b="1" err="1"/>
              <a:t>barang</a:t>
            </a:r>
            <a:r>
              <a:rPr lang="en-US" sz="1600" b="1"/>
              <a:t> </a:t>
            </a:r>
            <a:r>
              <a:rPr lang="en-US" sz="1600" b="1" err="1"/>
              <a:t>pribadi</a:t>
            </a:r>
            <a:r>
              <a:rPr lang="en-US" sz="1600" b="1"/>
              <a:t> </a:t>
            </a:r>
            <a:r>
              <a:rPr lang="en-US" sz="1600" b="1" err="1"/>
              <a:t>lainnya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loker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podium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 </a:t>
            </a:r>
            <a:r>
              <a:rPr lang="en-US" sz="1600" b="1" err="1"/>
              <a:t>alat</a:t>
            </a:r>
            <a:r>
              <a:rPr lang="en-US" sz="1600" b="1"/>
              <a:t> </a:t>
            </a:r>
            <a:r>
              <a:rPr lang="en-US" sz="1600" b="1" err="1"/>
              <a:t>elektronik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diatur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mode </a:t>
            </a:r>
            <a:r>
              <a:rPr lang="en-US" sz="1600" i="1"/>
              <a:t>silent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/>
              <a:t>duduk </a:t>
            </a:r>
            <a:r>
              <a:rPr lang="en-US" sz="1600" b="1" err="1"/>
              <a:t>sesuai</a:t>
            </a:r>
            <a:r>
              <a:rPr lang="en-US" sz="1600" b="1"/>
              <a:t> seat </a:t>
            </a:r>
            <a:r>
              <a:rPr lang="en-US" sz="1600"/>
              <a:t>yang </a:t>
            </a:r>
            <a:r>
              <a:rPr lang="en-US" sz="1600" err="1"/>
              <a:t>ditampilkan</a:t>
            </a:r>
            <a:r>
              <a:rPr lang="en-US" sz="1600"/>
              <a:t> oleh </a:t>
            </a:r>
            <a:r>
              <a:rPr lang="en-US" sz="1600" err="1"/>
              <a:t>pengawas</a:t>
            </a:r>
            <a:r>
              <a:rPr lang="en-US" sz="1600"/>
              <a:t> pada </a:t>
            </a:r>
            <a:r>
              <a:rPr lang="en-US" sz="1600" err="1"/>
              <a:t>proyektor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Saat UAP </a:t>
            </a:r>
            <a:r>
              <a:rPr lang="en-US" sz="1600" err="1"/>
              <a:t>dimulai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 men-</a:t>
            </a:r>
            <a:r>
              <a:rPr lang="en-US" sz="1600" b="1" i="1"/>
              <a:t>download</a:t>
            </a:r>
            <a:r>
              <a:rPr lang="en-US" sz="1600" b="1"/>
              <a:t> </a:t>
            </a:r>
            <a:r>
              <a:rPr lang="en-US" sz="1600" b="1" err="1"/>
              <a:t>soal</a:t>
            </a:r>
            <a:r>
              <a:rPr lang="en-US" sz="1600" b="1"/>
              <a:t> </a:t>
            </a:r>
            <a:r>
              <a:rPr lang="en-US" sz="1600" b="1" err="1"/>
              <a:t>secara</a:t>
            </a:r>
            <a:r>
              <a:rPr lang="en-US" sz="1600" b="1"/>
              <a:t> </a:t>
            </a:r>
            <a:r>
              <a:rPr lang="en-US" sz="1600" b="1" err="1"/>
              <a:t>mandiri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web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ditentukan</a:t>
            </a:r>
            <a:r>
              <a:rPr lang="en-US" sz="1600"/>
              <a:t> dan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dengan</a:t>
            </a:r>
            <a:r>
              <a:rPr lang="en-US" sz="1600" b="1"/>
              <a:t> </a:t>
            </a:r>
            <a:r>
              <a:rPr lang="en-US" sz="1600" b="1" err="1"/>
              <a:t>pengawas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16865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UAP </a:t>
            </a:r>
            <a:r>
              <a:rPr lang="en-US" sz="1600" err="1"/>
              <a:t>apabila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/>
              <a:t>UAP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berjalan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 b="1"/>
              <a:t> </a:t>
            </a:r>
            <a:r>
              <a:rPr lang="en-US" sz="1400" err="1"/>
              <a:t>sejak</a:t>
            </a:r>
            <a:r>
              <a:rPr lang="en-US" sz="1400"/>
              <a:t> </a:t>
            </a:r>
            <a:r>
              <a:rPr lang="en-US" sz="1400" err="1"/>
              <a:t>dimulai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melakukan</a:t>
            </a:r>
            <a:r>
              <a:rPr lang="en-US" sz="1400" b="1"/>
              <a:t> </a:t>
            </a:r>
            <a:r>
              <a:rPr lang="en-US" sz="1400" b="1" err="1"/>
              <a:t>finalisasi</a:t>
            </a:r>
            <a:r>
              <a:rPr lang="en-US" sz="1400" b="1"/>
              <a:t> </a:t>
            </a:r>
            <a:r>
              <a:rPr lang="en-US" sz="1400" b="1" err="1"/>
              <a:t>jawaban</a:t>
            </a:r>
            <a:r>
              <a:rPr lang="en-US" sz="1400" b="1"/>
              <a:t> </a:t>
            </a:r>
            <a:r>
              <a:rPr lang="en-US" sz="1400"/>
              <a:t>pada </a:t>
            </a:r>
            <a:r>
              <a:rPr lang="en-US" sz="1400" err="1"/>
              <a:t>sistem</a:t>
            </a:r>
            <a:r>
              <a:rPr lang="en-US" sz="1400"/>
              <a:t> (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pelaksanaan</a:t>
            </a:r>
            <a:r>
              <a:rPr lang="en-US" sz="1400"/>
              <a:t> UAP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lab.slc.net</a:t>
            </a:r>
            <a:r>
              <a:rPr lang="en-US" sz="1400"/>
              <a:t> </a:t>
            </a:r>
            <a:r>
              <a:rPr lang="en-US" sz="1400" err="1"/>
              <a:t>maupun</a:t>
            </a:r>
            <a:r>
              <a:rPr lang="en-US" sz="1400"/>
              <a:t> </a:t>
            </a:r>
            <a:r>
              <a:rPr lang="en-US" sz="1400" err="1"/>
              <a:t>dbprk.slc.net</a:t>
            </a:r>
            <a:r>
              <a:rPr lang="en-US" sz="140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D2A5E5-4FCA-6E2E-C0AA-0C5AFCB43484}"/>
              </a:ext>
            </a:extLst>
          </p:cNvPr>
          <p:cNvSpPr/>
          <p:nvPr/>
        </p:nvSpPr>
        <p:spPr>
          <a:xfrm>
            <a:off x="4621426" y="4057500"/>
            <a:ext cx="3979152" cy="12562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D7F6A0-60E9-1EBB-B791-A45FBB974371}"/>
              </a:ext>
            </a:extLst>
          </p:cNvPr>
          <p:cNvSpPr/>
          <p:nvPr/>
        </p:nvSpPr>
        <p:spPr>
          <a:xfrm>
            <a:off x="1393955" y="3859344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FF093-2F2A-B524-3C2A-46F6AE1DC33F}"/>
              </a:ext>
            </a:extLst>
          </p:cNvPr>
          <p:cNvSpPr/>
          <p:nvPr/>
        </p:nvSpPr>
        <p:spPr>
          <a:xfrm>
            <a:off x="1500999" y="3929970"/>
            <a:ext cx="3120427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C73B6D-0738-B78B-C3EE-4FFA8495988B}"/>
              </a:ext>
            </a:extLst>
          </p:cNvPr>
          <p:cNvSpPr/>
          <p:nvPr/>
        </p:nvSpPr>
        <p:spPr>
          <a:xfrm>
            <a:off x="4546882" y="3859344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9687D2-E41F-A8BE-8D45-CBBF7834CE8E}"/>
              </a:ext>
            </a:extLst>
          </p:cNvPr>
          <p:cNvSpPr txBox="1">
            <a:spLocks/>
          </p:cNvSpPr>
          <p:nvPr/>
        </p:nvSpPr>
        <p:spPr>
          <a:xfrm>
            <a:off x="982415" y="344566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C011B5-4C95-BB2A-3280-121F82F0F826}"/>
              </a:ext>
            </a:extLst>
          </p:cNvPr>
          <p:cNvSpPr txBox="1">
            <a:spLocks/>
          </p:cNvSpPr>
          <p:nvPr/>
        </p:nvSpPr>
        <p:spPr>
          <a:xfrm>
            <a:off x="4115383" y="341914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65905-3F10-5AC9-465B-C0CE02154633}"/>
              </a:ext>
            </a:extLst>
          </p:cNvPr>
          <p:cNvSpPr/>
          <p:nvPr/>
        </p:nvSpPr>
        <p:spPr>
          <a:xfrm>
            <a:off x="4621427" y="3929970"/>
            <a:ext cx="3979151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1B7900-A97D-E724-0A53-D0ECEA804207}"/>
              </a:ext>
            </a:extLst>
          </p:cNvPr>
          <p:cNvSpPr txBox="1">
            <a:spLocks/>
          </p:cNvSpPr>
          <p:nvPr/>
        </p:nvSpPr>
        <p:spPr>
          <a:xfrm>
            <a:off x="4923074" y="4104140"/>
            <a:ext cx="3375856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b="1" err="1"/>
              <a:t>apabila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melakukan</a:t>
            </a:r>
            <a:r>
              <a:rPr lang="en-US" sz="1600" b="1"/>
              <a:t> “Finalize”</a:t>
            </a:r>
            <a:endParaRPr lang="en-US" sz="14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5FA69E-3816-7A25-BFEA-0A9BB71CF911}"/>
              </a:ext>
            </a:extLst>
          </p:cNvPr>
          <p:cNvSpPr/>
          <p:nvPr/>
        </p:nvSpPr>
        <p:spPr>
          <a:xfrm>
            <a:off x="1739590" y="4057499"/>
            <a:ext cx="2782985" cy="12562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A062FA-133D-2A5A-622B-D8DACD50BB43}"/>
              </a:ext>
            </a:extLst>
          </p:cNvPr>
          <p:cNvSpPr txBox="1">
            <a:spLocks/>
          </p:cNvSpPr>
          <p:nvPr/>
        </p:nvSpPr>
        <p:spPr>
          <a:xfrm>
            <a:off x="1739590" y="4104140"/>
            <a:ext cx="2750560" cy="120961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endParaRPr lang="en-US" sz="14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9F12E8-6492-6D07-3016-095B01195F7A}"/>
              </a:ext>
            </a:extLst>
          </p:cNvPr>
          <p:cNvGrpSpPr/>
          <p:nvPr/>
        </p:nvGrpSpPr>
        <p:grpSpPr>
          <a:xfrm>
            <a:off x="5853545" y="3325564"/>
            <a:ext cx="534643" cy="592414"/>
            <a:chOff x="-117036" y="3760261"/>
            <a:chExt cx="534643" cy="592414"/>
          </a:xfrm>
        </p:grpSpPr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91640219-C6B4-6324-782D-663D7957CAD8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EB5A323-FE99-FD86-1310-6CADF649554C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B3D449-5A99-DCF2-4AB9-E22DFBA6C2D5}"/>
              </a:ext>
            </a:extLst>
          </p:cNvPr>
          <p:cNvGrpSpPr/>
          <p:nvPr/>
        </p:nvGrpSpPr>
        <p:grpSpPr>
          <a:xfrm>
            <a:off x="2617432" y="3299296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ECD9E5BF-44B5-35E7-4DCF-78AD08629505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75EA2B-2F32-D89C-3D81-175B32CD5EE3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5403A5-E3A9-605D-D937-C54EA838FA16}"/>
              </a:ext>
            </a:extLst>
          </p:cNvPr>
          <p:cNvSpPr txBox="1">
            <a:spLocks/>
          </p:cNvSpPr>
          <p:nvPr/>
        </p:nvSpPr>
        <p:spPr>
          <a:xfrm>
            <a:off x="245503" y="4197676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UAP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CF4BA2-2632-9B07-13E7-0E78BA03C7DF}"/>
              </a:ext>
            </a:extLst>
          </p:cNvPr>
          <p:cNvCxnSpPr>
            <a:cxnSpLocks/>
          </p:cNvCxnSpPr>
          <p:nvPr/>
        </p:nvCxnSpPr>
        <p:spPr>
          <a:xfrm flipH="1">
            <a:off x="1237785" y="4057499"/>
            <a:ext cx="149108" cy="246872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2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b="1" err="1"/>
              <a:t>Mahasiswa</a:t>
            </a:r>
            <a:r>
              <a:rPr lang="en-US" sz="1600" b="1"/>
              <a:t> WAJIB  </a:t>
            </a:r>
            <a:r>
              <a:rPr lang="en-US" sz="1600" err="1"/>
              <a:t>melakukan</a:t>
            </a:r>
            <a:r>
              <a:rPr lang="en-US" sz="1600"/>
              <a:t> </a:t>
            </a:r>
            <a:r>
              <a:rPr lang="en-US" sz="1600" b="1" i="1"/>
              <a:t>save </a:t>
            </a:r>
            <a:r>
              <a:rPr lang="en-US" sz="1600" err="1"/>
              <a:t>jawaban</a:t>
            </a:r>
            <a:r>
              <a:rPr lang="en-US" sz="1600"/>
              <a:t> </a:t>
            </a:r>
            <a:r>
              <a:rPr lang="en-US" sz="1600" b="1" err="1"/>
              <a:t>secara</a:t>
            </a:r>
            <a:r>
              <a:rPr lang="en-US" sz="1600" b="1"/>
              <a:t> </a:t>
            </a:r>
            <a:r>
              <a:rPr lang="en-US" sz="1600" b="1" err="1"/>
              <a:t>mandiri</a:t>
            </a:r>
            <a:r>
              <a:rPr lang="en-US" sz="1600"/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b="1" i="1"/>
              <a:t>Save </a:t>
            </a:r>
            <a:r>
              <a:rPr lang="en-US" sz="1600" err="1"/>
              <a:t>jawaban</a:t>
            </a:r>
            <a:r>
              <a:rPr lang="en-US" sz="1600"/>
              <a:t> </a:t>
            </a:r>
            <a:r>
              <a:rPr lang="en-US" sz="1600" b="1"/>
              <a:t>WAJIB  </a:t>
            </a:r>
            <a:r>
              <a:rPr lang="en-US" sz="1600" err="1"/>
              <a:t>dilakukan</a:t>
            </a:r>
            <a:r>
              <a:rPr lang="en-US" sz="1600"/>
              <a:t> </a:t>
            </a:r>
            <a:r>
              <a:rPr lang="en-US" sz="1600" b="1" err="1"/>
              <a:t>sebelum</a:t>
            </a:r>
            <a:r>
              <a:rPr lang="en-US" sz="1600" b="1"/>
              <a:t> file </a:t>
            </a:r>
            <a:r>
              <a:rPr lang="en-US" sz="1600" b="1" err="1"/>
              <a:t>jawaban</a:t>
            </a:r>
            <a:r>
              <a:rPr lang="en-US" sz="1600" b="1"/>
              <a:t> di-</a:t>
            </a:r>
            <a:r>
              <a:rPr lang="en-US" sz="1600" b="1" i="1"/>
              <a:t>compress </a:t>
            </a:r>
            <a:r>
              <a:rPr lang="en-US" sz="1600" b="1"/>
              <a:t>(.zip)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dihimbau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i="1"/>
              <a:t>save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secara</a:t>
            </a:r>
            <a:r>
              <a:rPr lang="en-US" sz="1600" b="1"/>
              <a:t> </a:t>
            </a:r>
            <a:r>
              <a:rPr lang="en-US" sz="1600" b="1" err="1"/>
              <a:t>berkala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mencegah</a:t>
            </a:r>
            <a:r>
              <a:rPr lang="en-US" sz="1600"/>
              <a:t> </a:t>
            </a:r>
            <a:r>
              <a:rPr lang="en-US" sz="1600" err="1"/>
              <a:t>hal-hal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diinginkan</a:t>
            </a:r>
            <a:r>
              <a:rPr lang="en-US" sz="1600"/>
              <a:t> </a:t>
            </a:r>
            <a:r>
              <a:rPr lang="en-US" sz="1600" err="1"/>
              <a:t>terjadi</a:t>
            </a:r>
            <a:r>
              <a:rPr lang="en-US" sz="1600"/>
              <a:t>. </a:t>
            </a:r>
            <a:endParaRPr lang="en-US" sz="1600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 </a:t>
            </a:r>
            <a:r>
              <a:rPr lang="en-US" sz="1600" err="1"/>
              <a:t>mengumpulkan</a:t>
            </a:r>
            <a:r>
              <a:rPr lang="en-US" sz="1600"/>
              <a:t> </a:t>
            </a:r>
            <a:r>
              <a:rPr lang="en-US" sz="1600" err="1"/>
              <a:t>jawaban</a:t>
            </a:r>
            <a:r>
              <a:rPr lang="en-US" sz="1600"/>
              <a:t>, 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/>
              <a:t>WAJIB </a:t>
            </a:r>
            <a:r>
              <a:rPr lang="en-US" sz="1600" err="1"/>
              <a:t>untuk</a:t>
            </a:r>
            <a:r>
              <a:rPr lang="en-US" sz="1600"/>
              <a:t> </a:t>
            </a:r>
            <a:r>
              <a:rPr lang="en-US" sz="1600" b="1" err="1"/>
              <a:t>mendownload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/>
              <a:t> </a:t>
            </a:r>
            <a:r>
              <a:rPr lang="en-US" sz="1600" err="1"/>
              <a:t>jawaban</a:t>
            </a:r>
            <a:r>
              <a:rPr lang="en-US" sz="1600"/>
              <a:t> yang </a:t>
            </a:r>
            <a:r>
              <a:rPr lang="en-US" sz="1600" err="1"/>
              <a:t>sudah</a:t>
            </a:r>
            <a:r>
              <a:rPr lang="en-US" sz="1600"/>
              <a:t> </a:t>
            </a:r>
            <a:r>
              <a:rPr lang="en-US" sz="1600" err="1"/>
              <a:t>terkumpul</a:t>
            </a:r>
            <a:r>
              <a:rPr lang="en-US" sz="1600"/>
              <a:t>, </a:t>
            </a:r>
            <a:r>
              <a:rPr lang="en-US" sz="1600" err="1"/>
              <a:t>lalu</a:t>
            </a:r>
            <a:r>
              <a:rPr lang="en-US" sz="1600"/>
              <a:t> </a:t>
            </a:r>
            <a:r>
              <a:rPr lang="en-US" sz="1600" b="1" err="1"/>
              <a:t>membukanya</a:t>
            </a:r>
            <a:r>
              <a:rPr lang="en-US" sz="1600" b="1"/>
              <a:t> 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memastikan</a:t>
            </a:r>
            <a:r>
              <a:rPr lang="en-US" sz="1600"/>
              <a:t> </a:t>
            </a:r>
            <a:r>
              <a:rPr lang="en-US" sz="1600" err="1"/>
              <a:t>isinya</a:t>
            </a:r>
            <a:r>
              <a:rPr lang="en-US" sz="1600"/>
              <a:t>  </a:t>
            </a:r>
            <a:r>
              <a:rPr lang="en-US" sz="1600" err="1"/>
              <a:t>tidak</a:t>
            </a:r>
            <a:r>
              <a:rPr lang="en-US" sz="1600"/>
              <a:t> </a:t>
            </a:r>
            <a:r>
              <a:rPr lang="en-US" sz="1600" err="1"/>
              <a:t>hilang</a:t>
            </a:r>
            <a:r>
              <a:rPr lang="en-US" sz="1600"/>
              <a:t>/ </a:t>
            </a:r>
            <a:r>
              <a:rPr lang="en-US" sz="1600" i="1"/>
              <a:t>corrupt</a:t>
            </a:r>
            <a:r>
              <a:rPr lang="en-US" sz="1600"/>
              <a:t>.</a:t>
            </a:r>
            <a:endParaRPr lang="en-US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b="1" err="1">
                <a:ea typeface="Open Sans"/>
                <a:cs typeface="Open Sans"/>
              </a:rPr>
              <a:t>mengecek</a:t>
            </a:r>
            <a:r>
              <a:rPr lang="en-US" sz="1600" b="1">
                <a:ea typeface="Open Sans"/>
                <a:cs typeface="Open Sans"/>
              </a:rPr>
              <a:t> file size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sudah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di website.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saat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didownload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keterangan</a:t>
            </a:r>
            <a:r>
              <a:rPr lang="en-US" sz="1600">
                <a:ea typeface="Open Sans"/>
                <a:cs typeface="Open Sans"/>
              </a:rPr>
              <a:t> file size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terdata</a:t>
            </a:r>
            <a:r>
              <a:rPr lang="en-US" sz="1600" b="1">
                <a:ea typeface="Open Sans"/>
                <a:cs typeface="Open Sans"/>
              </a:rPr>
              <a:t> 0 kb 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sesuai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dengan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seharusnya</a:t>
            </a:r>
            <a:r>
              <a:rPr lang="en-US" sz="1600" b="1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segera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informasikan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kepada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asisten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pengajar</a:t>
            </a:r>
            <a:r>
              <a:rPr lang="en-US" sz="1600">
                <a:ea typeface="Open Sans"/>
                <a:cs typeface="Open Sans"/>
              </a:rPr>
              <a:t>. </a:t>
            </a:r>
            <a:endParaRPr lang="en-US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b="1">
                <a:ea typeface="Open Sans"/>
                <a:cs typeface="Open Sans"/>
              </a:rPr>
              <a:t>Segala </a:t>
            </a:r>
            <a:r>
              <a:rPr lang="en-US" sz="1600" b="1" err="1">
                <a:ea typeface="Open Sans"/>
                <a:cs typeface="Open Sans"/>
              </a:rPr>
              <a:t>bentuk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kehilangan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sebagian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seluruh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dikarenakanmahasiswa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 save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tanggung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jawab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1091633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2C51-4D51-F18D-7AF2-33447FDD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BCE8-8280-84FA-5E87-4FABE28CE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UAP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berakhir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Perlu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diperhatikan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bahwa</a:t>
            </a:r>
            <a:r>
              <a:rPr lang="en-US" sz="1600">
                <a:ea typeface="Open Sans"/>
                <a:cs typeface="Open Sans"/>
              </a:rPr>
              <a:t> di </a:t>
            </a:r>
            <a:r>
              <a:rPr lang="en-US" sz="1600" err="1">
                <a:ea typeface="Open Sans"/>
                <a:cs typeface="Open Sans"/>
              </a:rPr>
              <a:t>aplikasi</a:t>
            </a:r>
            <a:r>
              <a:rPr lang="en-US" sz="1600">
                <a:ea typeface="Open Sans"/>
                <a:cs typeface="Open Sans"/>
              </a:rPr>
              <a:t> Visual Studio Code, 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boleh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sembarang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mengganti</a:t>
            </a:r>
            <a:r>
              <a:rPr lang="en-US" sz="1600" b="1">
                <a:ea typeface="Open Sans"/>
                <a:cs typeface="Open Sans"/>
              </a:rPr>
              <a:t> extension yang </a:t>
            </a:r>
            <a:r>
              <a:rPr lang="en-US" sz="1600" b="1" err="1">
                <a:ea typeface="Open Sans"/>
                <a:cs typeface="Open Sans"/>
              </a:rPr>
              <a:t>digunakan</a:t>
            </a:r>
            <a:r>
              <a:rPr lang="en-US" sz="1600">
                <a:ea typeface="Open Sans"/>
                <a:cs typeface="Open Sans"/>
              </a:rPr>
              <a:t> (</a:t>
            </a:r>
            <a:r>
              <a:rPr lang="en-US" sz="1600" err="1">
                <a:ea typeface="Open Sans"/>
                <a:cs typeface="Open Sans"/>
              </a:rPr>
              <a:t>misal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 .</a:t>
            </a:r>
            <a:r>
              <a:rPr lang="en-US" sz="1600" err="1">
                <a:ea typeface="Open Sans"/>
                <a:cs typeface="Open Sans"/>
              </a:rPr>
              <a:t>py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langsung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diubah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menjadi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ipynb</a:t>
            </a:r>
            <a:r>
              <a:rPr lang="en-US" sz="1600">
                <a:ea typeface="Open Sans"/>
                <a:cs typeface="Open Sans"/>
              </a:rPr>
              <a:t>). Aksi </a:t>
            </a:r>
            <a:r>
              <a:rPr lang="en-US" sz="1600" err="1">
                <a:ea typeface="Open Sans"/>
                <a:cs typeface="Open Sans"/>
              </a:rPr>
              <a:t>ini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menyebabkan</a:t>
            </a:r>
            <a:r>
              <a:rPr lang="en-US" sz="1600" b="1">
                <a:ea typeface="Open Sans"/>
                <a:cs typeface="Open Sans"/>
              </a:rPr>
              <a:t> code </a:t>
            </a:r>
            <a:r>
              <a:rPr lang="en-US" sz="1600" b="1" err="1">
                <a:ea typeface="Open Sans"/>
                <a:cs typeface="Open Sans"/>
              </a:rPr>
              <a:t>hilang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Upload </a:t>
            </a:r>
            <a:r>
              <a:rPr lang="en-US" sz="1600" i="1"/>
              <a:t>backup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/>
              <a:t>FTP</a:t>
            </a:r>
            <a:r>
              <a:rPr lang="en-US" sz="1600"/>
              <a:t> (folder FTP &gt; UPLOAD di masing-masing PC </a:t>
            </a:r>
            <a:r>
              <a:rPr lang="en-US" sz="1600" err="1"/>
              <a:t>mahasiswa</a:t>
            </a:r>
            <a:r>
              <a:rPr lang="en-US" sz="1600"/>
              <a:t>)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Kemanggisan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b="1" err="1"/>
              <a:t>backup.lcas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Alam Sutera </a:t>
            </a:r>
            <a:r>
              <a:rPr lang="en-US" sz="1600" b="1" err="1"/>
              <a:t>terlepas</a:t>
            </a:r>
            <a:r>
              <a:rPr lang="en-US" sz="1600" b="1"/>
              <a:t> </a:t>
            </a:r>
            <a:r>
              <a:rPr lang="en-US" sz="1600" b="1" err="1"/>
              <a:t>dari</a:t>
            </a:r>
            <a:r>
              <a:rPr lang="en-US" sz="1600" b="1"/>
              <a:t> </a:t>
            </a:r>
            <a:r>
              <a:rPr lang="en-US" sz="1600" b="1" err="1"/>
              <a:t>ada</a:t>
            </a:r>
            <a:r>
              <a:rPr lang="en-US" sz="1600" b="1"/>
              <a:t> </a:t>
            </a:r>
            <a:r>
              <a:rPr lang="en-US" sz="1600" b="1" err="1"/>
              <a:t>tidaknya</a:t>
            </a:r>
            <a:r>
              <a:rPr lang="en-US" sz="1600" b="1"/>
              <a:t> </a:t>
            </a:r>
            <a:r>
              <a:rPr lang="en-US" sz="1600" b="1" err="1"/>
              <a:t>kendala</a:t>
            </a:r>
            <a:r>
              <a:rPr lang="en-US" sz="1600" b="1"/>
              <a:t> pada </a:t>
            </a:r>
            <a:r>
              <a:rPr lang="en-US" sz="1600" b="1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>
                <a:solidFill>
                  <a:srgbClr val="FF0000"/>
                </a:solidFill>
              </a:rPr>
              <a:t>DILARANG</a:t>
            </a:r>
            <a:r>
              <a:rPr lang="en-US" sz="1600" b="1"/>
              <a:t> membawa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soal</a:t>
            </a:r>
            <a:r>
              <a:rPr lang="en-US" sz="1600" b="1"/>
              <a:t> </a:t>
            </a:r>
            <a:r>
              <a:rPr lang="en-US" sz="1600" b="1" err="1"/>
              <a:t>ataupun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 b="1"/>
              <a:t> UAP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bentuk</a:t>
            </a:r>
            <a:r>
              <a:rPr lang="en-US" sz="1600"/>
              <a:t> </a:t>
            </a:r>
            <a:r>
              <a:rPr lang="en-US" sz="1600" err="1"/>
              <a:t>apapun</a:t>
            </a:r>
            <a:r>
              <a:rPr lang="en-US" sz="1600"/>
              <a:t> (</a:t>
            </a:r>
            <a:r>
              <a:rPr lang="en-US" sz="1600" i="1"/>
              <a:t>copy file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i="1"/>
              <a:t>flash disk</a:t>
            </a:r>
            <a:r>
              <a:rPr lang="en-US" sz="1600"/>
              <a:t>, </a:t>
            </a:r>
            <a:r>
              <a:rPr lang="en-US" sz="1600" err="1"/>
              <a:t>foto</a:t>
            </a:r>
            <a:r>
              <a:rPr lang="en-US" sz="1600"/>
              <a:t>, </a:t>
            </a:r>
            <a:r>
              <a:rPr lang="en-US" sz="1600" err="1"/>
              <a:t>dsb</a:t>
            </a:r>
            <a:r>
              <a:rPr lang="en-US" sz="1600"/>
              <a:t>.).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WAJIB 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log out</a:t>
            </a:r>
            <a:r>
              <a:rPr lang="en-US" sz="1600">
                <a:ea typeface="Open Sans"/>
                <a:cs typeface="Open Sans"/>
              </a:rPr>
              <a:t> website 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TM/</a:t>
            </a:r>
            <a:r>
              <a:rPr lang="en-US" sz="1600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/</a:t>
            </a:r>
            <a:r>
              <a:rPr lang="en-US" sz="1600" err="1">
                <a:ea typeface="Open Sans"/>
                <a:cs typeface="Open Sans"/>
              </a:rPr>
              <a:t>projectsetelah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selesai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melakukan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aktivitas</a:t>
            </a:r>
            <a:r>
              <a:rPr lang="en-US" sz="1600">
                <a:ea typeface="Open Sans"/>
                <a:cs typeface="Open Sans"/>
              </a:rPr>
              <a:t> TM/</a:t>
            </a:r>
            <a:r>
              <a:rPr lang="en-US" sz="1600" err="1">
                <a:ea typeface="Open Sans"/>
                <a:cs typeface="Open Sans"/>
              </a:rPr>
              <a:t>ujian</a:t>
            </a:r>
            <a:r>
              <a:rPr lang="en-US" sz="1600">
                <a:ea typeface="Open Sans"/>
                <a:cs typeface="Open Sans"/>
              </a:rPr>
              <a:t>/project.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A9713-6C2D-1466-F32B-21DEF3B47B8B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76199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Sistem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UAP</a:t>
            </a:r>
          </a:p>
        </p:txBody>
      </p:sp>
    </p:spTree>
    <p:extLst>
      <p:ext uri="{BB962C8B-B14F-4D97-AF65-F5344CB8AC3E}">
        <p14:creationId xmlns:p14="http://schemas.microsoft.com/office/powerpoint/2010/main" val="212888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C51A63-3EDF-4B89-572B-5063F2E6D64D}"/>
              </a:ext>
            </a:extLst>
          </p:cNvPr>
          <p:cNvSpPr/>
          <p:nvPr/>
        </p:nvSpPr>
        <p:spPr>
          <a:xfrm>
            <a:off x="1295400" y="3656299"/>
            <a:ext cx="7467600" cy="1143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8"/>
            <a:ext cx="7696201" cy="498495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Sistem</a:t>
            </a:r>
            <a:r>
              <a:rPr lang="en-US" sz="1600"/>
              <a:t> yang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UAP: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Algo.binus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Algorithm and Programming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Dbprk.slc.net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Database Technology, Database Systems, Introduction to Database Systems, dan Database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Lab.slc.net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semua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selain</a:t>
            </a:r>
            <a:r>
              <a:rPr lang="en-US" sz="1400"/>
              <a:t> yang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algo.binus</a:t>
            </a:r>
            <a:r>
              <a:rPr lang="en-US" sz="1400"/>
              <a:t> dan </a:t>
            </a:r>
            <a:r>
              <a:rPr lang="en-US" sz="1400" err="1"/>
              <a:t>dbprk.slc.net</a:t>
            </a:r>
            <a:endParaRPr lang="en-US" sz="1400"/>
          </a:p>
          <a:p>
            <a:pPr algn="just">
              <a:lnSpc>
                <a:spcPct val="150000"/>
              </a:lnSpc>
            </a:pPr>
            <a:r>
              <a:rPr lang="en-US" sz="1600" err="1"/>
              <a:t>Pelaksanaan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dan </a:t>
            </a:r>
            <a:r>
              <a:rPr lang="en-US" sz="1600" err="1"/>
              <a:t>ujian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menggunakan</a:t>
            </a:r>
            <a:r>
              <a:rPr lang="en-US" sz="1600" b="1"/>
              <a:t> website </a:t>
            </a:r>
            <a:r>
              <a:rPr lang="en-US" sz="1600" b="1" err="1"/>
              <a:t>lokal</a:t>
            </a:r>
            <a:r>
              <a:rPr lang="en-US" sz="1600"/>
              <a:t>. </a:t>
            </a:r>
            <a:r>
              <a:rPr lang="en-US" sz="1600" err="1"/>
              <a:t>Penggunaan</a:t>
            </a:r>
            <a:r>
              <a:rPr lang="en-US" sz="1600"/>
              <a:t> website global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dan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dianggap</a:t>
            </a:r>
            <a:r>
              <a:rPr lang="en-US" sz="1600" b="1"/>
              <a:t> </a:t>
            </a:r>
            <a:r>
              <a:rPr lang="en-US" sz="1600" b="1" err="1"/>
              <a:t>sebagai</a:t>
            </a:r>
            <a:r>
              <a:rPr lang="en-US" sz="1600" b="1"/>
              <a:t> </a:t>
            </a:r>
            <a:r>
              <a:rPr lang="en-US" sz="1600" b="1" err="1"/>
              <a:t>tindakan</a:t>
            </a:r>
            <a:r>
              <a:rPr lang="en-US" sz="1600" b="1"/>
              <a:t> </a:t>
            </a:r>
            <a:r>
              <a:rPr lang="en-US" sz="1600" b="1" err="1"/>
              <a:t>kecurangan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E3FCEF-BEDB-C65C-BC31-1054F37A1E63}"/>
              </a:ext>
            </a:extLst>
          </p:cNvPr>
          <p:cNvSpPr txBox="1">
            <a:spLocks/>
          </p:cNvSpPr>
          <p:nvPr/>
        </p:nvSpPr>
        <p:spPr>
          <a:xfrm rot="21111523">
            <a:off x="966509" y="3938305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020634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TM dan UAP,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memanfaatkan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akses</a:t>
            </a:r>
            <a:r>
              <a:rPr lang="en-US" sz="1600"/>
              <a:t> global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kebutuhan</a:t>
            </a:r>
            <a:r>
              <a:rPr lang="en-US" sz="1600" b="1"/>
              <a:t> </a:t>
            </a:r>
            <a:r>
              <a:rPr lang="en-US" sz="1600" b="1" err="1"/>
              <a:t>perkuliahan</a:t>
            </a:r>
            <a:r>
              <a:rPr lang="en-US" sz="1600" b="1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dan Video-based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A0522-C86C-EFBA-5662-5DD2B07DC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9" t="34966" r="4712" b="5240"/>
          <a:stretch/>
        </p:blipFill>
        <p:spPr>
          <a:xfrm>
            <a:off x="1245472" y="2795752"/>
            <a:ext cx="3205656" cy="2133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ACF422-7BBA-DACF-22D5-9851F544E63F}"/>
              </a:ext>
            </a:extLst>
          </p:cNvPr>
          <p:cNvSpPr txBox="1">
            <a:spLocks/>
          </p:cNvSpPr>
          <p:nvPr/>
        </p:nvSpPr>
        <p:spPr>
          <a:xfrm>
            <a:off x="4572000" y="2511971"/>
            <a:ext cx="4283403" cy="4041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 err="1"/>
              <a:t>Dbprk</a:t>
            </a:r>
            <a:r>
              <a:rPr lang="en-US" sz="1600" b="1"/>
              <a:t> (</a:t>
            </a:r>
            <a:r>
              <a:rPr lang="en-US" sz="1600" b="1" err="1"/>
              <a:t>Galaxion</a:t>
            </a:r>
            <a:r>
              <a:rPr lang="en-US" sz="1600" b="1"/>
              <a:t>)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menu Practice.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Akses</a:t>
            </a:r>
            <a:r>
              <a:rPr lang="en-US" sz="1600"/>
              <a:t> </a:t>
            </a:r>
            <a:r>
              <a:rPr lang="en-US" sz="1600" err="1"/>
              <a:t>Dbprk</a:t>
            </a:r>
            <a:r>
              <a:rPr lang="en-US" sz="1600"/>
              <a:t> (</a:t>
            </a:r>
            <a:r>
              <a:rPr lang="en-US" sz="1600" err="1"/>
              <a:t>Galaxion</a:t>
            </a:r>
            <a:r>
              <a:rPr lang="en-US" sz="1600"/>
              <a:t>):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3"/>
              </a:rPr>
              <a:t>https://socs1.binus.ac.id/dbprk</a:t>
            </a:r>
            <a:r>
              <a:rPr lang="en-US" sz="1400"/>
              <a:t> (global)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dbprk.slc.net</a:t>
            </a:r>
            <a:r>
              <a:rPr lang="en-US" sz="1400"/>
              <a:t> (local)</a:t>
            </a: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2D38F-75FA-42AB-57C9-D50D7F42C2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358"/>
          <a:stretch/>
        </p:blipFill>
        <p:spPr>
          <a:xfrm>
            <a:off x="1245472" y="5091387"/>
            <a:ext cx="3205656" cy="1299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2524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468399"/>
            <a:ext cx="4283403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kebutuhan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,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, software, practicum case (Latihan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, </a:t>
            </a:r>
            <a:r>
              <a:rPr lang="en-US" sz="1600" b="1"/>
              <a:t>Video-Based Learning (VBL)</a:t>
            </a:r>
            <a:r>
              <a:rPr lang="en-US" sz="1600"/>
              <a:t>), </a:t>
            </a:r>
            <a:r>
              <a:rPr lang="en-US" sz="1600" err="1"/>
              <a:t>dsb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Akses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Practicum: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/>
              <a:t>Courses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Mata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Berpraktikum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 err="1"/>
              <a:t>klik</a:t>
            </a:r>
            <a:r>
              <a:rPr lang="en-US" sz="1400"/>
              <a:t> menu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2"/>
              </a:rPr>
              <a:t>https://bluejack.binus.ac.id/prk/</a:t>
            </a:r>
            <a:r>
              <a:rPr lang="en-US" sz="140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A4E033-7A1A-E70C-58EC-5EBCD4EF75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991" b="6538"/>
          <a:stretch/>
        </p:blipFill>
        <p:spPr>
          <a:xfrm>
            <a:off x="1172402" y="4116418"/>
            <a:ext cx="3303695" cy="20308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750B0-1E14-A39B-52F7-1A33E0E512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691" b="4456"/>
          <a:stretch/>
        </p:blipFill>
        <p:spPr>
          <a:xfrm>
            <a:off x="1172402" y="1752893"/>
            <a:ext cx="3295202" cy="210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09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Kredensial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login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menggunakan</a:t>
            </a:r>
            <a:r>
              <a:rPr lang="en-US" sz="1600"/>
              <a:t> username </a:t>
            </a:r>
            <a:r>
              <a:rPr lang="en-US" sz="1600" err="1"/>
              <a:t>berupa</a:t>
            </a:r>
            <a:r>
              <a:rPr lang="en-US" sz="1600"/>
              <a:t> </a:t>
            </a:r>
            <a:r>
              <a:rPr lang="en-US" sz="1600" b="1"/>
              <a:t>NIM</a:t>
            </a:r>
            <a:r>
              <a:rPr lang="en-US" sz="1600"/>
              <a:t> dan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Panduan </a:t>
            </a:r>
            <a:r>
              <a:rPr lang="en-US" sz="1600" err="1">
                <a:latin typeface="Open Sans"/>
              </a:rPr>
              <a:t>lengkap</a:t>
            </a:r>
            <a:r>
              <a:rPr lang="en-US" sz="1600">
                <a:latin typeface="Open Sans"/>
              </a:rPr>
              <a:t> </a:t>
            </a:r>
            <a:r>
              <a:rPr lang="en-US" sz="1600" err="1"/>
              <a:t>penggunaan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Home  Procedure &amp; Rules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EA892-B2BE-7FA3-74F1-91B87FB24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349"/>
          <a:stretch/>
        </p:blipFill>
        <p:spPr>
          <a:xfrm>
            <a:off x="904010" y="3282107"/>
            <a:ext cx="7772400" cy="1839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956427-C118-091E-EB28-281713C112CF}"/>
              </a:ext>
            </a:extLst>
          </p:cNvPr>
          <p:cNvSpPr/>
          <p:nvPr/>
        </p:nvSpPr>
        <p:spPr>
          <a:xfrm>
            <a:off x="1066799" y="3155732"/>
            <a:ext cx="2667002" cy="68579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9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Peraturan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UAP</a:t>
            </a:r>
          </a:p>
        </p:txBody>
      </p:sp>
    </p:spTree>
    <p:extLst>
      <p:ext uri="{BB962C8B-B14F-4D97-AF65-F5344CB8AC3E}">
        <p14:creationId xmlns:p14="http://schemas.microsoft.com/office/powerpoint/2010/main" val="1167959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1E9C0F-C5AB-3FB9-EDC5-5EA6252A8103}"/>
              </a:ext>
            </a:extLst>
          </p:cNvPr>
          <p:cNvSpPr/>
          <p:nvPr/>
        </p:nvSpPr>
        <p:spPr>
          <a:xfrm>
            <a:off x="1295400" y="4215070"/>
            <a:ext cx="7467600" cy="19650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dinilai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err="1"/>
              <a:t>jawaban</a:t>
            </a:r>
            <a:r>
              <a:rPr lang="en-US" sz="1600" b="1"/>
              <a:t> yang di-</a:t>
            </a:r>
            <a:r>
              <a:rPr lang="en-US" sz="1600" b="1" i="1"/>
              <a:t>upload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sistem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Wajib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 err="1"/>
              <a:t>sesuai</a:t>
            </a:r>
            <a:r>
              <a:rPr lang="en-US" sz="1600" b="1"/>
              <a:t> </a:t>
            </a:r>
            <a:r>
              <a:rPr lang="en-US" sz="1600" b="1" err="1"/>
              <a:t>ekstensi</a:t>
            </a:r>
            <a:r>
              <a:rPr lang="en-US" sz="1600" b="1"/>
              <a:t> </a:t>
            </a:r>
            <a:r>
              <a:rPr lang="en-US" sz="1600" b="1" i="1"/>
              <a:t>file</a:t>
            </a:r>
            <a:r>
              <a:rPr lang="en-US" sz="1600" b="1"/>
              <a:t>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ditentukan</a:t>
            </a:r>
            <a:r>
              <a:rPr lang="en-US" sz="1600"/>
              <a:t> (</a:t>
            </a:r>
            <a:r>
              <a:rPr lang="en-US" sz="1600" err="1"/>
              <a:t>contoh</a:t>
            </a:r>
            <a:r>
              <a:rPr lang="en-US" sz="1600"/>
              <a:t> yang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/>
              <a:t>: </a:t>
            </a:r>
            <a:r>
              <a:rPr lang="en-US" sz="1600" err="1"/>
              <a:t>memasukkan</a:t>
            </a:r>
            <a:r>
              <a:rPr lang="en-US" sz="1600"/>
              <a:t> snippet code </a:t>
            </a:r>
            <a:r>
              <a:rPr lang="en-US" sz="1600" err="1"/>
              <a:t>ke</a:t>
            </a:r>
            <a:r>
              <a:rPr lang="en-US" sz="1600"/>
              <a:t>  file .docx, </a:t>
            </a:r>
            <a:r>
              <a:rPr lang="en-US" sz="1600" err="1"/>
              <a:t>dsb</a:t>
            </a:r>
            <a:r>
              <a:rPr lang="en-US" sz="1600"/>
              <a:t>.).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i="1"/>
              <a:t>Backup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 err="1"/>
              <a:t>hanya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terjadi</a:t>
            </a:r>
            <a:r>
              <a:rPr lang="en-US" sz="1400" b="1"/>
              <a:t> </a:t>
            </a:r>
            <a:r>
              <a:rPr lang="en-US" sz="1400" b="1" err="1"/>
              <a:t>kendala</a:t>
            </a:r>
            <a:r>
              <a:rPr lang="en-US" sz="1400" b="1"/>
              <a:t> pada </a:t>
            </a:r>
            <a:r>
              <a:rPr lang="en-US" sz="1400" b="1" err="1"/>
              <a:t>sistem</a:t>
            </a:r>
            <a:r>
              <a:rPr lang="en-US" sz="1400"/>
              <a:t> (di </a:t>
            </a:r>
            <a:r>
              <a:rPr lang="en-US" sz="1400" err="1"/>
              <a:t>luar</a:t>
            </a:r>
            <a:r>
              <a:rPr lang="en-US" sz="1400"/>
              <a:t> </a:t>
            </a:r>
            <a:r>
              <a:rPr lang="en-US" sz="1400" err="1"/>
              <a:t>kelalaian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)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i="1"/>
              <a:t>Last modified </a:t>
            </a:r>
            <a:r>
              <a:rPr lang="en-US" sz="1400" err="1"/>
              <a:t>jawaban</a:t>
            </a:r>
            <a:r>
              <a:rPr lang="en-US" sz="1400"/>
              <a:t> backup </a:t>
            </a:r>
            <a:r>
              <a:rPr lang="en-US" sz="1400" err="1"/>
              <a:t>belum</a:t>
            </a:r>
            <a:r>
              <a:rPr lang="en-US" sz="1400"/>
              <a:t> </a:t>
            </a:r>
            <a:r>
              <a:rPr lang="en-US" sz="1400" err="1"/>
              <a:t>melebihi</a:t>
            </a:r>
            <a:r>
              <a:rPr lang="en-US" sz="1400"/>
              <a:t> batas </a:t>
            </a:r>
            <a:r>
              <a:rPr lang="en-US" sz="1400" err="1"/>
              <a:t>waktu</a:t>
            </a:r>
            <a:r>
              <a:rPr lang="en-US" sz="1400"/>
              <a:t> </a:t>
            </a:r>
            <a:r>
              <a:rPr lang="en-US" sz="1400" err="1"/>
              <a:t>pengumpulan</a:t>
            </a:r>
            <a:endParaRPr lang="en-US" sz="1400"/>
          </a:p>
          <a:p>
            <a:pPr algn="just">
              <a:lnSpc>
                <a:spcPct val="150000"/>
              </a:lnSpc>
            </a:pPr>
            <a:r>
              <a:rPr lang="en-US" sz="1600" err="1"/>
              <a:t>Pengawas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menerima</a:t>
            </a:r>
            <a:r>
              <a:rPr lang="en-US" sz="1600" b="1"/>
              <a:t> </a:t>
            </a:r>
            <a:r>
              <a:rPr lang="en-US" sz="1600" b="1" i="1"/>
              <a:t>request</a:t>
            </a:r>
            <a:r>
              <a:rPr lang="en-US" sz="1600" b="1"/>
              <a:t>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backup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jika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kendala</a:t>
            </a:r>
            <a:r>
              <a:rPr lang="en-US" sz="1600"/>
              <a:t> pada </a:t>
            </a:r>
            <a:r>
              <a:rPr lang="en-US" sz="1600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Backup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b="1"/>
              <a:t>yang </a:t>
            </a:r>
            <a:r>
              <a:rPr lang="en-US" sz="1600" b="1" err="1"/>
              <a:t>melebihi</a:t>
            </a:r>
            <a:r>
              <a:rPr lang="en-US" sz="1600" b="1"/>
              <a:t> batas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/>
              <a:t>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valid </a:t>
            </a:r>
            <a:r>
              <a:rPr lang="en-US" sz="1600"/>
              <a:t>dan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meskipun</a:t>
            </a:r>
            <a:r>
              <a:rPr lang="en-US" sz="1600"/>
              <a:t>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kendala</a:t>
            </a:r>
            <a:r>
              <a:rPr lang="en-US" sz="1600"/>
              <a:t> pada </a:t>
            </a:r>
            <a:r>
              <a:rPr lang="en-US" sz="1600" err="1"/>
              <a:t>sistem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F53C03-47BC-F6B1-9318-CB395471302B}"/>
              </a:ext>
            </a:extLst>
          </p:cNvPr>
          <p:cNvSpPr txBox="1">
            <a:spLocks/>
          </p:cNvSpPr>
          <p:nvPr/>
        </p:nvSpPr>
        <p:spPr>
          <a:xfrm rot="21111523">
            <a:off x="966509" y="4484843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566536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991B08-0C7E-2479-6B30-1E42435085F3}"/>
              </a:ext>
            </a:extLst>
          </p:cNvPr>
          <p:cNvSpPr/>
          <p:nvPr/>
        </p:nvSpPr>
        <p:spPr>
          <a:xfrm>
            <a:off x="854579" y="1469781"/>
            <a:ext cx="7899350" cy="2067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Saat </a:t>
            </a:r>
            <a:r>
              <a:rPr lang="en-US" sz="1600" err="1"/>
              <a:t>pelaksanaan</a:t>
            </a:r>
            <a:r>
              <a:rPr lang="en-US" sz="1600"/>
              <a:t> UAP,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dilarang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membuka</a:t>
            </a:r>
            <a:r>
              <a:rPr lang="en-US" sz="1600"/>
              <a:t> software/website/</a:t>
            </a:r>
            <a:r>
              <a:rPr lang="en-US" sz="1600" err="1"/>
              <a:t>dokumentasi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tertera</a:t>
            </a:r>
            <a:r>
              <a:rPr lang="en-US" sz="1600"/>
              <a:t> pada </a:t>
            </a:r>
            <a:r>
              <a:rPr lang="en-ID" sz="1600" err="1"/>
              <a:t>buku</a:t>
            </a:r>
            <a:r>
              <a:rPr lang="en-ID" sz="1600"/>
              <a:t> </a:t>
            </a:r>
            <a:r>
              <a:rPr lang="en-ID" sz="1600" err="1"/>
              <a:t>panduan</a:t>
            </a:r>
            <a:r>
              <a:rPr lang="en-ID" sz="1600"/>
              <a:t> </a:t>
            </a:r>
            <a:r>
              <a:rPr lang="en-ID" sz="1600" err="1"/>
              <a:t>akademik</a:t>
            </a:r>
            <a:r>
              <a:rPr lang="en-ID" sz="1600"/>
              <a:t> SLC/LC </a:t>
            </a:r>
            <a:r>
              <a:rPr lang="en-ID" sz="1600" err="1"/>
              <a:t>untuk</a:t>
            </a:r>
            <a:r>
              <a:rPr lang="en-ID" sz="1600"/>
              <a:t> </a:t>
            </a:r>
            <a:r>
              <a:rPr lang="en-ID" sz="1600" err="1"/>
              <a:t>mata</a:t>
            </a:r>
            <a:r>
              <a:rPr lang="en-ID" sz="1600"/>
              <a:t> </a:t>
            </a:r>
            <a:r>
              <a:rPr lang="en-ID" sz="1600" err="1"/>
              <a:t>kuliah</a:t>
            </a:r>
            <a:r>
              <a:rPr lang="en-ID" sz="1600"/>
              <a:t> </a:t>
            </a:r>
            <a:r>
              <a:rPr lang="en-ID" sz="1600" err="1"/>
              <a:t>terkait</a:t>
            </a:r>
            <a:r>
              <a:rPr lang="en-ID" sz="1600">
                <a:latin typeface="Arial"/>
                <a:cs typeface="Arial"/>
              </a:rPr>
              <a:t>.</a:t>
            </a:r>
            <a:r>
              <a:rPr lang="en-ID" sz="1800">
                <a:latin typeface="Arial"/>
                <a:cs typeface="Arial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600" b="1"/>
              <a:t>Searching/prompt search</a:t>
            </a:r>
            <a:r>
              <a:rPr lang="en-US" sz="1600"/>
              <a:t> di chrome/google/searching engine </a:t>
            </a:r>
            <a:r>
              <a:rPr lang="en-US" sz="1600" err="1"/>
              <a:t>lainnya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b="1" err="1"/>
              <a:t>dikategorikan</a:t>
            </a:r>
            <a:r>
              <a:rPr lang="en-US" sz="1600" b="1"/>
              <a:t> </a:t>
            </a:r>
            <a:r>
              <a:rPr lang="en-US" sz="1600" b="1" err="1"/>
              <a:t>sebagai</a:t>
            </a:r>
            <a:r>
              <a:rPr lang="en-US" sz="1600" b="1"/>
              <a:t> </a:t>
            </a:r>
            <a:r>
              <a:rPr lang="en-US" sz="1600" b="1" err="1"/>
              <a:t>menyontek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Untuk</a:t>
            </a:r>
            <a:r>
              <a:rPr lang="en-US" sz="1600"/>
              <a:t> 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b="1"/>
              <a:t>onsite</a:t>
            </a:r>
            <a:r>
              <a:rPr lang="en-US" sz="1600"/>
              <a:t>, </a:t>
            </a:r>
            <a:r>
              <a:rPr lang="en-US" sz="1600" b="1" err="1"/>
              <a:t>dilarang</a:t>
            </a:r>
            <a:r>
              <a:rPr lang="en-US" sz="1600"/>
              <a:t> </a:t>
            </a:r>
            <a:r>
              <a:rPr lang="en-US" sz="1600" err="1"/>
              <a:t>membawa</a:t>
            </a:r>
            <a:r>
              <a:rPr lang="en-US" sz="1600"/>
              <a:t> </a:t>
            </a:r>
            <a:r>
              <a:rPr lang="en-US" sz="1600" err="1"/>
              <a:t>apapun</a:t>
            </a:r>
            <a:r>
              <a:rPr lang="en-US" sz="1600"/>
              <a:t> </a:t>
            </a:r>
            <a:r>
              <a:rPr lang="en-US" sz="1600" b="1"/>
              <a:t>(</a:t>
            </a:r>
            <a:r>
              <a:rPr lang="en-US" sz="1600" b="1" err="1"/>
              <a:t>kecuali</a:t>
            </a:r>
            <a:r>
              <a:rPr lang="en-US" sz="1600" b="1"/>
              <a:t> </a:t>
            </a:r>
            <a:r>
              <a:rPr lang="en-US" sz="1600" b="1" err="1"/>
              <a:t>botol</a:t>
            </a:r>
            <a:r>
              <a:rPr lang="en-US" sz="1600" b="1"/>
              <a:t> </a:t>
            </a:r>
            <a:r>
              <a:rPr lang="en-US" sz="1600" b="1" err="1"/>
              <a:t>minum</a:t>
            </a:r>
            <a:r>
              <a:rPr lang="en-US" sz="1600" b="1"/>
              <a:t>)</a:t>
            </a:r>
            <a:r>
              <a:rPr lang="en-US" sz="1600"/>
              <a:t> </a:t>
            </a:r>
            <a:r>
              <a:rPr lang="en-US" sz="1600" err="1"/>
              <a:t>ke</a:t>
            </a:r>
            <a:r>
              <a:rPr lang="en-US" sz="1600"/>
              <a:t> </a:t>
            </a:r>
            <a:r>
              <a:rPr lang="en-US" sz="1600" err="1"/>
              <a:t>tempat</a:t>
            </a:r>
            <a:r>
              <a:rPr lang="en-US" sz="1600"/>
              <a:t> duduk </a:t>
            </a:r>
            <a:r>
              <a:rPr lang="en-US" sz="1600" err="1"/>
              <a:t>termasuk</a:t>
            </a:r>
            <a:r>
              <a:rPr lang="en-US" sz="1600"/>
              <a:t> </a:t>
            </a:r>
            <a:r>
              <a:rPr lang="en-US" sz="1600" err="1"/>
              <a:t>alat</a:t>
            </a:r>
            <a:r>
              <a:rPr lang="en-US" sz="1600"/>
              <a:t> </a:t>
            </a:r>
            <a:r>
              <a:rPr lang="en-US" sz="1600" err="1"/>
              <a:t>elektronik</a:t>
            </a:r>
            <a:r>
              <a:rPr lang="en-US" sz="1600"/>
              <a:t>.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US" sz="1600"/>
              <a:t>Software Laboratory Center dan Laboratory Center </a:t>
            </a:r>
            <a:r>
              <a:rPr lang="en-US" sz="1600" err="1"/>
              <a:t>hanya</a:t>
            </a:r>
            <a:r>
              <a:rPr lang="en-US" sz="1600"/>
              <a:t> </a:t>
            </a:r>
            <a:r>
              <a:rPr lang="en-US" sz="1600" err="1"/>
              <a:t>memberikan</a:t>
            </a:r>
            <a:r>
              <a:rPr lang="en-US" sz="1600"/>
              <a:t> </a:t>
            </a:r>
            <a:r>
              <a:rPr lang="en-US" sz="1600" err="1"/>
              <a:t>perpanjangan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pengumpulan</a:t>
            </a:r>
            <a:r>
              <a:rPr lang="en-US" sz="1600"/>
              <a:t> UAP </a:t>
            </a:r>
            <a:r>
              <a:rPr lang="en-US" sz="1600" b="1" err="1"/>
              <a:t>apabila</a:t>
            </a:r>
            <a:r>
              <a:rPr lang="en-US" sz="1600" b="1"/>
              <a:t> </a:t>
            </a:r>
            <a:r>
              <a:rPr lang="en-US" sz="1600" b="1" err="1"/>
              <a:t>terjadi</a:t>
            </a:r>
            <a:r>
              <a:rPr lang="en-US" sz="1600" b="1"/>
              <a:t> </a:t>
            </a:r>
            <a:r>
              <a:rPr lang="en-US" sz="1600" b="1" err="1"/>
              <a:t>kesalahan</a:t>
            </a:r>
            <a:r>
              <a:rPr lang="en-US" sz="1600" b="1"/>
              <a:t> </a:t>
            </a:r>
            <a:r>
              <a:rPr lang="en-US" sz="1600" b="1" err="1"/>
              <a:t>sistem</a:t>
            </a:r>
            <a:r>
              <a:rPr lang="en-US" sz="1600" b="1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b="1" err="1"/>
              <a:t>dispensasi</a:t>
            </a:r>
            <a:r>
              <a:rPr lang="en-US" sz="1600" b="1"/>
              <a:t> </a:t>
            </a:r>
            <a:r>
              <a:rPr lang="en-US" sz="1600" b="1" err="1"/>
              <a:t>absensi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disetujui</a:t>
            </a:r>
            <a:r>
              <a:rPr lang="en-US" sz="1600" b="1"/>
              <a:t> </a:t>
            </a:r>
            <a:r>
              <a:rPr lang="en-US" sz="1600"/>
              <a:t>oleh Lecturer Services Center (LSC).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2952751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213E-1A63-5734-1AB3-F8735335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1846-B2F6-E319-C9BF-9F148F525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 </a:t>
            </a:r>
            <a:r>
              <a:rPr lang="en-US" sz="1600" err="1"/>
              <a:t>mahasiswa</a:t>
            </a:r>
            <a:r>
              <a:rPr lang="en-US" sz="1600"/>
              <a:t> </a:t>
            </a:r>
            <a:r>
              <a:rPr lang="en-US" sz="1600" err="1"/>
              <a:t>mengerjakan</a:t>
            </a:r>
            <a:r>
              <a:rPr lang="en-US" sz="1600"/>
              <a:t> UAP </a:t>
            </a:r>
            <a:r>
              <a:rPr lang="en-US" sz="1600" err="1"/>
              <a:t>dengan</a:t>
            </a:r>
            <a:r>
              <a:rPr lang="en-US" sz="1600"/>
              <a:t> </a:t>
            </a:r>
            <a:r>
              <a:rPr lang="en-US" sz="1600" b="1" err="1"/>
              <a:t>versi</a:t>
            </a:r>
            <a:r>
              <a:rPr lang="en-US" sz="1600" b="1"/>
              <a:t> </a:t>
            </a:r>
            <a:r>
              <a:rPr lang="en-US" sz="1600" b="1" i="1"/>
              <a:t>software</a:t>
            </a:r>
            <a:r>
              <a:rPr lang="en-US" sz="1600" b="1"/>
              <a:t> yang </a:t>
            </a:r>
            <a:r>
              <a:rPr lang="en-US" sz="1600" b="1" err="1"/>
              <a:t>berbeda</a:t>
            </a:r>
            <a:r>
              <a:rPr lang="en-US" sz="1600" b="1"/>
              <a:t>, </a:t>
            </a:r>
            <a:r>
              <a:rPr lang="en-US" sz="1600"/>
              <a:t>UAP </a:t>
            </a:r>
            <a:r>
              <a:rPr lang="en-US" sz="1600" err="1"/>
              <a:t>akan</a:t>
            </a:r>
            <a:r>
              <a:rPr lang="en-US" sz="1600"/>
              <a:t> </a:t>
            </a:r>
            <a:r>
              <a:rPr lang="en-US" sz="1600" b="1" err="1"/>
              <a:t>tetap</a:t>
            </a:r>
            <a:r>
              <a:rPr lang="en-US" sz="1600" b="1"/>
              <a:t> </a:t>
            </a:r>
            <a:r>
              <a:rPr lang="en-US" sz="1600" b="1" err="1"/>
              <a:t>dikoreksi</a:t>
            </a:r>
            <a:r>
              <a:rPr lang="en-US" sz="1600" b="1"/>
              <a:t> </a:t>
            </a:r>
            <a:r>
              <a:rPr lang="en-US" sz="1600" err="1"/>
              <a:t>dengan</a:t>
            </a:r>
            <a:r>
              <a:rPr lang="en-US" sz="1600"/>
              <a:t> </a:t>
            </a:r>
            <a:r>
              <a:rPr lang="en-US" sz="1600" err="1"/>
              <a:t>menggunakan</a:t>
            </a:r>
            <a:r>
              <a:rPr lang="en-US" sz="1600"/>
              <a:t> </a:t>
            </a:r>
            <a:r>
              <a:rPr lang="en-US" sz="1600" i="1"/>
              <a:t>software</a:t>
            </a:r>
            <a:r>
              <a:rPr lang="en-US" sz="1600"/>
              <a:t> dan </a:t>
            </a:r>
            <a:r>
              <a:rPr lang="en-US" sz="1600" err="1"/>
              <a:t>versi</a:t>
            </a:r>
            <a:r>
              <a:rPr lang="en-US" sz="1600"/>
              <a:t> yang </a:t>
            </a:r>
            <a:r>
              <a:rPr lang="en-US" sz="1600" err="1"/>
              <a:t>telah</a:t>
            </a:r>
            <a:r>
              <a:rPr lang="en-US" sz="1600"/>
              <a:t> </a:t>
            </a:r>
            <a:r>
              <a:rPr lang="en-US" sz="1600" err="1"/>
              <a:t>ditetapkan</a:t>
            </a:r>
            <a:r>
              <a:rPr lang="en-US" sz="1600"/>
              <a:t> pada Academic Book </a:t>
            </a:r>
            <a:r>
              <a:rPr lang="en-US" sz="1600" err="1"/>
              <a:t>Praktikum</a:t>
            </a:r>
            <a:r>
              <a:rPr lang="en-US" sz="1600"/>
              <a:t>. Hilangnya 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 </a:t>
            </a:r>
            <a:r>
              <a:rPr lang="en-US" sz="1600" err="1"/>
              <a:t>sebagian</a:t>
            </a:r>
            <a:r>
              <a:rPr lang="en-US" sz="1600"/>
              <a:t> </a:t>
            </a:r>
            <a:r>
              <a:rPr lang="en-US" sz="1600" err="1"/>
              <a:t>atau</a:t>
            </a:r>
            <a:r>
              <a:rPr lang="en-US" sz="1600"/>
              <a:t> </a:t>
            </a:r>
            <a:r>
              <a:rPr lang="en-US" sz="1600" err="1"/>
              <a:t>seluruh</a:t>
            </a:r>
            <a:r>
              <a:rPr lang="en-US" sz="1600"/>
              <a:t> </a:t>
            </a:r>
            <a:r>
              <a:rPr lang="en-US" sz="1600" err="1"/>
              <a:t>fitur</a:t>
            </a:r>
            <a:r>
              <a:rPr lang="en-US" sz="1600"/>
              <a:t> </a:t>
            </a:r>
            <a:r>
              <a:rPr lang="en-US" sz="1600" err="1"/>
              <a:t>tidak</a:t>
            </a:r>
            <a:r>
              <a:rPr lang="en-US" sz="1600"/>
              <a:t> </a:t>
            </a:r>
            <a:r>
              <a:rPr lang="en-US" sz="1600" err="1"/>
              <a:t>berfungsi</a:t>
            </a:r>
            <a:r>
              <a:rPr lang="en-US" sz="1600"/>
              <a:t> </a:t>
            </a:r>
            <a:r>
              <a:rPr lang="en-US" sz="1600" err="1"/>
              <a:t>akibat</a:t>
            </a:r>
            <a:r>
              <a:rPr lang="en-US" sz="1600"/>
              <a:t> </a:t>
            </a:r>
            <a:r>
              <a:rPr lang="en-US" sz="1600" err="1"/>
              <a:t>dikerjakan</a:t>
            </a:r>
            <a:r>
              <a:rPr lang="en-US" sz="1600"/>
              <a:t> </a:t>
            </a:r>
            <a:r>
              <a:rPr lang="en-US" sz="1600" err="1"/>
              <a:t>dengan</a:t>
            </a:r>
            <a:r>
              <a:rPr lang="en-US" sz="1600" i="1" err="1"/>
              <a:t>software</a:t>
            </a:r>
            <a:r>
              <a:rPr lang="en-US" sz="1600"/>
              <a:t> dan </a:t>
            </a:r>
            <a:r>
              <a:rPr lang="en-US" sz="1600" err="1"/>
              <a:t>versi</a:t>
            </a:r>
            <a:r>
              <a:rPr lang="en-US" sz="1600"/>
              <a:t> </a:t>
            </a:r>
            <a:r>
              <a:rPr lang="en-US" sz="1600" i="1"/>
              <a:t>software</a:t>
            </a:r>
            <a:r>
              <a:rPr lang="en-US" sz="1600"/>
              <a:t> yang </a:t>
            </a:r>
            <a:r>
              <a:rPr lang="en-US" sz="1600" err="1"/>
              <a:t>berbeda</a:t>
            </a:r>
            <a:r>
              <a:rPr lang="en-US" sz="1600"/>
              <a:t> </a:t>
            </a:r>
            <a:r>
              <a:rPr lang="en-US" sz="1600" err="1"/>
              <a:t>adalah</a:t>
            </a:r>
            <a:r>
              <a:rPr lang="en-US" sz="1600"/>
              <a:t> </a:t>
            </a:r>
            <a:r>
              <a:rPr lang="en-US" sz="1600" b="1" err="1"/>
              <a:t>tanggung</a:t>
            </a:r>
            <a:r>
              <a:rPr lang="en-US" sz="1600" b="1"/>
              <a:t> </a:t>
            </a:r>
            <a:r>
              <a:rPr lang="en-US" sz="1600" b="1" err="1"/>
              <a:t>jawab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/>
              <a:t>. 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ID" sz="1800">
              <a:latin typeface="Arial"/>
              <a:ea typeface="Open Sans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F59CB-889C-6703-2536-A953A004F71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3121963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3477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UAP  di </a:t>
            </a:r>
            <a:r>
              <a:rPr lang="en-US" sz="1600" err="1"/>
              <a:t>ruang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/>
              <a:t> </a:t>
            </a:r>
            <a:r>
              <a:rPr lang="en-US" sz="1600" err="1"/>
              <a:t>menyimpan</a:t>
            </a:r>
            <a:r>
              <a:rPr lang="en-US" sz="1600"/>
              <a:t> file </a:t>
            </a:r>
            <a:r>
              <a:rPr lang="en-US" sz="1600" err="1"/>
              <a:t>jawaban</a:t>
            </a:r>
            <a:r>
              <a:rPr lang="en-US" sz="1600"/>
              <a:t> UAP </a:t>
            </a:r>
            <a:r>
              <a:rPr lang="en-US" sz="1600" err="1"/>
              <a:t>ataupun</a:t>
            </a:r>
            <a:r>
              <a:rPr lang="en-US" sz="1600"/>
              <a:t> </a:t>
            </a:r>
            <a:r>
              <a:rPr lang="en-US" sz="1600" i="1"/>
              <a:t>file backup </a:t>
            </a:r>
            <a:r>
              <a:rPr lang="en-US" sz="1600" err="1"/>
              <a:t>jawaban</a:t>
            </a:r>
            <a:r>
              <a:rPr lang="en-US" sz="1600"/>
              <a:t> UAP pada </a:t>
            </a:r>
            <a:r>
              <a:rPr lang="en-US" sz="1600" b="1" err="1"/>
              <a:t>direktori</a:t>
            </a:r>
            <a:r>
              <a:rPr lang="en-US" sz="1600"/>
              <a:t> </a:t>
            </a:r>
            <a:r>
              <a:rPr lang="en-US" sz="1600" b="1"/>
              <a:t>yang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ditetapkan</a:t>
            </a:r>
            <a:r>
              <a:rPr lang="en-US" sz="1600"/>
              <a:t>. </a:t>
            </a:r>
            <a:r>
              <a:rPr lang="en-US" sz="1600" err="1"/>
              <a:t>Kehilangan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terjadi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penyimpanan</a:t>
            </a:r>
            <a:r>
              <a:rPr lang="en-US" sz="1600"/>
              <a:t>,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proses </a:t>
            </a:r>
            <a:r>
              <a:rPr lang="en-US" sz="1600" err="1"/>
              <a:t>penyimpanan</a:t>
            </a:r>
            <a:r>
              <a:rPr lang="en-US" sz="1600"/>
              <a:t>, </a:t>
            </a:r>
            <a:r>
              <a:rPr lang="en-US" sz="1600" err="1"/>
              <a:t>ataupun</a:t>
            </a:r>
            <a:r>
              <a:rPr lang="en-US" sz="1600"/>
              <a:t>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lokasi</a:t>
            </a:r>
            <a:r>
              <a:rPr lang="en-US" sz="1600"/>
              <a:t> </a:t>
            </a:r>
            <a:r>
              <a:rPr lang="en-US" sz="1600" err="1"/>
              <a:t>penyimpanan</a:t>
            </a:r>
            <a:r>
              <a:rPr lang="en-US" sz="1600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tanggung</a:t>
            </a:r>
            <a:r>
              <a:rPr lang="en-US" sz="1600" b="1"/>
              <a:t> </a:t>
            </a:r>
            <a:r>
              <a:rPr lang="en-US" sz="1600" b="1" err="1"/>
              <a:t>jawab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sepenuhnya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Terdapat</a:t>
            </a:r>
            <a:r>
              <a:rPr lang="en-US" sz="1600">
                <a:ea typeface="Open Sans"/>
                <a:cs typeface="Open Sans"/>
              </a:rPr>
              <a:t> batas </a:t>
            </a:r>
            <a:r>
              <a:rPr lang="en-US" sz="1600" b="1" err="1">
                <a:ea typeface="Open Sans"/>
                <a:cs typeface="Open Sans"/>
              </a:rPr>
              <a:t>maksimum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ukuran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keseluruhan</a:t>
            </a:r>
            <a:r>
              <a:rPr lang="en-US" sz="1600" b="1">
                <a:ea typeface="Open Sans"/>
                <a:cs typeface="Open Sans"/>
              </a:rPr>
              <a:t> file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UAP </a:t>
            </a:r>
            <a:r>
              <a:rPr lang="en-US" sz="1600">
                <a:ea typeface="Open Sans"/>
                <a:cs typeface="Open Sans"/>
              </a:rPr>
              <a:t>(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di-compress</a:t>
            </a:r>
            <a:r>
              <a:rPr lang="en-US" sz="1600">
                <a:ea typeface="Open Sans"/>
                <a:cs typeface="Open Sans"/>
              </a:rPr>
              <a:t>)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tercantum</a:t>
            </a:r>
            <a:r>
              <a:rPr lang="en-US" sz="160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Buku</a:t>
            </a:r>
            <a:r>
              <a:rPr lang="en-US" sz="1600">
                <a:ea typeface="Open Sans"/>
                <a:cs typeface="Open Sans"/>
              </a:rPr>
              <a:t> Panduan Akademik Software Laboratory Center dan Laboratory Center </a:t>
            </a:r>
            <a:r>
              <a:rPr lang="en-US" sz="1600" err="1">
                <a:ea typeface="Open Sans"/>
                <a:cs typeface="Open Sans"/>
              </a:rPr>
              <a:t>bagian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Praktikum</a:t>
            </a:r>
            <a:r>
              <a:rPr lang="en-US" sz="1600">
                <a:ea typeface="Open Sans"/>
                <a:cs typeface="Open Sans"/>
              </a:rPr>
              <a:t> (Academic Book). Jika </a:t>
            </a:r>
            <a:r>
              <a:rPr lang="en-US" sz="1600" b="1" err="1">
                <a:ea typeface="Open Sans"/>
                <a:cs typeface="Open Sans"/>
              </a:rPr>
              <a:t>ukuran</a:t>
            </a:r>
            <a:r>
              <a:rPr lang="en-US" sz="1600" b="1">
                <a:ea typeface="Open Sans"/>
                <a:cs typeface="Open Sans"/>
              </a:rPr>
              <a:t> file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lebih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dari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 (</a:t>
            </a:r>
            <a:r>
              <a:rPr lang="en-US" sz="1600" err="1">
                <a:ea typeface="Open Sans"/>
                <a:cs typeface="Open Sans"/>
              </a:rPr>
              <a:t>sebelum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dikompres</a:t>
            </a:r>
            <a:r>
              <a:rPr lang="en-US" sz="1600">
                <a:ea typeface="Open Sans"/>
                <a:cs typeface="Open Sans"/>
              </a:rPr>
              <a:t>), 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dipotong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didapat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417CAEE-4586-13B7-0269-030ACF8B9169}"/>
              </a:ext>
            </a:extLst>
          </p:cNvPr>
          <p:cNvSpPr/>
          <p:nvPr/>
        </p:nvSpPr>
        <p:spPr>
          <a:xfrm>
            <a:off x="1480458" y="3816052"/>
            <a:ext cx="2024743" cy="6688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  <p:pic>
        <p:nvPicPr>
          <p:cNvPr id="1026" name="Picture 2" descr="Folder PNG Transparent Images Free Download | Vector Files | Pngtree">
            <a:extLst>
              <a:ext uri="{FF2B5EF4-FFF2-40B4-BE49-F238E27FC236}">
                <a16:creationId xmlns:a16="http://schemas.microsoft.com/office/drawing/2014/main" id="{00793F70-B3DE-5231-CE38-E07438677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3" t="15714" r="9762" b="17857"/>
          <a:stretch/>
        </p:blipFill>
        <p:spPr bwMode="auto">
          <a:xfrm>
            <a:off x="1621973" y="3922568"/>
            <a:ext cx="563170" cy="44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A9F81D-A1B2-5C9B-7BF6-99FFB4D743CC}"/>
              </a:ext>
            </a:extLst>
          </p:cNvPr>
          <p:cNvSpPr txBox="1">
            <a:spLocks/>
          </p:cNvSpPr>
          <p:nvPr/>
        </p:nvSpPr>
        <p:spPr>
          <a:xfrm>
            <a:off x="2185142" y="3944340"/>
            <a:ext cx="1211201" cy="442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Drive D:/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9279A1F-1866-1818-29E1-8D56380025AC}"/>
              </a:ext>
            </a:extLst>
          </p:cNvPr>
          <p:cNvSpPr/>
          <p:nvPr/>
        </p:nvSpPr>
        <p:spPr>
          <a:xfrm>
            <a:off x="3786786" y="3816052"/>
            <a:ext cx="1362158" cy="6688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Folder PNG Transparent Images Free Download | Vector Files | Pngtree">
            <a:extLst>
              <a:ext uri="{FF2B5EF4-FFF2-40B4-BE49-F238E27FC236}">
                <a16:creationId xmlns:a16="http://schemas.microsoft.com/office/drawing/2014/main" id="{74830439-4998-CC37-5A32-930AF409B6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3" t="15714" r="9762" b="17857"/>
          <a:stretch/>
        </p:blipFill>
        <p:spPr bwMode="auto">
          <a:xfrm>
            <a:off x="3928300" y="3922568"/>
            <a:ext cx="563170" cy="44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CCCB6D-97AD-B02C-9071-4A852DF7FD29}"/>
              </a:ext>
            </a:extLst>
          </p:cNvPr>
          <p:cNvSpPr txBox="1">
            <a:spLocks/>
          </p:cNvSpPr>
          <p:nvPr/>
        </p:nvSpPr>
        <p:spPr>
          <a:xfrm>
            <a:off x="4491469" y="3944340"/>
            <a:ext cx="1211201" cy="442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FTP</a:t>
            </a:r>
          </a:p>
        </p:txBody>
      </p:sp>
    </p:spTree>
    <p:extLst>
      <p:ext uri="{BB962C8B-B14F-4D97-AF65-F5344CB8AC3E}">
        <p14:creationId xmlns:p14="http://schemas.microsoft.com/office/powerpoint/2010/main" val="4066373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8856-DB6C-49D2-1553-0E0170665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6E128-CCDA-CDBE-3F26-03182DEBD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Nilai </a:t>
            </a:r>
            <a:r>
              <a:rPr lang="en-US" sz="1600" b="1" err="1">
                <a:ea typeface="Open Sans"/>
                <a:cs typeface="Open Sans"/>
              </a:rPr>
              <a:t>dinolkan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:</a:t>
            </a:r>
            <a:endParaRPr lang="en-US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Tidak </a:t>
            </a:r>
            <a:r>
              <a:rPr lang="en-US" sz="1400" err="1">
                <a:ea typeface="Open Sans"/>
                <a:cs typeface="Open Sans"/>
              </a:rPr>
              <a:t>hadir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saat</a:t>
            </a:r>
            <a:r>
              <a:rPr lang="en-US" sz="1400">
                <a:ea typeface="Open Sans"/>
                <a:cs typeface="Open Sans"/>
              </a:rPr>
              <a:t> UAP yang </a:t>
            </a:r>
            <a:r>
              <a:rPr lang="en-US" sz="1400" err="1">
                <a:ea typeface="Open Sans"/>
                <a:cs typeface="Open Sans"/>
              </a:rPr>
              <a:t>dilakukan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secara</a:t>
            </a:r>
            <a:r>
              <a:rPr lang="en-US" sz="1400">
                <a:ea typeface="Open Sans"/>
                <a:cs typeface="Open Sans"/>
              </a:rPr>
              <a:t> onsite.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Membawa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melakukan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tindakan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sontek-menyontek</a:t>
            </a:r>
            <a:r>
              <a:rPr lang="en-US" sz="1400">
                <a:ea typeface="Open Sans"/>
                <a:cs typeface="Open Sans"/>
              </a:rPr>
              <a:t>.</a:t>
            </a:r>
            <a:endParaRPr lang="en-US"/>
          </a:p>
          <a:p>
            <a:pPr lvl="1" algn="just">
              <a:lnSpc>
                <a:spcPct val="150000"/>
              </a:lnSpc>
            </a:pPr>
            <a:r>
              <a:rPr lang="en-US" sz="1400" b="1" err="1">
                <a:ea typeface="Open Sans"/>
                <a:cs typeface="Open Sans"/>
              </a:rPr>
              <a:t>Bekerja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sama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kelompok</a:t>
            </a:r>
            <a:r>
              <a:rPr lang="en-US" sz="1400">
                <a:ea typeface="Open Sans"/>
                <a:cs typeface="Open Sans"/>
              </a:rPr>
              <a:t> lain.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Barang yang </a:t>
            </a:r>
            <a:r>
              <a:rPr lang="en-US" sz="1400" err="1">
                <a:ea typeface="Open Sans"/>
                <a:cs typeface="Open Sans"/>
              </a:rPr>
              <a:t>dibawa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 (</a:t>
            </a:r>
            <a:r>
              <a:rPr lang="en-US" sz="1400" err="1">
                <a:ea typeface="Open Sans"/>
                <a:cs typeface="Open Sans"/>
              </a:rPr>
              <a:t>buku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i="1">
                <a:ea typeface="Open Sans"/>
                <a:cs typeface="Open Sans"/>
              </a:rPr>
              <a:t>portable disk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alat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komunikasi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elektronik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dsb</a:t>
            </a:r>
            <a:r>
              <a:rPr lang="en-US" sz="1400">
                <a:ea typeface="Open Sans"/>
                <a:cs typeface="Open Sans"/>
              </a:rPr>
              <a:t>.) </a:t>
            </a:r>
            <a:r>
              <a:rPr lang="en-US" sz="1400" err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disimpan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ke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tempat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penyimpanan</a:t>
            </a:r>
            <a:r>
              <a:rPr lang="en-US" sz="1400" b="1">
                <a:ea typeface="Open Sans"/>
                <a:cs typeface="Open Sans"/>
              </a:rPr>
              <a:t> yang </a:t>
            </a:r>
            <a:r>
              <a:rPr lang="en-US" sz="1400" b="1" err="1">
                <a:ea typeface="Open Sans"/>
                <a:cs typeface="Open Sans"/>
              </a:rPr>
              <a:t>sudah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disediakan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diletakkan</a:t>
            </a:r>
            <a:r>
              <a:rPr lang="en-US" sz="1400">
                <a:ea typeface="Open Sans"/>
                <a:cs typeface="Open Sans"/>
              </a:rPr>
              <a:t> di podium 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ujian</a:t>
            </a:r>
            <a:r>
              <a:rPr lang="en-US" sz="1400">
                <a:ea typeface="Open Sans"/>
                <a:cs typeface="Open Sans"/>
              </a:rPr>
              <a:t>  yang 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 di 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Meng</a:t>
            </a:r>
            <a:r>
              <a:rPr lang="en-US" sz="1400" i="1" err="1">
                <a:ea typeface="Open Sans"/>
                <a:cs typeface="Open Sans"/>
              </a:rPr>
              <a:t>copy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membawa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soal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jawaban</a:t>
            </a:r>
            <a:r>
              <a:rPr lang="en-US" sz="1400" b="1">
                <a:ea typeface="Open Sans"/>
                <a:cs typeface="Open Sans"/>
              </a:rPr>
              <a:t> UAP </a:t>
            </a:r>
            <a:r>
              <a:rPr lang="en-US" sz="1400" b="1" err="1">
                <a:ea typeface="Open Sans"/>
                <a:cs typeface="Open Sans"/>
              </a:rPr>
              <a:t>keluar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ruang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ujian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bentuk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apapun</a:t>
            </a:r>
            <a:r>
              <a:rPr lang="en-US" sz="1400">
                <a:ea typeface="Open Sans"/>
                <a:cs typeface="Open Sans"/>
              </a:rPr>
              <a:t> 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ujian</a:t>
            </a:r>
            <a:r>
              <a:rPr lang="en-US" sz="1400">
                <a:ea typeface="Open Sans"/>
                <a:cs typeface="Open Sans"/>
              </a:rPr>
              <a:t> yang 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 di 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Mengumpulkan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UAP </a:t>
            </a:r>
            <a:r>
              <a:rPr lang="en-US" sz="1400" b="1" err="1">
                <a:ea typeface="Open Sans"/>
                <a:cs typeface="Open Sans"/>
              </a:rPr>
              <a:t>setelah</a:t>
            </a:r>
            <a:r>
              <a:rPr lang="en-US" sz="1400" b="1">
                <a:ea typeface="Open Sans"/>
                <a:cs typeface="Open Sans"/>
              </a:rPr>
              <a:t> batas </a:t>
            </a:r>
            <a:r>
              <a:rPr lang="en-US" sz="1400" b="1" err="1">
                <a:ea typeface="Open Sans"/>
                <a:cs typeface="Open Sans"/>
              </a:rPr>
              <a:t>waktu</a:t>
            </a:r>
            <a:r>
              <a:rPr lang="en-US" sz="1400" b="1">
                <a:ea typeface="Open Sans"/>
                <a:cs typeface="Open Sans"/>
              </a:rPr>
              <a:t> yang </a:t>
            </a:r>
            <a:r>
              <a:rPr lang="en-US" sz="1400" b="1" err="1">
                <a:ea typeface="Open Sans"/>
                <a:cs typeface="Open Sans"/>
              </a:rPr>
              <a:t>ditentukan</a:t>
            </a:r>
            <a:r>
              <a:rPr lang="en-US" sz="1400">
                <a:ea typeface="Open Sans"/>
                <a:cs typeface="Open Sans"/>
              </a:rPr>
              <a:t>. </a:t>
            </a:r>
          </a:p>
          <a:p>
            <a:pPr lvl="1" algn="just">
              <a:lnSpc>
                <a:spcPct val="150000"/>
              </a:lnSpc>
            </a:pPr>
            <a:r>
              <a:rPr lang="en-US" sz="1400" b="1">
                <a:ea typeface="Open Sans"/>
                <a:cs typeface="Open Sans"/>
              </a:rPr>
              <a:t>Tidak </a:t>
            </a:r>
            <a:r>
              <a:rPr lang="en-US" sz="1400" b="1" err="1">
                <a:ea typeface="Open Sans"/>
                <a:cs typeface="Open Sans"/>
              </a:rPr>
              <a:t>mengirimkan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mengumpulkan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UAP.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Mendapat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teguran</a:t>
            </a:r>
            <a:r>
              <a:rPr lang="en-US" sz="1400" b="1">
                <a:ea typeface="Open Sans"/>
                <a:cs typeface="Open Sans"/>
              </a:rPr>
              <a:t> 3 (</a:t>
            </a:r>
            <a:r>
              <a:rPr lang="en-US" sz="1400" b="1" err="1">
                <a:ea typeface="Open Sans"/>
                <a:cs typeface="Open Sans"/>
              </a:rPr>
              <a:t>tiga</a:t>
            </a:r>
            <a:r>
              <a:rPr lang="en-US" sz="1400" b="1">
                <a:ea typeface="Open Sans"/>
                <a:cs typeface="Open Sans"/>
              </a:rPr>
              <a:t>) kali </a:t>
            </a:r>
            <a:r>
              <a:rPr lang="en-US" sz="1400">
                <a:ea typeface="Open Sans"/>
                <a:cs typeface="Open Sans"/>
              </a:rPr>
              <a:t>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ujian</a:t>
            </a:r>
            <a:r>
              <a:rPr lang="en-US" sz="1400">
                <a:ea typeface="Open Sans"/>
                <a:cs typeface="Open Sans"/>
              </a:rPr>
              <a:t> yang 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 di 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83910-A988-E3AF-5B6A-7EC7130CD474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1710583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b="1" err="1"/>
              <a:t>dinolkan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(cont.):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Ditemukan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adanya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kesamaan</a:t>
            </a:r>
            <a:r>
              <a:rPr lang="en-US" sz="1400" b="1">
                <a:ea typeface="Open Sans"/>
                <a:cs typeface="Open Sans"/>
              </a:rPr>
              <a:t> pada </a:t>
            </a:r>
            <a:r>
              <a:rPr lang="en-US" sz="1400" b="1" err="1">
                <a:ea typeface="Open Sans"/>
                <a:cs typeface="Open Sans"/>
              </a:rPr>
              <a:t>jawaban</a:t>
            </a:r>
            <a:r>
              <a:rPr lang="en-US" sz="1400" b="1">
                <a:ea typeface="Open Sans"/>
                <a:cs typeface="Open Sans"/>
              </a:rPr>
              <a:t> UAP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mahasiswa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kelompok</a:t>
            </a:r>
            <a:r>
              <a:rPr lang="en-US" sz="1400" b="1">
                <a:ea typeface="Open Sans"/>
                <a:cs typeface="Open Sans"/>
              </a:rPr>
              <a:t> lain </a:t>
            </a:r>
            <a:r>
              <a:rPr lang="en-US" sz="1400" err="1">
                <a:ea typeface="Open Sans"/>
                <a:cs typeface="Open Sans"/>
              </a:rPr>
              <a:t>saat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diperiksa</a:t>
            </a:r>
            <a:r>
              <a:rPr lang="en-US" sz="1400">
                <a:ea typeface="Open Sans"/>
                <a:cs typeface="Open Sans"/>
              </a:rPr>
              <a:t> oleh </a:t>
            </a:r>
            <a:r>
              <a:rPr lang="en-US" sz="1400" err="1">
                <a:ea typeface="Open Sans"/>
                <a:cs typeface="Open Sans"/>
              </a:rPr>
              <a:t>korektor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 UAP yang </a:t>
            </a:r>
            <a:r>
              <a:rPr lang="en-US" sz="1400" err="1">
                <a:ea typeface="Open Sans"/>
                <a:cs typeface="Open Sans"/>
              </a:rPr>
              <a:t>dikumpulkan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tidak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sesuai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berbeda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tema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soal</a:t>
            </a:r>
            <a:r>
              <a:rPr lang="en-US" sz="1400">
                <a:ea typeface="Open Sans"/>
                <a:cs typeface="Open Sans"/>
              </a:rPr>
              <a:t> UAP  yang </a:t>
            </a:r>
            <a:r>
              <a:rPr lang="en-US" sz="1400" err="1">
                <a:ea typeface="Open Sans"/>
                <a:cs typeface="Open Sans"/>
              </a:rPr>
              <a:t>ditentukan</a:t>
            </a:r>
            <a:r>
              <a:rPr lang="en-US" sz="1400">
                <a:ea typeface="Open Sans"/>
                <a:cs typeface="Open Sans"/>
              </a:rPr>
              <a:t>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</p:spTree>
    <p:extLst>
      <p:ext uri="{BB962C8B-B14F-4D97-AF65-F5344CB8AC3E}">
        <p14:creationId xmlns:p14="http://schemas.microsoft.com/office/powerpoint/2010/main" val="4183188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 (Cont.)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74BDB43-B808-D96F-63E1-9F33A2A0A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681139"/>
              </p:ext>
            </p:extLst>
          </p:nvPr>
        </p:nvGraphicFramePr>
        <p:xfrm>
          <a:off x="1066800" y="1676400"/>
          <a:ext cx="7620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752">
                  <a:extLst>
                    <a:ext uri="{9D8B030D-6E8A-4147-A177-3AD203B41FA5}">
                      <a16:colId xmlns:a16="http://schemas.microsoft.com/office/drawing/2014/main" val="1938559949"/>
                    </a:ext>
                  </a:extLst>
                </a:gridCol>
                <a:gridCol w="4184248">
                  <a:extLst>
                    <a:ext uri="{9D8B030D-6E8A-4147-A177-3AD203B41FA5}">
                      <a16:colId xmlns:a16="http://schemas.microsoft.com/office/drawing/2014/main" val="1119436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Sanksi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Pengurangan</a:t>
                      </a:r>
                      <a:r>
                        <a:rPr lang="en-US"/>
                        <a:t> Nilai (</a:t>
                      </a:r>
                      <a:r>
                        <a:rPr lang="en-US" err="1"/>
                        <a:t>terakumulasi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3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Pertama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3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Kedua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20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31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Ketiga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831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9BA10C-3A3B-B075-02D8-FB30E2684C75}"/>
              </a:ext>
            </a:extLst>
          </p:cNvPr>
          <p:cNvSpPr txBox="1">
            <a:spLocks/>
          </p:cNvSpPr>
          <p:nvPr/>
        </p:nvSpPr>
        <p:spPr>
          <a:xfrm>
            <a:off x="1054099" y="3237186"/>
            <a:ext cx="7696201" cy="3316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Contoh</a:t>
            </a:r>
            <a:r>
              <a:rPr lang="en-US" sz="160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dua</a:t>
            </a:r>
            <a:r>
              <a:rPr lang="en-US" sz="1600"/>
              <a:t> kali </a:t>
            </a:r>
            <a:r>
              <a:rPr lang="en-US" sz="1600" err="1"/>
              <a:t>teguran</a:t>
            </a:r>
            <a:r>
              <a:rPr lang="en-US" sz="1600"/>
              <a:t>,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seharusnya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100,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100 – 10 – 20 = 70.</a:t>
            </a: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15332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Penggunaan</a:t>
            </a:r>
            <a:r>
              <a:rPr lang="en-US"/>
              <a:t> Web Uploader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TM/UAP</a:t>
            </a:r>
          </a:p>
        </p:txBody>
      </p:sp>
    </p:spTree>
    <p:extLst>
      <p:ext uri="{BB962C8B-B14F-4D97-AF65-F5344CB8AC3E}">
        <p14:creationId xmlns:p14="http://schemas.microsoft.com/office/powerpoint/2010/main" val="3461280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Web Uploader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err="1"/>
              <a:t>lokal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lab.slc.net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global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laboratory.binus.ac.id</a:t>
            </a:r>
            <a:r>
              <a:rPr lang="en-US" sz="1600"/>
              <a:t>/lab.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Masukkan </a:t>
            </a:r>
            <a:r>
              <a:rPr lang="en-US" sz="1600" b="1"/>
              <a:t>student id (NIM) </a:t>
            </a:r>
            <a:r>
              <a:rPr lang="en-US" sz="1600"/>
              <a:t>dan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/>
              <a:t>pada form Sign In.</a:t>
            </a:r>
          </a:p>
          <a:p>
            <a:pPr algn="just">
              <a:lnSpc>
                <a:spcPct val="150000"/>
              </a:lnSpc>
            </a:pPr>
            <a:endParaRPr lang="en-US" sz="160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 In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F441612-E5F6-4D57-AA69-97560822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902" y="3006828"/>
            <a:ext cx="3116423" cy="31399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B933BB-B706-714C-D876-45393D559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744420"/>
              </p:ext>
            </p:extLst>
          </p:nvPr>
        </p:nvGraphicFramePr>
        <p:xfrm>
          <a:off x="4915582" y="4110396"/>
          <a:ext cx="3329783" cy="1173480"/>
        </p:xfrm>
        <a:graphic>
          <a:graphicData uri="http://schemas.openxmlformats.org/drawingml/2006/table">
            <a:tbl>
              <a:tblPr/>
              <a:tblGrid>
                <a:gridCol w="113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Student</a:t>
                      </a: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[NIM] </a:t>
                      </a:r>
                      <a:b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e.g. 1601212100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Password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[Password </a:t>
                      </a:r>
                      <a:r>
                        <a:rPr lang="en-US" sz="16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Binusmaya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49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i="1"/>
              <a:t>sign in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adanya</a:t>
            </a:r>
            <a:r>
              <a:rPr lang="en-US" sz="1600"/>
              <a:t> </a:t>
            </a:r>
            <a:r>
              <a:rPr lang="en-US" sz="1600" err="1"/>
              <a:t>transaksi</a:t>
            </a:r>
            <a:r>
              <a:rPr lang="en-US" sz="1600"/>
              <a:t> TM/UAP pada </a:t>
            </a:r>
            <a:r>
              <a:rPr lang="en-US" sz="1600" err="1"/>
              <a:t>pertemuan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Jika </a:t>
            </a:r>
            <a:r>
              <a:rPr lang="en-US" sz="1600" err="1"/>
              <a:t>ada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menampilkan</a:t>
            </a:r>
            <a:r>
              <a:rPr lang="en-US" sz="1600"/>
              <a:t> form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memenuhi</a:t>
            </a:r>
            <a:r>
              <a:rPr lang="en-US" sz="1600" b="1"/>
              <a:t> </a:t>
            </a:r>
            <a:r>
              <a:rPr lang="en-US" sz="1600" b="1" err="1"/>
              <a:t>persyaratan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TM/UAP. </a:t>
            </a:r>
            <a:r>
              <a:rPr lang="en-US" sz="1600" err="1"/>
              <a:t>Lakukan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TM/UAP (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Binusian</a:t>
            </a:r>
            <a:r>
              <a:rPr lang="en-US" sz="1600"/>
              <a:t> Card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UAP).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Konfirmasi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Persyaratan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198739-B8EC-155A-9E15-31D918601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86" t="32639" r="21478" b="29747"/>
          <a:stretch/>
        </p:blipFill>
        <p:spPr>
          <a:xfrm>
            <a:off x="2427007" y="4086597"/>
            <a:ext cx="4922386" cy="2397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9166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UAP dan men-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terdata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i="1"/>
              <a:t>eligible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alasan</a:t>
            </a:r>
            <a:r>
              <a:rPr lang="en-US" sz="1600"/>
              <a:t> </a:t>
            </a:r>
            <a:r>
              <a:rPr lang="en-US" sz="1600" err="1"/>
              <a:t>berikut</a:t>
            </a:r>
            <a:r>
              <a:rPr lang="en-US" sz="1600"/>
              <a:t>:</a:t>
            </a:r>
          </a:p>
          <a:p>
            <a:pPr lvl="1" algn="just">
              <a:lnSpc>
                <a:spcPct val="160000"/>
              </a:lnSpc>
            </a:pPr>
            <a:r>
              <a:rPr lang="en-US" sz="1400"/>
              <a:t>Attendance</a:t>
            </a:r>
          </a:p>
          <a:p>
            <a:pPr lvl="1" algn="just">
              <a:lnSpc>
                <a:spcPct val="160000"/>
              </a:lnSpc>
            </a:pPr>
            <a:r>
              <a:rPr lang="en-US" sz="1400"/>
              <a:t>SKHUN</a:t>
            </a:r>
          </a:p>
          <a:p>
            <a:pPr lvl="1" algn="just">
              <a:lnSpc>
                <a:spcPct val="160000"/>
              </a:lnSpc>
            </a:pPr>
            <a:r>
              <a:rPr lang="en-US" sz="1400"/>
              <a:t>Finance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Persyaratan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43309-9B2B-08F4-532E-FA76AD209B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036" b="2455"/>
          <a:stretch/>
        </p:blipFill>
        <p:spPr>
          <a:xfrm>
            <a:off x="1164771" y="3710618"/>
            <a:ext cx="7027308" cy="13403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2943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, detail </a:t>
            </a:r>
            <a:r>
              <a:rPr lang="en-US" sz="1600" err="1"/>
              <a:t>transaksi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berjalan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pada Home, </a:t>
            </a:r>
            <a:r>
              <a:rPr lang="en-US" sz="1600" err="1"/>
              <a:t>antara</a:t>
            </a:r>
            <a:r>
              <a:rPr lang="en-US" sz="1600"/>
              <a:t> lain </a:t>
            </a:r>
            <a:r>
              <a:rPr lang="en-US" sz="1600" err="1"/>
              <a:t>kode</a:t>
            </a:r>
            <a:r>
              <a:rPr lang="en-US" sz="1600"/>
              <a:t> dan </a:t>
            </a:r>
            <a:r>
              <a:rPr lang="en-US" sz="1600" err="1"/>
              <a:t>nama</a:t>
            </a:r>
            <a:r>
              <a:rPr lang="en-US" sz="1600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ruangan</a:t>
            </a:r>
            <a:r>
              <a:rPr lang="en-US" sz="1600"/>
              <a:t>,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durasi</a:t>
            </a:r>
            <a:r>
              <a:rPr lang="en-US" sz="1600"/>
              <a:t> TM/UAP.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pengerjaan</a:t>
            </a:r>
            <a:r>
              <a:rPr lang="en-US" sz="1600" b="1"/>
              <a:t> TM/UAP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Home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9A61DA0-DF2B-9C82-1C62-4DCB79C1B7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9730" r="9000" b="44549"/>
          <a:stretch/>
        </p:blipFill>
        <p:spPr>
          <a:xfrm>
            <a:off x="1470659" y="3429000"/>
            <a:ext cx="6888480" cy="2637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6346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Di </a:t>
            </a:r>
            <a:r>
              <a:rPr lang="en-US" sz="1600" err="1"/>
              <a:t>bawah</a:t>
            </a:r>
            <a:r>
              <a:rPr lang="en-US" sz="1600"/>
              <a:t> detail </a:t>
            </a:r>
            <a:r>
              <a:rPr lang="en-US" sz="1600" err="1"/>
              <a:t>transaksi</a:t>
            </a:r>
            <a:r>
              <a:rPr lang="en-US" sz="1600"/>
              <a:t> TM/UAP yang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detail </a:t>
            </a:r>
            <a:r>
              <a:rPr lang="en-US" sz="1600" i="1"/>
              <a:t>form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TM/UAP </a:t>
            </a:r>
            <a:r>
              <a:rPr lang="en-US" sz="1600" err="1"/>
              <a:t>transaksi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pada </a:t>
            </a:r>
            <a:r>
              <a:rPr lang="en-US" sz="1600" b="1" i="1"/>
              <a:t>hyperlink ‘here’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1)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23AE61-6A61-073E-E8DC-BAAB1A623DCF}"/>
              </a:ext>
            </a:extLst>
          </p:cNvPr>
          <p:cNvCxnSpPr>
            <a:cxnSpLocks/>
          </p:cNvCxnSpPr>
          <p:nvPr/>
        </p:nvCxnSpPr>
        <p:spPr>
          <a:xfrm flipV="1">
            <a:off x="3037840" y="3946892"/>
            <a:ext cx="1770938" cy="466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screenshot of a quiz&#10;&#10;AI-generated content may be incorrect.">
            <a:extLst>
              <a:ext uri="{FF2B5EF4-FFF2-40B4-BE49-F238E27FC236}">
                <a16:creationId xmlns:a16="http://schemas.microsoft.com/office/drawing/2014/main" id="{02114758-1FFC-B9B1-F81C-2BA0D89E8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568" y="3583971"/>
            <a:ext cx="4034218" cy="286618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D4A00E3-3DBA-A8C2-358F-08EFE11526AA}"/>
              </a:ext>
            </a:extLst>
          </p:cNvPr>
          <p:cNvGrpSpPr/>
          <p:nvPr/>
        </p:nvGrpSpPr>
        <p:grpSpPr>
          <a:xfrm>
            <a:off x="4808778" y="3429000"/>
            <a:ext cx="3459640" cy="1035783"/>
            <a:chOff x="4808778" y="3429000"/>
            <a:chExt cx="3459640" cy="103578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C09CE2-42BC-F0E9-8510-9412495479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202" t="21435"/>
            <a:stretch/>
          </p:blipFill>
          <p:spPr>
            <a:xfrm>
              <a:off x="4808778" y="3429000"/>
              <a:ext cx="3459640" cy="10357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002DFA-88C2-A83C-CA86-4FF29FCDC608}"/>
                </a:ext>
              </a:extLst>
            </p:cNvPr>
            <p:cNvSpPr/>
            <p:nvPr/>
          </p:nvSpPr>
          <p:spPr>
            <a:xfrm>
              <a:off x="7051040" y="3937000"/>
              <a:ext cx="57912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9749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, </a:t>
            </a:r>
            <a:r>
              <a:rPr lang="en-US" sz="1600" i="1"/>
              <a:t>extract (.zip) file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meng-</a:t>
            </a:r>
            <a:r>
              <a:rPr lang="en-US" sz="1600" i="1"/>
              <a:t>extract</a:t>
            </a:r>
            <a:r>
              <a:rPr lang="en-US" sz="1600"/>
              <a:t> </a:t>
            </a:r>
            <a:r>
              <a:rPr lang="en-US" sz="1600" err="1"/>
              <a:t>terlebih</a:t>
            </a:r>
            <a:r>
              <a:rPr lang="en-US" sz="1600"/>
              <a:t> </a:t>
            </a:r>
            <a:r>
              <a:rPr lang="en-US" sz="1600" err="1"/>
              <a:t>dahulu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simpan</a:t>
            </a:r>
            <a:r>
              <a:rPr lang="en-US" sz="1600"/>
              <a:t> di </a:t>
            </a:r>
            <a:r>
              <a:rPr lang="en-US" sz="1600" i="1"/>
              <a:t>local disk</a:t>
            </a:r>
            <a:r>
              <a:rPr lang="en-US" sz="1600"/>
              <a:t>. </a:t>
            </a:r>
            <a:r>
              <a:rPr lang="en-US" sz="1600" err="1"/>
              <a:t>Segala</a:t>
            </a:r>
            <a:r>
              <a:rPr lang="en-US" sz="1600"/>
              <a:t> </a:t>
            </a:r>
            <a:r>
              <a:rPr lang="en-US" sz="1600" err="1"/>
              <a:t>kehilangan</a:t>
            </a:r>
            <a:r>
              <a:rPr lang="en-US" sz="1600"/>
              <a:t> dan </a:t>
            </a:r>
            <a:r>
              <a:rPr lang="en-US" sz="1600" err="1"/>
              <a:t>kerusakan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i="1"/>
              <a:t>(.zip) file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tanggung</a:t>
            </a:r>
            <a:r>
              <a:rPr lang="en-US" sz="1600"/>
              <a:t> </a:t>
            </a:r>
            <a:r>
              <a:rPr lang="en-US" sz="1600" err="1"/>
              <a:t>jawab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Langkah-Langkah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extract file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Extract File”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2)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AF48FC-EF5B-168C-887E-6DFF007AF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02" b="36561"/>
          <a:stretch/>
        </p:blipFill>
        <p:spPr>
          <a:xfrm>
            <a:off x="2046125" y="4055890"/>
            <a:ext cx="5051749" cy="25088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0086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, </a:t>
            </a:r>
            <a:r>
              <a:rPr lang="en-US" sz="1600" err="1"/>
              <a:t>tutup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 dan </a:t>
            </a:r>
            <a:r>
              <a:rPr lang="en-US" sz="1600" i="1"/>
              <a:t>compress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.zip.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berekstensi</a:t>
            </a:r>
            <a:r>
              <a:rPr lang="en-US" sz="1600" b="1"/>
              <a:t> .zip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proses </a:t>
            </a:r>
            <a:r>
              <a:rPr lang="en-US" sz="1600" i="1"/>
              <a:t>compress</a:t>
            </a:r>
            <a:r>
              <a:rPr lang="en-US" sz="1600"/>
              <a:t>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i="1"/>
              <a:t>rename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</a:t>
            </a:r>
            <a:r>
              <a:rPr lang="en-US" sz="1600" err="1"/>
              <a:t>berakhiran</a:t>
            </a:r>
            <a:r>
              <a:rPr lang="en-US" sz="1600"/>
              <a:t> .zip </a:t>
            </a:r>
            <a:r>
              <a:rPr lang="en-US" sz="1600" b="1" err="1"/>
              <a:t>bukanlah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</a:t>
            </a:r>
            <a:r>
              <a:rPr lang="en-US" sz="1600" err="1"/>
              <a:t>langkah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 file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Compress Your Answer”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3)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8300DA-7CDD-A30E-9200-FCF8A9A4A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835" y="4135452"/>
            <a:ext cx="5307365" cy="2521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76939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i="1"/>
              <a:t>Upload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”Browse / Choose File”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di-</a:t>
            </a:r>
            <a:r>
              <a:rPr lang="en-US" sz="1600" i="1"/>
              <a:t>click </a:t>
            </a:r>
            <a:r>
              <a:rPr lang="en-US" sz="1600"/>
              <a:t>dan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dipilih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terkirim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i="1"/>
              <a:t>server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AC9090-F244-B573-6372-AC8C01A1D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608" y="3043279"/>
            <a:ext cx="6693800" cy="2359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0945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BD206-253C-83F7-0925-830E037C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5232-4CD1-709D-1DB2-1EAF0B4E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>
                <a:ea typeface="Open Sans"/>
                <a:cs typeface="Open Sans"/>
              </a:rPr>
              <a:t>Akan 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peringatan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 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melebihi</a:t>
            </a:r>
            <a:r>
              <a:rPr lang="en-US" sz="1600" b="1">
                <a:ea typeface="Open Sans"/>
                <a:cs typeface="Open Sans"/>
              </a:rPr>
              <a:t> batas yang </a:t>
            </a:r>
            <a:r>
              <a:rPr lang="en-US" sz="1600" b="1" err="1">
                <a:ea typeface="Open Sans"/>
                <a:cs typeface="Open Sans"/>
              </a:rPr>
              <a:t>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menghindari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pengurangan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sebesar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F61AE-AC9F-0533-A08F-BF723D0CCC0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2" name="Picture 1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486FA79A-8950-9005-CA11-286D31F30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10" y="3334592"/>
            <a:ext cx="4102747" cy="3152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8409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Status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sampai</a:t>
            </a:r>
            <a:r>
              <a:rPr lang="en-US" sz="1600"/>
              <a:t> </a:t>
            </a:r>
            <a:r>
              <a:rPr lang="en-US" sz="1600" err="1"/>
              <a:t>tahap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i="1"/>
              <a:t>Pending</a:t>
            </a:r>
            <a:r>
              <a:rPr lang="en-US" sz="1600"/>
              <a:t> dan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err="1"/>
              <a:t>opsi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: (1) 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ulang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(2) </a:t>
            </a:r>
            <a:r>
              <a:rPr lang="en-US" sz="1600" i="1"/>
              <a:t>download file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, </a:t>
            </a:r>
            <a:r>
              <a:rPr lang="en-US" sz="1600" err="1"/>
              <a:t>atau</a:t>
            </a:r>
            <a:r>
              <a:rPr lang="en-US" sz="1600"/>
              <a:t> (3)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i="1"/>
              <a:t>Finalize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meng-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di-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tertimpa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65A9F7-2227-7C9F-9B2A-94E6D2FD9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3424238"/>
            <a:ext cx="4257675" cy="3105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1548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Cek </a:t>
            </a:r>
            <a:r>
              <a:rPr lang="en-US" sz="1600" err="1"/>
              <a:t>kembali</a:t>
            </a:r>
            <a:r>
              <a:rPr lang="en-US" sz="1600"/>
              <a:t> detail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terkumpul</a:t>
            </a:r>
            <a:r>
              <a:rPr lang="en-US" sz="1600"/>
              <a:t> yang </a:t>
            </a:r>
            <a:r>
              <a:rPr lang="en-US" sz="1600" err="1"/>
              <a:t>ditampilkan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err="1"/>
              <a:t>kesesuaian</a:t>
            </a:r>
            <a:r>
              <a:rPr lang="en-US" sz="1600"/>
              <a:t> </a:t>
            </a:r>
            <a:r>
              <a:rPr lang="en-US" sz="1600" err="1"/>
              <a:t>nama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, </a:t>
            </a:r>
            <a:r>
              <a:rPr lang="en-US" sz="1600" i="1"/>
              <a:t>upload date</a:t>
            </a:r>
            <a:r>
              <a:rPr lang="en-US" sz="1600"/>
              <a:t>, dan </a:t>
            </a:r>
            <a:r>
              <a:rPr lang="en-US" sz="1600" i="1"/>
              <a:t>size</a:t>
            </a:r>
            <a:r>
              <a:rPr lang="en-US" sz="1600"/>
              <a:t>).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men-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kebenaran</a:t>
            </a:r>
            <a:r>
              <a:rPr lang="en-US" sz="1600"/>
              <a:t> dan </a:t>
            </a:r>
            <a:r>
              <a:rPr lang="en-US" sz="1600" err="1"/>
              <a:t>kesesuaian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di-</a:t>
            </a:r>
            <a:r>
              <a:rPr lang="en-US" sz="1600" i="1"/>
              <a:t>upload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5)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2CD561-1F6E-B091-DFF8-4B1C757B7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3432686"/>
            <a:ext cx="6515100" cy="23717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6191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mengumpulkan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i="1"/>
              <a:t>finalize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“Finalize Exam”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i="1"/>
              <a:t>pop up </a:t>
            </a:r>
            <a:r>
              <a:rPr lang="en-US" sz="1600" err="1"/>
              <a:t>konfirmasi</a:t>
            </a:r>
            <a:r>
              <a:rPr lang="en-US" sz="160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697484-6128-592F-8B0F-D008A9C96AD1}"/>
              </a:ext>
            </a:extLst>
          </p:cNvPr>
          <p:cNvGrpSpPr/>
          <p:nvPr/>
        </p:nvGrpSpPr>
        <p:grpSpPr>
          <a:xfrm>
            <a:off x="1544682" y="2387727"/>
            <a:ext cx="6896964" cy="1148080"/>
            <a:chOff x="2225402" y="4328160"/>
            <a:chExt cx="6896964" cy="1148080"/>
          </a:xfrm>
        </p:grpSpPr>
        <p:pic>
          <p:nvPicPr>
            <p:cNvPr id="5" name="Picture 4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908714B-1333-96E2-91DA-6D2E3B9E8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901" r="30444" b="46045"/>
            <a:stretch/>
          </p:blipFill>
          <p:spPr>
            <a:xfrm>
              <a:off x="2225402" y="4328160"/>
              <a:ext cx="6896964" cy="1148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77CEEF-16FF-4893-6B8B-7F6080C8D75F}"/>
                </a:ext>
              </a:extLst>
            </p:cNvPr>
            <p:cNvSpPr/>
            <p:nvPr/>
          </p:nvSpPr>
          <p:spPr>
            <a:xfrm>
              <a:off x="2651760" y="4510006"/>
              <a:ext cx="1053168" cy="580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405ED88-F0A4-509F-D8A1-9C007931E3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1" t="2854" r="3033" b="3491"/>
          <a:stretch/>
        </p:blipFill>
        <p:spPr>
          <a:xfrm>
            <a:off x="1544682" y="4231093"/>
            <a:ext cx="3505200" cy="2325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6147F6-B790-753E-30BD-77545193ED8A}"/>
              </a:ext>
            </a:extLst>
          </p:cNvPr>
          <p:cNvSpPr txBox="1"/>
          <p:nvPr/>
        </p:nvSpPr>
        <p:spPr>
          <a:xfrm>
            <a:off x="5244209" y="4470273"/>
            <a:ext cx="3197437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Yes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Konfirmasi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Batal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</p:txBody>
      </p:sp>
    </p:spTree>
    <p:extLst>
      <p:ext uri="{BB962C8B-B14F-4D97-AF65-F5344CB8AC3E}">
        <p14:creationId xmlns:p14="http://schemas.microsoft.com/office/powerpoint/2010/main" val="2739839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0D85-391D-1792-4DA7-4A7B13F04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449D3-F50A-DA0C-86CC-5C3959AF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Akan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err="1"/>
              <a:t>peringatan</a:t>
            </a:r>
            <a:r>
              <a:rPr lang="en-US" sz="1600"/>
              <a:t> di </a:t>
            </a:r>
            <a:r>
              <a:rPr lang="en-US" sz="1600" i="1"/>
              <a:t>pop up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i="1"/>
              <a:t>size 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b="1" err="1"/>
              <a:t>melebihi</a:t>
            </a:r>
            <a:r>
              <a:rPr lang="en-US" sz="1600" b="1"/>
              <a:t> batas yang </a:t>
            </a:r>
            <a:r>
              <a:rPr lang="en-US" sz="1600" b="1" err="1"/>
              <a:t>telah</a:t>
            </a:r>
            <a:r>
              <a:rPr lang="en-US" sz="1600" b="1"/>
              <a:t> </a:t>
            </a:r>
            <a:r>
              <a:rPr lang="en-US" sz="1600" b="1" err="1"/>
              <a:t>ditentukan</a:t>
            </a:r>
            <a:r>
              <a:rPr lang="en-US" sz="1600"/>
              <a:t>.</a:t>
            </a:r>
            <a:endParaRPr lang="en-US" sz="1600" err="1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2BD78-AB50-C1B1-23D5-E2476096EABF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pic>
        <p:nvPicPr>
          <p:cNvPr id="2" name="Picture 1" descr="A screenshot of a quiz&#10;&#10;AI-generated content may be incorrect.">
            <a:extLst>
              <a:ext uri="{FF2B5EF4-FFF2-40B4-BE49-F238E27FC236}">
                <a16:creationId xmlns:a16="http://schemas.microsoft.com/office/drawing/2014/main" id="{EE8DC039-E332-0B92-E575-8BE9D717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25" y="2518731"/>
            <a:ext cx="4092631" cy="34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71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di-</a:t>
            </a:r>
            <a:r>
              <a:rPr lang="en-US" sz="1600" i="1"/>
              <a:t>finalize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meng-</a:t>
            </a:r>
            <a:r>
              <a:rPr lang="en-US" sz="1600" b="1" i="1"/>
              <a:t>upload file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mengubah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).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Kode </a:t>
            </a:r>
            <a:r>
              <a:rPr lang="en-US" sz="1600" err="1"/>
              <a:t>konfirmasi</a:t>
            </a:r>
            <a:r>
              <a:rPr lang="en-US" sz="1600"/>
              <a:t> (</a:t>
            </a:r>
            <a:r>
              <a:rPr lang="en-US" sz="1600" i="1"/>
              <a:t>hash code</a:t>
            </a:r>
            <a:r>
              <a:rPr lang="en-US" sz="1600"/>
              <a:t>) yang </a:t>
            </a:r>
            <a:r>
              <a:rPr lang="en-US" sz="1600" err="1"/>
              <a:t>tampil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 Practicum </a:t>
            </a:r>
            <a:r>
              <a:rPr lang="en-US" sz="1600" err="1"/>
              <a:t>sebagai</a:t>
            </a:r>
            <a:r>
              <a:rPr lang="en-US" sz="1600"/>
              <a:t> </a:t>
            </a:r>
            <a:r>
              <a:rPr lang="en-US" sz="1600" b="1" err="1"/>
              <a:t>bukti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F207DC-B69B-953D-2CC0-0B49C0108A93}"/>
              </a:ext>
            </a:extLst>
          </p:cNvPr>
          <p:cNvGrpSpPr/>
          <p:nvPr/>
        </p:nvGrpSpPr>
        <p:grpSpPr>
          <a:xfrm>
            <a:off x="762750" y="3282870"/>
            <a:ext cx="8081119" cy="2413000"/>
            <a:chOff x="1285242" y="2727298"/>
            <a:chExt cx="6858000" cy="2047780"/>
          </a:xfrm>
        </p:grpSpPr>
        <p:pic>
          <p:nvPicPr>
            <p:cNvPr id="10" name="Picture 9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987E60D8-7132-EB63-1F9C-92E28A41C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5242" y="2727298"/>
              <a:ext cx="6858000" cy="20477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42C36-4816-2BC9-0FAF-DDFB077D8D50}"/>
                </a:ext>
              </a:extLst>
            </p:cNvPr>
            <p:cNvSpPr/>
            <p:nvPr/>
          </p:nvSpPr>
          <p:spPr>
            <a:xfrm>
              <a:off x="1356362" y="3006697"/>
              <a:ext cx="1818640" cy="467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16498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A21C12-6658-2154-649B-BD2E457B85CB}"/>
              </a:ext>
            </a:extLst>
          </p:cNvPr>
          <p:cNvSpPr/>
          <p:nvPr/>
        </p:nvSpPr>
        <p:spPr>
          <a:xfrm>
            <a:off x="881743" y="1577255"/>
            <a:ext cx="7990114" cy="3854716"/>
          </a:xfrm>
          <a:prstGeom prst="roundRect">
            <a:avLst>
              <a:gd name="adj" fmla="val 8785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577256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file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tersimpan</a:t>
            </a:r>
            <a:r>
              <a:rPr lang="en-US" sz="1600" b="1"/>
              <a:t> (</a:t>
            </a:r>
            <a:r>
              <a:rPr lang="en-US" sz="1600" b="1" i="1"/>
              <a:t>saved</a:t>
            </a:r>
            <a:r>
              <a:rPr lang="en-US" sz="1600" b="1"/>
              <a:t>)</a:t>
            </a:r>
            <a:r>
              <a:rPr lang="en-US" sz="1600"/>
              <a:t> dan </a:t>
            </a:r>
            <a:r>
              <a:rPr lang="en-US" sz="1600" b="1" err="1"/>
              <a:t>tertutup</a:t>
            </a:r>
            <a:r>
              <a:rPr lang="en-US" sz="1600" b="1"/>
              <a:t> (</a:t>
            </a:r>
            <a:r>
              <a:rPr lang="en-US" sz="1600" b="1" i="1"/>
              <a:t>closed</a:t>
            </a:r>
            <a:r>
              <a:rPr lang="en-US" sz="1600" b="1"/>
              <a:t>)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mempermudah</a:t>
            </a:r>
            <a:r>
              <a:rPr lang="en-US" sz="1600"/>
              <a:t>, </a:t>
            </a:r>
            <a:r>
              <a:rPr lang="en-US" sz="1600" err="1"/>
              <a:t>masukkan</a:t>
            </a:r>
            <a:r>
              <a:rPr lang="en-US" sz="1600"/>
              <a:t> </a:t>
            </a:r>
            <a:r>
              <a:rPr lang="en-US" sz="1600" b="1" err="1"/>
              <a:t>semua</a:t>
            </a:r>
            <a:r>
              <a:rPr lang="en-US" sz="1600" b="1"/>
              <a:t> file </a:t>
            </a:r>
            <a:r>
              <a:rPr lang="en-US" sz="1600"/>
              <a:t>yang </a:t>
            </a:r>
            <a:r>
              <a:rPr lang="en-US" sz="1600" err="1"/>
              <a:t>ingin</a:t>
            </a:r>
            <a:r>
              <a:rPr lang="en-US" sz="1600"/>
              <a:t>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satu</a:t>
            </a:r>
            <a:r>
              <a:rPr lang="en-US" sz="1600"/>
              <a:t> folder (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hanya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menyimpan</a:t>
            </a:r>
            <a:r>
              <a:rPr lang="en-US" sz="1600"/>
              <a:t> 1 zip).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Zip folder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b="1" err="1"/>
              <a:t>klik</a:t>
            </a:r>
            <a:r>
              <a:rPr lang="en-US" sz="1600" b="1"/>
              <a:t> </a:t>
            </a:r>
            <a:r>
              <a:rPr lang="en-US" sz="1600" b="1" err="1"/>
              <a:t>kanan</a:t>
            </a:r>
            <a:r>
              <a:rPr lang="en-US" sz="1600" b="1"/>
              <a:t> pada folder </a:t>
            </a:r>
            <a:r>
              <a:rPr lang="en-US" sz="1600" b="1">
                <a:sym typeface="Wingdings" pitchFamily="2" charset="2"/>
              </a:rPr>
              <a:t> Send to  Compressed (zipped) folder</a:t>
            </a:r>
            <a:r>
              <a:rPr lang="en-US" sz="1600">
                <a:sym typeface="Wingdings" pitchFamily="2" charset="2"/>
              </a:rPr>
              <a:t>.</a:t>
            </a:r>
          </a:p>
          <a:p>
            <a:pPr lvl="1" algn="just">
              <a:lnSpc>
                <a:spcPct val="160000"/>
              </a:lnSpc>
            </a:pPr>
            <a:r>
              <a:rPr lang="en-US" sz="1400">
                <a:sym typeface="Wingdings" pitchFamily="2" charset="2"/>
              </a:rPr>
              <a:t>Cara lain </a:t>
            </a:r>
            <a:r>
              <a:rPr lang="en-US" sz="1400" err="1">
                <a:sym typeface="Wingdings" pitchFamily="2" charset="2"/>
              </a:rPr>
              <a:t>untuk</a:t>
            </a:r>
            <a:r>
              <a:rPr lang="en-US" sz="1400">
                <a:sym typeface="Wingdings" pitchFamily="2" charset="2"/>
              </a:rPr>
              <a:t> zip </a:t>
            </a:r>
            <a:r>
              <a:rPr lang="en-US" sz="1400" err="1">
                <a:sym typeface="Wingdings" pitchFamily="2" charset="2"/>
              </a:rPr>
              <a:t>adalah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dengan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klik</a:t>
            </a:r>
            <a:r>
              <a:rPr lang="en-US" sz="1400" b="1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kanan</a:t>
            </a:r>
            <a:r>
              <a:rPr lang="en-US" sz="1400" b="1">
                <a:sym typeface="Wingdings" pitchFamily="2" charset="2"/>
              </a:rPr>
              <a:t> pada </a:t>
            </a:r>
            <a:r>
              <a:rPr lang="en-US" sz="1400" b="1" err="1">
                <a:sym typeface="Wingdings" pitchFamily="2" charset="2"/>
              </a:rPr>
              <a:t>foler</a:t>
            </a:r>
            <a:r>
              <a:rPr lang="en-US" sz="1400" b="1">
                <a:sym typeface="Wingdings" pitchFamily="2" charset="2"/>
              </a:rPr>
              <a:t>  7-Zip  Add to Archive  </a:t>
            </a:r>
            <a:r>
              <a:rPr lang="en-US" sz="1400" b="1" err="1">
                <a:sym typeface="Wingdings" pitchFamily="2" charset="2"/>
              </a:rPr>
              <a:t>ubah</a:t>
            </a:r>
            <a:r>
              <a:rPr lang="en-US" sz="1400" b="1">
                <a:sym typeface="Wingdings" pitchFamily="2" charset="2"/>
              </a:rPr>
              <a:t> archive format </a:t>
            </a:r>
            <a:r>
              <a:rPr lang="en-US" sz="1400" b="1" err="1">
                <a:sym typeface="Wingdings" pitchFamily="2" charset="2"/>
              </a:rPr>
              <a:t>menjadi</a:t>
            </a:r>
            <a:r>
              <a:rPr lang="en-US" sz="1400" b="1">
                <a:sym typeface="Wingdings" pitchFamily="2" charset="2"/>
              </a:rPr>
              <a:t> .zip</a:t>
            </a:r>
            <a:r>
              <a:rPr lang="en-US" sz="1400">
                <a:sym typeface="Wingdings" pitchFamily="2" charset="2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sym typeface="Wingdings" pitchFamily="2" charset="2"/>
              </a:rPr>
              <a:t>Pastikan</a:t>
            </a:r>
            <a:r>
              <a:rPr lang="en-US" sz="1600">
                <a:sym typeface="Wingdings" pitchFamily="2" charset="2"/>
              </a:rPr>
              <a:t> zip yang </a:t>
            </a:r>
            <a:r>
              <a:rPr lang="en-US" sz="1600" err="1">
                <a:sym typeface="Wingdings" pitchFamily="2" charset="2"/>
              </a:rPr>
              <a:t>dibuat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berekstensi</a:t>
            </a:r>
            <a:r>
              <a:rPr lang="en-US" sz="1600">
                <a:sym typeface="Wingdings" pitchFamily="2" charset="2"/>
              </a:rPr>
              <a:t> .zip, </a:t>
            </a:r>
            <a:r>
              <a:rPr lang="en-US" sz="1600" b="1" err="1">
                <a:sym typeface="Wingdings" pitchFamily="2" charset="2"/>
              </a:rPr>
              <a:t>bukan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ekstensi</a:t>
            </a:r>
            <a:r>
              <a:rPr lang="en-US" sz="1600">
                <a:sym typeface="Wingdings" pitchFamily="2" charset="2"/>
              </a:rPr>
              <a:t> lain </a:t>
            </a:r>
            <a:r>
              <a:rPr lang="en-US" sz="1600" err="1">
                <a:sym typeface="Wingdings" pitchFamily="2" charset="2"/>
              </a:rPr>
              <a:t>seperti</a:t>
            </a:r>
            <a:r>
              <a:rPr lang="en-US" sz="1600">
                <a:sym typeface="Wingdings" pitchFamily="2" charset="2"/>
              </a:rPr>
              <a:t> .7z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Compress (ZIP) File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502CE8-3BF4-5F89-AF00-F98E0E184FE5}"/>
              </a:ext>
            </a:extLst>
          </p:cNvPr>
          <p:cNvSpPr/>
          <p:nvPr/>
        </p:nvSpPr>
        <p:spPr>
          <a:xfrm>
            <a:off x="881743" y="5649926"/>
            <a:ext cx="7990114" cy="935935"/>
          </a:xfrm>
          <a:prstGeom prst="roundRect">
            <a:avLst>
              <a:gd name="adj" fmla="val 2506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91F322-7AB2-1F56-8FC0-68B316E04B4A}"/>
              </a:ext>
            </a:extLst>
          </p:cNvPr>
          <p:cNvSpPr txBox="1">
            <a:spLocks/>
          </p:cNvSpPr>
          <p:nvPr/>
        </p:nvSpPr>
        <p:spPr>
          <a:xfrm>
            <a:off x="1054099" y="5637869"/>
            <a:ext cx="7696201" cy="935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en-US" sz="1600" b="1" err="1"/>
              <a:t>Hindari</a:t>
            </a:r>
            <a:r>
              <a:rPr lang="en-US" sz="1600" b="1"/>
              <a:t> </a:t>
            </a:r>
            <a:r>
              <a:rPr lang="en-US" sz="1600" b="1" err="1"/>
              <a:t>membuka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file Zip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dimasukkan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b="1"/>
              <a:t>FTP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mencegah</a:t>
            </a:r>
            <a:r>
              <a:rPr lang="en-US" sz="1600"/>
              <a:t> file corrupt.</a:t>
            </a:r>
          </a:p>
        </p:txBody>
      </p:sp>
    </p:spTree>
    <p:extLst>
      <p:ext uri="{BB962C8B-B14F-4D97-AF65-F5344CB8AC3E}">
        <p14:creationId xmlns:p14="http://schemas.microsoft.com/office/powerpoint/2010/main" val="2211612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Compress (ZIP) File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BE000E-51B4-3481-5BF7-ED75F14E2E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020"/>
          <a:stretch/>
        </p:blipFill>
        <p:spPr>
          <a:xfrm>
            <a:off x="1549406" y="4917897"/>
            <a:ext cx="3289300" cy="1576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9604B-5121-358A-F3FD-1DC651D258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401" b="78871"/>
          <a:stretch/>
        </p:blipFill>
        <p:spPr>
          <a:xfrm>
            <a:off x="5320507" y="4917897"/>
            <a:ext cx="2360607" cy="6858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B0ED5-CC04-4DB2-D959-1F8B6B2DFB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917" t="88206"/>
          <a:stretch/>
        </p:blipFill>
        <p:spPr>
          <a:xfrm>
            <a:off x="5407026" y="5904594"/>
            <a:ext cx="2187568" cy="3828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66E2C8-089A-9BD1-BA16-9043A036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4286733"/>
            <a:ext cx="7523844" cy="55399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1600"/>
              <a:t>Cara </a:t>
            </a:r>
            <a:r>
              <a:rPr lang="en-US" sz="1600" err="1"/>
              <a:t>kedua</a:t>
            </a:r>
            <a:r>
              <a:rPr lang="en-US" sz="1600"/>
              <a:t>: </a:t>
            </a:r>
            <a:r>
              <a:rPr lang="en-US" sz="1600" b="1">
                <a:sym typeface="Wingdings" pitchFamily="2" charset="2"/>
              </a:rPr>
              <a:t>7-Zip  Add to Archive  </a:t>
            </a:r>
            <a:r>
              <a:rPr lang="en-US" sz="1600" b="1" err="1">
                <a:sym typeface="Wingdings" pitchFamily="2" charset="2"/>
              </a:rPr>
              <a:t>ubah</a:t>
            </a:r>
            <a:r>
              <a:rPr lang="en-US" sz="1600" b="1">
                <a:sym typeface="Wingdings" pitchFamily="2" charset="2"/>
              </a:rPr>
              <a:t> archive format </a:t>
            </a:r>
            <a:r>
              <a:rPr lang="en-US" sz="1600" b="1" err="1">
                <a:sym typeface="Wingdings" pitchFamily="2" charset="2"/>
              </a:rPr>
              <a:t>menjadi</a:t>
            </a:r>
            <a:r>
              <a:rPr lang="en-US" sz="1600" b="1">
                <a:sym typeface="Wingdings" pitchFamily="2" charset="2"/>
              </a:rPr>
              <a:t> .zip.</a:t>
            </a:r>
            <a:endParaRPr lang="en-US" sz="1600">
              <a:sym typeface="Wingdings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277798-8A46-0948-A585-44BA4F0BC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341" y="2440639"/>
            <a:ext cx="3365500" cy="171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461A029-5E6B-0AB1-2889-67B0E9837837}"/>
              </a:ext>
            </a:extLst>
          </p:cNvPr>
          <p:cNvSpPr txBox="1">
            <a:spLocks/>
          </p:cNvSpPr>
          <p:nvPr/>
        </p:nvSpPr>
        <p:spPr>
          <a:xfrm>
            <a:off x="1054098" y="1890003"/>
            <a:ext cx="7033987" cy="429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Font typeface="Arial" pitchFamily="34" charset="0"/>
              <a:buNone/>
            </a:pPr>
            <a:r>
              <a:rPr lang="en-US" sz="1600"/>
              <a:t>Cara </a:t>
            </a:r>
            <a:r>
              <a:rPr lang="en-US" sz="1600" err="1"/>
              <a:t>pertama</a:t>
            </a:r>
            <a:r>
              <a:rPr lang="en-US" sz="1600"/>
              <a:t>: </a:t>
            </a:r>
            <a:r>
              <a:rPr lang="en-US" sz="1600" b="1">
                <a:sym typeface="Wingdings" pitchFamily="2" charset="2"/>
              </a:rPr>
              <a:t>Send to  Compressed (zipped) folder</a:t>
            </a:r>
            <a:r>
              <a:rPr lang="en-US" sz="1600">
                <a:sym typeface="Wingdings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3321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Penilaian</a:t>
            </a:r>
            <a:r>
              <a:rPr lang="en-US"/>
              <a:t> dan </a:t>
            </a:r>
            <a:r>
              <a:rPr lang="en-US" err="1"/>
              <a:t>Protes</a:t>
            </a:r>
            <a:r>
              <a:rPr lang="en-US"/>
              <a:t> Nilai</a:t>
            </a:r>
          </a:p>
        </p:txBody>
      </p:sp>
    </p:spTree>
    <p:extLst>
      <p:ext uri="{BB962C8B-B14F-4D97-AF65-F5344CB8AC3E}">
        <p14:creationId xmlns:p14="http://schemas.microsoft.com/office/powerpoint/2010/main" val="154841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/quiz/UAP </a:t>
            </a:r>
            <a:r>
              <a:rPr lang="en-US" sz="1600" err="1"/>
              <a:t>keluar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13416"/>
            <a:ext cx="7696201" cy="43397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b="1" err="1"/>
              <a:t>kalender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dibagi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2 batch.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Nilai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keluar</a:t>
            </a:r>
            <a:r>
              <a:rPr lang="en-US" sz="1600"/>
              <a:t> pada batch 1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b="1" err="1"/>
              <a:t>hanya</a:t>
            </a:r>
            <a:r>
              <a:rPr lang="en-US" sz="1600" b="1"/>
              <a:t> </a:t>
            </a:r>
            <a:r>
              <a:rPr lang="en-US" sz="1600" b="1" err="1"/>
              <a:t>terlaksana</a:t>
            </a:r>
            <a:r>
              <a:rPr lang="en-US" sz="1600" b="1"/>
              <a:t> </a:t>
            </a:r>
            <a:r>
              <a:rPr lang="en-US" sz="1600" b="1" err="1"/>
              <a:t>satu</a:t>
            </a:r>
            <a:r>
              <a:rPr lang="en-US" sz="1600" b="1"/>
              <a:t> kali </a:t>
            </a:r>
            <a:r>
              <a:rPr lang="en-US" sz="1600" b="1" err="1"/>
              <a:t>dalam</a:t>
            </a:r>
            <a:r>
              <a:rPr lang="en-US" sz="1600" b="1"/>
              <a:t> </a:t>
            </a:r>
            <a:r>
              <a:rPr lang="en-US" sz="1600" b="1" err="1"/>
              <a:t>satu</a:t>
            </a:r>
            <a:r>
              <a:rPr lang="en-US" sz="1600" b="1"/>
              <a:t> semester dan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dilaksanakan</a:t>
            </a:r>
            <a:r>
              <a:rPr lang="en-US" sz="1600" b="1"/>
              <a:t>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batch 1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. </a:t>
            </a:r>
            <a:r>
              <a:rPr lang="en-US" sz="1600" err="1"/>
              <a:t>Selain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batch 2.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b="1" err="1"/>
              <a:t>melihat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LMS pada menu Courses </a:t>
            </a:r>
            <a:r>
              <a:rPr lang="en-US" sz="1600">
                <a:sym typeface="Wingdings" pitchFamily="2" charset="2"/>
              </a:rPr>
              <a:t> Gradebook.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5322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err="1">
                <a:latin typeface="Open Sans"/>
              </a:rPr>
              <a:t>Contoh</a:t>
            </a:r>
            <a:r>
              <a:rPr lang="en-US" sz="1600">
                <a:latin typeface="Open Sans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A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1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C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 dan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10420007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8C5370-2A62-DAF4-4F58-FD84EDB3676E}"/>
              </a:ext>
            </a:extLst>
          </p:cNvPr>
          <p:cNvSpPr/>
          <p:nvPr/>
        </p:nvSpPr>
        <p:spPr>
          <a:xfrm>
            <a:off x="1295400" y="2276734"/>
            <a:ext cx="7467600" cy="11522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27303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b="1"/>
              <a:t>paling </a:t>
            </a:r>
            <a:r>
              <a:rPr lang="en-US" sz="1600" b="1" err="1"/>
              <a:t>lambat</a:t>
            </a:r>
            <a:r>
              <a:rPr lang="en-US" sz="1600" b="1"/>
              <a:t> 3 (</a:t>
            </a:r>
            <a:r>
              <a:rPr lang="en-US" sz="1600" b="1" err="1"/>
              <a:t>tiga</a:t>
            </a:r>
            <a:r>
              <a:rPr lang="en-US" sz="1600" b="1"/>
              <a:t>) </a:t>
            </a:r>
            <a:r>
              <a:rPr lang="en-US" sz="1600" b="1" err="1"/>
              <a:t>hari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dikeluarkan</a:t>
            </a:r>
            <a:r>
              <a:rPr lang="en-US" sz="1600" b="1"/>
              <a:t>*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 pada menu Learning </a:t>
            </a:r>
            <a:r>
              <a:rPr lang="en-US" sz="1600">
                <a:sym typeface="Wingdings" pitchFamily="2" charset="2"/>
              </a:rPr>
              <a:t> </a:t>
            </a:r>
            <a:r>
              <a:rPr lang="en-US" sz="1600"/>
              <a:t>Grades </a:t>
            </a:r>
            <a:r>
              <a:rPr lang="en-US" sz="1600">
                <a:sym typeface="Wingdings" pitchFamily="2" charset="2"/>
              </a:rPr>
              <a:t> </a:t>
            </a:r>
            <a:r>
              <a:rPr lang="en-US" sz="1600"/>
              <a:t>Score Protest.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dikenakan</a:t>
            </a:r>
            <a:r>
              <a:rPr lang="en-US" sz="1600"/>
              <a:t> </a:t>
            </a:r>
            <a:r>
              <a:rPr lang="en-US" sz="1600" b="1" err="1">
                <a:solidFill>
                  <a:srgbClr val="C00000"/>
                </a:solidFill>
              </a:rPr>
              <a:t>penalti</a:t>
            </a:r>
            <a:r>
              <a:rPr lang="en-US" sz="1600">
                <a:solidFill>
                  <a:srgbClr val="C00000"/>
                </a:solidFill>
              </a:rPr>
              <a:t> (</a:t>
            </a:r>
            <a:r>
              <a:rPr lang="en-US" sz="1600" err="1">
                <a:solidFill>
                  <a:srgbClr val="C00000"/>
                </a:solidFill>
              </a:rPr>
              <a:t>pengurangan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nilai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sebesar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b="1">
                <a:solidFill>
                  <a:srgbClr val="C00000"/>
                </a:solidFill>
              </a:rPr>
              <a:t>20 </a:t>
            </a:r>
            <a:r>
              <a:rPr lang="en-US" sz="1600" b="1" err="1">
                <a:solidFill>
                  <a:srgbClr val="C00000"/>
                </a:solidFill>
              </a:rPr>
              <a:t>poin</a:t>
            </a:r>
            <a:r>
              <a:rPr lang="en-US" sz="1600">
                <a:solidFill>
                  <a:srgbClr val="C00000"/>
                </a:solidFill>
              </a:rPr>
              <a:t>)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perubahan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</a:t>
            </a:r>
            <a:r>
              <a:rPr lang="en-US" sz="1600" err="1"/>
              <a:t>dikeluarkan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, </a:t>
            </a:r>
            <a:r>
              <a:rPr lang="en-US" sz="1600" b="1" err="1"/>
              <a:t>hasil</a:t>
            </a:r>
            <a:r>
              <a:rPr lang="en-US" sz="1600" b="1"/>
              <a:t> </a:t>
            </a:r>
            <a:r>
              <a:rPr lang="en-US" sz="1600" b="1" err="1"/>
              <a:t>protes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diumumkan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Binusmaya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tanggal</a:t>
            </a:r>
            <a:r>
              <a:rPr lang="en-US" sz="1600"/>
              <a:t> yang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setuju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hasil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diberikan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melanjutkan</a:t>
            </a:r>
            <a:r>
              <a:rPr lang="en-US" sz="1600"/>
              <a:t> </a:t>
            </a:r>
            <a:r>
              <a:rPr lang="en-US" sz="1600" b="1"/>
              <a:t>proses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berkas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dan </a:t>
            </a:r>
            <a:r>
              <a:rPr lang="en-US" sz="1600" err="1"/>
              <a:t>bagaimana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3919304-10C9-F1A7-C9A7-5D4D7AFFE012}"/>
              </a:ext>
            </a:extLst>
          </p:cNvPr>
          <p:cNvSpPr txBox="1">
            <a:spLocks/>
          </p:cNvSpPr>
          <p:nvPr/>
        </p:nvSpPr>
        <p:spPr>
          <a:xfrm>
            <a:off x="1041399" y="6353560"/>
            <a:ext cx="6450446" cy="399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*) Nilai yang </a:t>
            </a:r>
            <a:r>
              <a:rPr lang="en-US" sz="1400" i="1" err="1"/>
              <a:t>keluar</a:t>
            </a:r>
            <a:r>
              <a:rPr lang="en-US" sz="1400" i="1"/>
              <a:t> di batch 1 </a:t>
            </a:r>
            <a:r>
              <a:rPr lang="en-US" sz="1400" i="1" err="1"/>
              <a:t>tidak</a:t>
            </a:r>
            <a:r>
              <a:rPr lang="en-US" sz="1400" i="1"/>
              <a:t> </a:t>
            </a:r>
            <a:r>
              <a:rPr lang="en-US" sz="1400" i="1" err="1"/>
              <a:t>dapat</a:t>
            </a:r>
            <a:r>
              <a:rPr lang="en-US" sz="1400" i="1"/>
              <a:t> </a:t>
            </a:r>
            <a:r>
              <a:rPr lang="en-US" sz="1400" i="1" err="1"/>
              <a:t>diprotes</a:t>
            </a:r>
            <a:r>
              <a:rPr lang="en-US" sz="1400" i="1"/>
              <a:t> pada masa </a:t>
            </a:r>
            <a:r>
              <a:rPr lang="en-US" sz="1400" i="1" err="1"/>
              <a:t>protes</a:t>
            </a:r>
            <a:r>
              <a:rPr lang="en-US" sz="1400" i="1"/>
              <a:t> batch 2</a:t>
            </a:r>
          </a:p>
        </p:txBody>
      </p:sp>
    </p:spTree>
    <p:extLst>
      <p:ext uri="{BB962C8B-B14F-4D97-AF65-F5344CB8AC3E}">
        <p14:creationId xmlns:p14="http://schemas.microsoft.com/office/powerpoint/2010/main" val="23912117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Daftar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dinolkan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 b="1">
                <a:sym typeface="Wingdings" pitchFamily="2" charset="2"/>
              </a:rPr>
              <a:t> </a:t>
            </a:r>
            <a:r>
              <a:rPr lang="en-US" sz="1600" b="1" err="1">
                <a:sym typeface="Wingdings" pitchFamily="2" charset="2"/>
              </a:rPr>
              <a:t>Newstream</a:t>
            </a:r>
            <a:r>
              <a:rPr lang="en-US" sz="1600" b="1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bersamaan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dengan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tanggal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keluar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nilai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praktikum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b="1"/>
              <a:t>valid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sarana</a:t>
            </a:r>
            <a:r>
              <a:rPr lang="en-US" sz="1600" b="1"/>
              <a:t> lain </a:t>
            </a:r>
            <a:r>
              <a:rPr lang="en-US" sz="1600"/>
              <a:t>(</a:t>
            </a:r>
            <a:r>
              <a:rPr lang="en-US" sz="1600" err="1"/>
              <a:t>contoh</a:t>
            </a:r>
            <a:r>
              <a:rPr lang="en-US" sz="1600"/>
              <a:t>: </a:t>
            </a:r>
            <a:r>
              <a:rPr lang="en-US" sz="1600" err="1"/>
              <a:t>mengontak</a:t>
            </a:r>
            <a:r>
              <a:rPr lang="en-US" sz="1600"/>
              <a:t> LINE OA,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asisten</a:t>
            </a:r>
            <a:r>
              <a:rPr lang="en-US" sz="1600"/>
              <a:t> </a:t>
            </a:r>
            <a:r>
              <a:rPr lang="en-US" sz="1600" err="1"/>
              <a:t>pengajar</a:t>
            </a:r>
            <a:r>
              <a:rPr lang="en-US" sz="1600"/>
              <a:t>, dan lain </a:t>
            </a:r>
            <a:r>
              <a:rPr lang="en-US" sz="1600" err="1"/>
              <a:t>sebagainya</a:t>
            </a:r>
            <a:r>
              <a:rPr lang="en-US" sz="1600"/>
              <a:t>)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diproses</a:t>
            </a:r>
            <a:r>
              <a:rPr lang="en-US" sz="1600" b="1"/>
              <a:t> </a:t>
            </a:r>
            <a:r>
              <a:rPr lang="en-US" sz="1600" b="1" err="1"/>
              <a:t>lebih</a:t>
            </a:r>
            <a:r>
              <a:rPr lang="en-US" sz="1600" b="1"/>
              <a:t> </a:t>
            </a:r>
            <a:r>
              <a:rPr lang="en-US" sz="1600" b="1" err="1"/>
              <a:t>lanjut</a:t>
            </a:r>
            <a:r>
              <a:rPr lang="en-US" sz="1600" b="1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ada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bentuk</a:t>
            </a:r>
            <a:r>
              <a:rPr lang="en-US" sz="1600"/>
              <a:t> </a:t>
            </a:r>
            <a:r>
              <a:rPr lang="en-US" sz="1600" err="1"/>
              <a:t>apapun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(</a:t>
            </a:r>
            <a:r>
              <a:rPr lang="en-US" sz="1600" err="1"/>
              <a:t>tugas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bonus, dan </a:t>
            </a:r>
            <a:r>
              <a:rPr lang="en-US" sz="1600" err="1"/>
              <a:t>sebagainya</a:t>
            </a:r>
            <a:r>
              <a:rPr lang="en-US" sz="1600"/>
              <a:t>) 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ditetapkan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9928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Kelas</a:t>
            </a:r>
            <a:r>
              <a:rPr lang="en-US"/>
              <a:t> </a:t>
            </a:r>
            <a:r>
              <a:rPr lang="en-US" err="1"/>
              <a:t>Tambahan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90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mengadakan</a:t>
            </a:r>
            <a:r>
              <a:rPr lang="en-US" sz="1600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menambah</a:t>
            </a:r>
            <a:r>
              <a:rPr lang="en-US" sz="1600"/>
              <a:t> </a:t>
            </a:r>
            <a:r>
              <a:rPr lang="en-US" sz="1600" err="1"/>
              <a:t>pemahaman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me-</a:t>
            </a:r>
            <a:r>
              <a:rPr lang="en-US" sz="1600" i="1"/>
              <a:t>request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pada </a:t>
            </a:r>
            <a:r>
              <a:rPr lang="en-US" sz="1600" err="1"/>
              <a:t>pengajar</a:t>
            </a:r>
            <a:r>
              <a:rPr lang="en-US" sz="1600"/>
              <a:t>, </a:t>
            </a: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b="1" err="1"/>
              <a:t>berhak</a:t>
            </a:r>
            <a:r>
              <a:rPr lang="en-US" sz="1600" b="1"/>
              <a:t> </a:t>
            </a:r>
            <a:r>
              <a:rPr lang="en-US" sz="1600" b="1" err="1"/>
              <a:t>menolak</a:t>
            </a:r>
            <a:r>
              <a:rPr lang="en-US" sz="1600" b="1"/>
              <a:t> </a:t>
            </a:r>
            <a:r>
              <a:rPr lang="en-US" sz="1600" err="1"/>
              <a:t>pengadaan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mempertimbangkan</a:t>
            </a:r>
            <a:r>
              <a:rPr lang="en-US" sz="1600"/>
              <a:t> </a:t>
            </a:r>
            <a:r>
              <a:rPr lang="en-US" sz="1600" b="1" err="1"/>
              <a:t>ketersediaan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, </a:t>
            </a:r>
            <a:r>
              <a:rPr lang="en-US" sz="1600" b="1" err="1"/>
              <a:t>ruangan</a:t>
            </a:r>
            <a:r>
              <a:rPr lang="en-US" sz="1600" b="1"/>
              <a:t>, dan </a:t>
            </a:r>
            <a:r>
              <a:rPr lang="en-US" sz="1600" b="1" err="1"/>
              <a:t>jumlah</a:t>
            </a:r>
            <a:r>
              <a:rPr lang="en-US" sz="1600" b="1"/>
              <a:t> </a:t>
            </a:r>
            <a:r>
              <a:rPr lang="en-US" sz="1600" b="1" err="1"/>
              <a:t>peserta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dilaksanakan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dan </a:t>
            </a:r>
            <a:r>
              <a:rPr lang="en-US" sz="1600" err="1"/>
              <a:t>pendataan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Extra Class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653928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F6E678-642E-4140-B0A9-8C332B86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583" y="2766219"/>
            <a:ext cx="728601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200" b="1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4234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5045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terbentuk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err="1"/>
              <a:t>Kelompok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diubah</a:t>
            </a:r>
            <a:r>
              <a:rPr lang="en-US" sz="1600" b="1"/>
              <a:t> </a:t>
            </a:r>
            <a:r>
              <a:rPr lang="en-US" sz="1600" b="1" err="1"/>
              <a:t>dengan</a:t>
            </a:r>
            <a:r>
              <a:rPr lang="en-US" sz="1600" b="1"/>
              <a:t> </a:t>
            </a:r>
            <a:r>
              <a:rPr lang="en-US" sz="1600" b="1" err="1"/>
              <a:t>alasan</a:t>
            </a:r>
            <a:r>
              <a:rPr lang="en-US" sz="1600" b="1"/>
              <a:t> </a:t>
            </a:r>
            <a:r>
              <a:rPr lang="en-US" sz="1600" b="1" err="1"/>
              <a:t>apapun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selain</a:t>
            </a:r>
            <a:r>
              <a:rPr lang="en-US" sz="1600"/>
              <a:t>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kesalahan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).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Hasil </a:t>
            </a:r>
            <a:r>
              <a:rPr lang="en-US" sz="1600" err="1"/>
              <a:t>pembentukan</a:t>
            </a:r>
            <a:r>
              <a:rPr lang="en-US" sz="1600"/>
              <a:t> </a:t>
            </a:r>
            <a:r>
              <a:rPr lang="en-US" sz="1600" err="1"/>
              <a:t>kelompok</a:t>
            </a:r>
            <a:r>
              <a:rPr lang="en-US" sz="1600"/>
              <a:t> yang </a:t>
            </a:r>
            <a:r>
              <a:rPr lang="en-US" sz="1600" b="1" err="1"/>
              <a:t>sudah</a:t>
            </a:r>
            <a:r>
              <a:rPr lang="en-US" sz="1600" b="1"/>
              <a:t> final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>
                <a:sym typeface="Wingdings" pitchFamily="2" charset="2"/>
                <a:hlinkClick r:id="rId2"/>
              </a:rPr>
              <a:t>https://bluejack.binus.ac.id/prk/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 (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Binusmaya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 Practicum)  Courses  Tab Group Forming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periode</a:t>
            </a:r>
            <a:r>
              <a:rPr lang="en-US" sz="1600" b="1"/>
              <a:t> </a:t>
            </a:r>
            <a:r>
              <a:rPr lang="en-US" sz="1600" b="1" err="1"/>
              <a:t>pembentukan</a:t>
            </a:r>
            <a:r>
              <a:rPr lang="en-US" sz="1600" b="1"/>
              <a:t> </a:t>
            </a:r>
            <a:r>
              <a:rPr lang="en-US" sz="1600" b="1" err="1"/>
              <a:t>kelompok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dilakukan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setelah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masa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diproses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alasan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apapun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32297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422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Pengerjaan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dilakukan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online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Practicum dan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dilakukan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sepanjang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semester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akhir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Apabila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ingin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melakukan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tatap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muka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diimbau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membawa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masing-masing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menggunakan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media </a:t>
            </a:r>
            <a:r>
              <a:rPr lang="en-US" sz="16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flash disk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external hard disk 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pada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pertemuan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tatap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muka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wajib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mandiri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setelah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diterima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dianggap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0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Kegagalan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tanggung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491812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422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 err="1">
                <a:effectLst/>
                <a:ea typeface="Open Sans"/>
                <a:cs typeface="Open Sans"/>
              </a:rPr>
              <a:t>Pengumpulan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wajib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dilakukan</a:t>
            </a:r>
            <a:r>
              <a:rPr lang="en-US" sz="1600">
                <a:effectLst/>
                <a:ea typeface="Open Sans"/>
                <a:cs typeface="Open Sans"/>
              </a:rPr>
              <a:t> oleh </a:t>
            </a:r>
            <a:r>
              <a:rPr lang="en-US" sz="1600" err="1">
                <a:effectLst/>
                <a:ea typeface="Open Sans"/>
                <a:cs typeface="Open Sans"/>
              </a:rPr>
              <a:t>satu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anggota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(</a:t>
            </a:r>
            <a:r>
              <a:rPr lang="en-US" sz="1600" b="1" err="1">
                <a:effectLst/>
                <a:ea typeface="Open Sans"/>
                <a:cs typeface="Open Sans"/>
              </a:rPr>
              <a:t>akan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tertimpa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jika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anggota</a:t>
            </a:r>
            <a:r>
              <a:rPr lang="en-US" sz="1600" b="1">
                <a:effectLst/>
                <a:ea typeface="Open Sans"/>
                <a:cs typeface="Open Sans"/>
              </a:rPr>
              <a:t> lain </a:t>
            </a:r>
            <a:r>
              <a:rPr lang="en-US" sz="1600" b="1" err="1">
                <a:effectLst/>
                <a:ea typeface="Open Sans"/>
                <a:cs typeface="Open Sans"/>
              </a:rPr>
              <a:t>mengumpul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kembali</a:t>
            </a:r>
            <a:r>
              <a:rPr lang="en-US" sz="1600">
                <a:effectLst/>
                <a:ea typeface="Open Sans"/>
                <a:cs typeface="Open Sans"/>
              </a:rPr>
              <a:t>) </a:t>
            </a:r>
            <a:r>
              <a:rPr lang="en-US" sz="1600" err="1">
                <a:effectLst/>
                <a:ea typeface="Open Sans"/>
                <a:cs typeface="Open Sans"/>
              </a:rPr>
              <a:t>sebelum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batas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waktu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pengumpulan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sz="1600" err="1">
                <a:effectLst/>
                <a:ea typeface="Open Sans"/>
                <a:cs typeface="Open Sans"/>
              </a:rPr>
              <a:t>Semua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anggota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diwajibkan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memiliki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jawaban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kelompoknya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untuk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mencegah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hal-hal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tidak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diinginkan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proyek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dapat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diwakilkan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>
                <a:ea typeface="Open Sans"/>
                <a:cs typeface="Open Sans"/>
              </a:rPr>
              <a:t>oleh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kelompok</a:t>
            </a:r>
            <a:r>
              <a:rPr lang="en-US" sz="1600">
                <a:ea typeface="Open Sans"/>
                <a:cs typeface="Open Sans"/>
              </a:rPr>
              <a:t> lain.</a:t>
            </a:r>
            <a:endParaRPr lang="en-US" sz="1600">
              <a:effectLst/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ea typeface="Open Sans"/>
                <a:cs typeface="Open Sans"/>
              </a:rPr>
              <a:t>Mahasiswa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b="1" err="1">
                <a:effectLst/>
                <a:ea typeface="Open Sans"/>
                <a:cs typeface="Open Sans"/>
              </a:rPr>
              <a:t>tidak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hadir</a:t>
            </a:r>
            <a:r>
              <a:rPr lang="en-US" sz="1600">
                <a:effectLst/>
                <a:ea typeface="Open Sans"/>
                <a:cs typeface="Open Sans"/>
              </a:rPr>
              <a:t> pada </a:t>
            </a:r>
            <a:r>
              <a:rPr lang="en-US" sz="1600" err="1">
                <a:effectLst/>
                <a:ea typeface="Open Sans"/>
                <a:cs typeface="Open Sans"/>
              </a:rPr>
              <a:t>pertemuan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pengumpulan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dianggap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alpa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sesuai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dengan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peraturan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praktikum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berlaku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  <a:p>
            <a:pPr lvl="0" algn="just">
              <a:lnSpc>
                <a:spcPct val="150000"/>
              </a:lnSpc>
            </a:pP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just">
              <a:lnSpc>
                <a:spcPct val="150000"/>
              </a:lnSpc>
            </a:pP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64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3115081693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422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wajib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berupa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ekstensi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di-compress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menjadi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ekstensi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.zip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bentuk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link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mengarah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eksternal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ekstensi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dinilai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Terdapat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maksimum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ukuran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keseluruhan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di-compress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tercantum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600" err="1">
                <a:latin typeface="Open Sans"/>
              </a:rPr>
              <a:t>Buku</a:t>
            </a:r>
            <a:r>
              <a:rPr lang="en-US" sz="1600">
                <a:latin typeface="Open Sans"/>
              </a:rPr>
              <a:t> Panduan </a:t>
            </a:r>
            <a:r>
              <a:rPr lang="en-US" sz="1600" err="1">
                <a:latin typeface="Open Sans"/>
              </a:rPr>
              <a:t>Akademik</a:t>
            </a:r>
            <a:r>
              <a:rPr lang="en-US" sz="1600">
                <a:latin typeface="Open Sans"/>
              </a:rPr>
              <a:t> Software Laboratory Center dan Laboratory Center </a:t>
            </a:r>
            <a:r>
              <a:rPr lang="en-US" sz="1600" err="1">
                <a:latin typeface="Open Sans"/>
              </a:rPr>
              <a:t>bagian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Sistem</a:t>
            </a:r>
            <a:r>
              <a:rPr lang="en-US" sz="1600">
                <a:latin typeface="Open Sans"/>
              </a:rPr>
              <a:t> </a:t>
            </a:r>
            <a:r>
              <a:rPr lang="en-US" sz="1600" err="1">
                <a:latin typeface="Open Sans"/>
              </a:rPr>
              <a:t>Praktikum</a:t>
            </a:r>
            <a:r>
              <a:rPr lang="en-US" sz="1600">
                <a:latin typeface="Open Sans"/>
              </a:rPr>
              <a:t> (Academic Book).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Jika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ukuran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lebih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dikompres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dipotong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20%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didapat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Apabila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software/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software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berbeda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ditetapkan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tetap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dikoreksi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Segala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timbul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seperti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fitur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berfungsi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menyebabkan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kehilangan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sebagian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seluruh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menjadi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tanggung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64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22481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422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>
                <a:effectLst/>
                <a:ea typeface="Open Sans"/>
                <a:cs typeface="Open Sans"/>
              </a:rPr>
              <a:t>Mahasiswa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diimbau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tidak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memberikan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jawaban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proyek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kepada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kelompok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lain. Jika </a:t>
            </a:r>
            <a:r>
              <a:rPr lang="en-US" sz="1600" b="1" err="1">
                <a:ea typeface="Open Sans"/>
                <a:cs typeface="Open Sans"/>
              </a:rPr>
              <a:t>melanggar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lalai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dalam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menyimpan</a:t>
            </a:r>
            <a:r>
              <a:rPr lang="en-US" sz="1600">
                <a:effectLst/>
                <a:ea typeface="Open Sans"/>
                <a:cs typeface="Open Sans"/>
              </a:rPr>
              <a:t>/</a:t>
            </a:r>
            <a:r>
              <a:rPr lang="en-US" sz="1600" err="1">
                <a:effectLst/>
                <a:ea typeface="Open Sans"/>
                <a:cs typeface="Open Sans"/>
              </a:rPr>
              <a:t>meninggalkan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sehingga</a:t>
            </a:r>
            <a:r>
              <a:rPr lang="en-US" sz="1600">
                <a:effectLst/>
                <a:ea typeface="Open Sans"/>
                <a:cs typeface="Open Sans"/>
              </a:rPr>
              <a:t> di-</a:t>
            </a:r>
            <a:r>
              <a:rPr lang="en-US" sz="1600" i="1">
                <a:effectLst/>
                <a:ea typeface="Open Sans"/>
                <a:cs typeface="Open Sans"/>
              </a:rPr>
              <a:t>copy</a:t>
            </a:r>
            <a:r>
              <a:rPr lang="en-US" sz="1600">
                <a:effectLst/>
                <a:ea typeface="Open Sans"/>
                <a:cs typeface="Open Sans"/>
              </a:rPr>
              <a:t> oleh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lain</a:t>
            </a:r>
            <a:r>
              <a:rPr lang="en-US" sz="1600">
                <a:ea typeface="Open Sans"/>
                <a:cs typeface="Open Sans"/>
              </a:rPr>
              <a:t> (</a:t>
            </a:r>
            <a:r>
              <a:rPr lang="en-US" sz="1600" b="1" err="1">
                <a:ea typeface="Open Sans"/>
                <a:cs typeface="Open Sans"/>
              </a:rPr>
              <a:t>termasuk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jika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lupa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untuk</a:t>
            </a:r>
            <a:r>
              <a:rPr lang="en-US" sz="1600" b="1">
                <a:ea typeface="Open Sans"/>
                <a:cs typeface="Open Sans"/>
              </a:rPr>
              <a:t> log out website </a:t>
            </a:r>
            <a:r>
              <a:rPr lang="en-US" sz="1600" b="1" err="1">
                <a:ea typeface="Open Sans"/>
                <a:cs typeface="Open Sans"/>
              </a:rPr>
              <a:t>pengumpulan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secara</a:t>
            </a:r>
            <a:r>
              <a:rPr lang="en-US" sz="1600" b="1">
                <a:ea typeface="Open Sans"/>
                <a:cs typeface="Open Sans"/>
              </a:rPr>
              <a:t> onsite</a:t>
            </a:r>
            <a:r>
              <a:rPr lang="en-US" sz="1600">
                <a:ea typeface="Open Sans"/>
                <a:cs typeface="Open Sans"/>
              </a:rPr>
              <a:t>).</a:t>
            </a:r>
            <a:r>
              <a:rPr lang="en-US" sz="1600">
                <a:effectLst/>
                <a:ea typeface="Open Sans"/>
                <a:cs typeface="Open Sans"/>
              </a:rPr>
              <a:t> Software Laboratory Center dan Laboratory Center </a:t>
            </a:r>
            <a:r>
              <a:rPr lang="en-US" sz="1600" b="1" err="1">
                <a:effectLst/>
                <a:ea typeface="Open Sans"/>
                <a:cs typeface="Open Sans"/>
              </a:rPr>
              <a:t>tidak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bertanggung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jawab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terhadap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kondisi-kondisi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menyebabkan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dinyatakan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menyontek</a:t>
            </a:r>
            <a:r>
              <a:rPr lang="en-US" sz="1600" b="1">
                <a:effectLst/>
                <a:ea typeface="Open Sans"/>
                <a:cs typeface="Open Sans"/>
              </a:rPr>
              <a:t>/</a:t>
            </a:r>
            <a:r>
              <a:rPr lang="en-US" sz="1600" b="1" err="1">
                <a:effectLst/>
                <a:ea typeface="Open Sans"/>
                <a:cs typeface="Open Sans"/>
              </a:rPr>
              <a:t>disontek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D32E-01A5-E678-2F3F-0A4B67B5B24B}"/>
              </a:ext>
            </a:extLst>
          </p:cNvPr>
          <p:cNvSpPr txBox="1"/>
          <p:nvPr/>
        </p:nvSpPr>
        <p:spPr>
          <a:xfrm>
            <a:off x="920182" y="940981"/>
            <a:ext cx="764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4158857867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2BE844-E4A7-F926-559F-CB1777E28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933440"/>
              </p:ext>
            </p:extLst>
          </p:nvPr>
        </p:nvGraphicFramePr>
        <p:xfrm>
          <a:off x="1082711" y="2014474"/>
          <a:ext cx="7318444" cy="293370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376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1">
                          <a:solidFill>
                            <a:schemeClr val="bg1"/>
                          </a:solidFill>
                          <a:effectLst/>
                          <a:latin typeface="Open Sans"/>
                        </a:rPr>
                        <a:t>Jenis Pelanggaran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1">
                          <a:solidFill>
                            <a:schemeClr val="bg1"/>
                          </a:solidFill>
                          <a:effectLst/>
                          <a:latin typeface="Open Sans"/>
                        </a:rPr>
                        <a:t>Sanksi</a:t>
                      </a:r>
                      <a:endParaRPr lang="en-US" sz="1200" b="1">
                        <a:solidFill>
                          <a:schemeClr val="bg1"/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Pengumpulan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 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proyek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 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diwakilkan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 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kelompok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/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mahasiswa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  <a:ea typeface="Times New Roman"/>
                        </a:rPr>
                        <a:t> lain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Nilai proyek dinyatakan 0 (NOL)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Pengerjaan proyek </a:t>
                      </a:r>
                      <a:r>
                        <a:rPr lang="id-ID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tidak sesuai</a:t>
                      </a: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dengan tema soal proyek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Mencontek/</a:t>
                      </a:r>
                      <a:r>
                        <a:rPr lang="id-ID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dicontek</a:t>
                      </a: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* (sadar/ sengaja)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Nilai praktikum matakuliah tersebut dinyatakan 0 (NOL)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Mengunduh/menyalin</a:t>
                      </a:r>
                      <a:r>
                        <a:rPr lang="en-US" sz="1200" b="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dan </a:t>
                      </a:r>
                      <a:r>
                        <a:rPr lang="en-US" sz="1200" b="1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merupakan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bagian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dari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penilaian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materi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dan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kriteria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</a:t>
                      </a:r>
                      <a:r>
                        <a:rPr lang="en-US" sz="1200" b="0" i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proyek</a:t>
                      </a:r>
                      <a:r>
                        <a:rPr lang="en-US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**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Membeli/menyuruh orang lain membuatkan proyek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Yang dibuatkan: Matakuliah tersebut digugurkan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dan 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Skorsing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 1  (</a:t>
                      </a:r>
                      <a:r>
                        <a:rPr lang="en-US" sz="1200" b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satu</a:t>
                      </a:r>
                      <a:r>
                        <a:rPr lang="en-US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) semester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/>
                        </a:rPr>
                        <a:t>Yang membuatkan: Skorsing 1 (satu) semester</a:t>
                      </a:r>
                      <a:endParaRPr lang="en-US" sz="12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387762-3744-A424-6723-84EC475E596F}"/>
              </a:ext>
            </a:extLst>
          </p:cNvPr>
          <p:cNvSpPr txBox="1"/>
          <p:nvPr/>
        </p:nvSpPr>
        <p:spPr>
          <a:xfrm>
            <a:off x="920182" y="940981"/>
            <a:ext cx="764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Sanksi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Pelanggaran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26F663-F997-8D1E-59FF-ABA4D68C14C4}"/>
              </a:ext>
            </a:extLst>
          </p:cNvPr>
          <p:cNvSpPr txBox="1">
            <a:spLocks/>
          </p:cNvSpPr>
          <p:nvPr/>
        </p:nvSpPr>
        <p:spPr>
          <a:xfrm>
            <a:off x="1041399" y="5159462"/>
            <a:ext cx="7359756" cy="399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*) </a:t>
            </a:r>
            <a:r>
              <a:rPr lang="en-US" sz="1400" i="1" err="1"/>
              <a:t>Mencakup</a:t>
            </a:r>
            <a:r>
              <a:rPr lang="en-US" sz="1400" i="1"/>
              <a:t> Sebagian/</a:t>
            </a:r>
            <a:r>
              <a:rPr lang="en-US" sz="1400" i="1" err="1"/>
              <a:t>seluruhnya</a:t>
            </a:r>
            <a:r>
              <a:rPr lang="en-US" sz="1400" i="1"/>
              <a:t> </a:t>
            </a:r>
            <a:r>
              <a:rPr lang="en-US" sz="1400" i="1" err="1"/>
              <a:t>dari</a:t>
            </a:r>
            <a:r>
              <a:rPr lang="en-US" sz="1400" i="1"/>
              <a:t> </a:t>
            </a:r>
            <a:r>
              <a:rPr lang="en-US" sz="1400" i="1" err="1"/>
              <a:t>jawaban</a:t>
            </a:r>
            <a:r>
              <a:rPr lang="en-US" sz="1400" i="1"/>
              <a:t> </a:t>
            </a:r>
            <a:r>
              <a:rPr lang="en-US" sz="1400" i="1" err="1"/>
              <a:t>mahasiswa</a:t>
            </a:r>
            <a:r>
              <a:rPr lang="en-US" sz="1400" i="1"/>
              <a:t>/</a:t>
            </a:r>
            <a:r>
              <a:rPr lang="en-US" sz="1400" i="1" err="1"/>
              <a:t>kelompok</a:t>
            </a:r>
            <a:r>
              <a:rPr lang="en-US" sz="1400" i="1"/>
              <a:t> lain</a:t>
            </a:r>
          </a:p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**) </a:t>
            </a:r>
            <a:r>
              <a:rPr lang="en-US" sz="1400" i="1" err="1"/>
              <a:t>Sumber</a:t>
            </a:r>
            <a:r>
              <a:rPr lang="en-US" sz="1400" i="1"/>
              <a:t>/link </a:t>
            </a:r>
            <a:r>
              <a:rPr lang="en-US" sz="1400" i="1" err="1"/>
              <a:t>mencakup</a:t>
            </a:r>
            <a:r>
              <a:rPr lang="en-US" sz="1400" i="1"/>
              <a:t> Sebagian/</a:t>
            </a:r>
            <a:r>
              <a:rPr lang="en-US" sz="1400" i="1" err="1"/>
              <a:t>seluruhnya</a:t>
            </a:r>
            <a:r>
              <a:rPr lang="en-US" sz="1400" i="1"/>
              <a:t> </a:t>
            </a:r>
            <a:r>
              <a:rPr lang="en-US" sz="1400" i="1" err="1"/>
              <a:t>dari</a:t>
            </a:r>
            <a:r>
              <a:rPr lang="en-US" sz="1400" i="1"/>
              <a:t> </a:t>
            </a:r>
            <a:r>
              <a:rPr lang="en-US" sz="1400" i="1" err="1"/>
              <a:t>karya</a:t>
            </a:r>
            <a:r>
              <a:rPr lang="en-US" sz="1400" i="1"/>
              <a:t> </a:t>
            </a:r>
            <a:r>
              <a:rPr lang="en-US" sz="1400" i="1" err="1"/>
              <a:t>mahasiswa</a:t>
            </a:r>
            <a:r>
              <a:rPr lang="en-US" sz="1400" i="1"/>
              <a:t>/</a:t>
            </a:r>
            <a:r>
              <a:rPr lang="en-US" sz="1400" i="1" err="1"/>
              <a:t>kelompok</a:t>
            </a:r>
            <a:r>
              <a:rPr lang="en-US" sz="1400" i="1"/>
              <a:t> lain </a:t>
            </a:r>
            <a:r>
              <a:rPr lang="en-US" sz="1400" i="1" err="1"/>
              <a:t>atau</a:t>
            </a:r>
            <a:r>
              <a:rPr lang="en-US" sz="1400" i="1"/>
              <a:t> </a:t>
            </a:r>
            <a:r>
              <a:rPr lang="en-US" sz="1400" i="1" err="1"/>
              <a:t>bahan</a:t>
            </a:r>
            <a:r>
              <a:rPr lang="en-US" sz="1400" i="1"/>
              <a:t> ajar </a:t>
            </a:r>
            <a:r>
              <a:rPr lang="en-US" sz="1400" i="1" err="1"/>
              <a:t>praktikum</a:t>
            </a:r>
            <a:r>
              <a:rPr lang="en-US" sz="1400" i="1"/>
              <a:t>, </a:t>
            </a:r>
            <a:r>
              <a:rPr lang="en-US" sz="1400" i="1" err="1"/>
              <a:t>atau</a:t>
            </a:r>
            <a:r>
              <a:rPr lang="en-US" sz="1400" i="1"/>
              <a:t> </a:t>
            </a:r>
            <a:r>
              <a:rPr lang="en-US" sz="1400" i="1" err="1"/>
              <a:t>bahan</a:t>
            </a:r>
            <a:r>
              <a:rPr lang="en-US" sz="1400" i="1"/>
              <a:t> </a:t>
            </a:r>
            <a:r>
              <a:rPr lang="en-US" sz="1400" i="1" err="1"/>
              <a:t>dari</a:t>
            </a:r>
            <a:r>
              <a:rPr lang="en-US" sz="1400" i="1"/>
              <a:t> </a:t>
            </a:r>
            <a:r>
              <a:rPr lang="en-US" sz="1400" i="1" err="1"/>
              <a:t>sumber</a:t>
            </a:r>
            <a:r>
              <a:rPr lang="en-US" sz="1400" i="1"/>
              <a:t> </a:t>
            </a:r>
            <a:r>
              <a:rPr lang="en-US" sz="1400" i="1" err="1"/>
              <a:t>umum</a:t>
            </a:r>
            <a:r>
              <a:rPr lang="en-US" sz="1400" i="1"/>
              <a:t> </a:t>
            </a:r>
            <a:r>
              <a:rPr lang="en-US" sz="1400" i="1" err="1"/>
              <a:t>seperti</a:t>
            </a:r>
            <a:r>
              <a:rPr lang="en-US" sz="1400" i="1"/>
              <a:t> </a:t>
            </a:r>
            <a:r>
              <a:rPr lang="en-US" sz="1400" i="1" err="1"/>
              <a:t>buku</a:t>
            </a:r>
            <a:r>
              <a:rPr lang="en-US" sz="1400" i="1"/>
              <a:t> dan internet</a:t>
            </a:r>
          </a:p>
        </p:txBody>
      </p:sp>
    </p:spTree>
    <p:extLst>
      <p:ext uri="{BB962C8B-B14F-4D97-AF65-F5344CB8AC3E}">
        <p14:creationId xmlns:p14="http://schemas.microsoft.com/office/powerpoint/2010/main" val="3935018688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46809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berlaku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seluruh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anggota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kecuali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yang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melewati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ketidakhadiran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teori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mengajukan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waktu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telah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kalender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berlaku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luar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periode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ditentukan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diproses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alasan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apapun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Mahasiswa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mengajukan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paling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lambat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 (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tiga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setelah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nilai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dikeluarkan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menu Learning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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Grades 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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Score Protest.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dikenakan</a:t>
            </a:r>
            <a:r>
              <a:rPr lang="en-US" sz="1600"/>
              <a:t> </a:t>
            </a:r>
            <a:r>
              <a:rPr lang="en-US" sz="1600" b="1" err="1">
                <a:solidFill>
                  <a:srgbClr val="C00000"/>
                </a:solidFill>
              </a:rPr>
              <a:t>penalti</a:t>
            </a:r>
            <a:r>
              <a:rPr lang="en-US" sz="1600">
                <a:solidFill>
                  <a:srgbClr val="C00000"/>
                </a:solidFill>
              </a:rPr>
              <a:t> (</a:t>
            </a:r>
            <a:r>
              <a:rPr lang="en-US" sz="1600" err="1">
                <a:solidFill>
                  <a:srgbClr val="C00000"/>
                </a:solidFill>
              </a:rPr>
              <a:t>pengurangan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nilai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err="1">
                <a:solidFill>
                  <a:srgbClr val="C00000"/>
                </a:solidFill>
              </a:rPr>
              <a:t>sebesar</a:t>
            </a:r>
            <a:r>
              <a:rPr lang="en-US" sz="1600">
                <a:solidFill>
                  <a:srgbClr val="C00000"/>
                </a:solidFill>
              </a:rPr>
              <a:t> </a:t>
            </a:r>
            <a:r>
              <a:rPr lang="en-US" sz="1600" b="1">
                <a:solidFill>
                  <a:srgbClr val="C00000"/>
                </a:solidFill>
              </a:rPr>
              <a:t>20 </a:t>
            </a:r>
            <a:r>
              <a:rPr lang="en-US" sz="1600" b="1" err="1">
                <a:solidFill>
                  <a:srgbClr val="C00000"/>
                </a:solidFill>
              </a:rPr>
              <a:t>poin</a:t>
            </a:r>
            <a:r>
              <a:rPr lang="en-US" sz="1600">
                <a:solidFill>
                  <a:srgbClr val="C00000"/>
                </a:solidFill>
              </a:rPr>
              <a:t>)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nilainya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ada</a:t>
            </a:r>
            <a:r>
              <a:rPr lang="en-US" sz="1600"/>
              <a:t> </a:t>
            </a:r>
            <a:r>
              <a:rPr lang="en-US" sz="1600" err="1"/>
              <a:t>perubahan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</a:t>
            </a:r>
            <a:r>
              <a:rPr lang="en-US" sz="1600" err="1"/>
              <a:t>dikeluarkan</a:t>
            </a:r>
            <a:r>
              <a:rPr lang="en-US" sz="1600"/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1AE92-5582-4B60-2B61-9FCF9FCCD61E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</a:t>
            </a:r>
          </a:p>
        </p:txBody>
      </p:sp>
    </p:spTree>
    <p:extLst>
      <p:ext uri="{BB962C8B-B14F-4D97-AF65-F5344CB8AC3E}">
        <p14:creationId xmlns:p14="http://schemas.microsoft.com/office/powerpoint/2010/main" val="73880261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37084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</a:pPr>
            <a:r>
              <a:rPr lang="en-US" sz="1600"/>
              <a:t>Setelah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, </a:t>
            </a:r>
            <a:r>
              <a:rPr lang="en-US" sz="1600" b="1" err="1"/>
              <a:t>hasil</a:t>
            </a:r>
            <a:r>
              <a:rPr lang="en-US" sz="1600" b="1"/>
              <a:t> </a:t>
            </a:r>
            <a:r>
              <a:rPr lang="en-US" sz="1600" b="1" err="1"/>
              <a:t>protes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diumumkan</a:t>
            </a:r>
            <a:r>
              <a:rPr lang="en-US" sz="1600" b="1"/>
              <a:t> </a:t>
            </a:r>
            <a:r>
              <a:rPr lang="en-US" sz="1600" b="1" err="1"/>
              <a:t>melalui</a:t>
            </a:r>
            <a:r>
              <a:rPr lang="en-US" sz="1600" b="1"/>
              <a:t> </a:t>
            </a:r>
            <a:r>
              <a:rPr lang="en-US" sz="1600" b="1" err="1"/>
              <a:t>Binusmaya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tanggal</a:t>
            </a:r>
            <a:r>
              <a:rPr lang="en-US" sz="1600"/>
              <a:t> yang </a:t>
            </a:r>
            <a:r>
              <a:rPr lang="en-US" sz="1600" err="1"/>
              <a:t>ditetapkan</a:t>
            </a:r>
            <a:r>
              <a:rPr lang="en-US" sz="1600"/>
              <a:t> pada </a:t>
            </a:r>
            <a:r>
              <a:rPr lang="en-US" sz="1600" err="1"/>
              <a:t>kalender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setuju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hasil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diberikan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melanjutkan</a:t>
            </a:r>
            <a:r>
              <a:rPr lang="en-US" sz="1600"/>
              <a:t> </a:t>
            </a:r>
            <a:r>
              <a:rPr lang="en-US" sz="1600" b="1"/>
              <a:t>proses </a:t>
            </a:r>
            <a:r>
              <a:rPr lang="en-US" sz="1600" b="1" err="1"/>
              <a:t>konfirmasi</a:t>
            </a:r>
            <a:r>
              <a:rPr lang="en-US" sz="1600" b="1"/>
              <a:t> </a:t>
            </a:r>
            <a:r>
              <a:rPr lang="en-US" sz="1600" b="1" err="1"/>
              <a:t>berkas</a:t>
            </a:r>
            <a:r>
              <a:rPr lang="en-US" sz="1600" b="1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  <a:endParaRPr lang="en-US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/>
              <a:t>Protes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dianggap</a:t>
            </a:r>
            <a:r>
              <a:rPr lang="en-US" sz="1600"/>
              <a:t> </a:t>
            </a:r>
            <a:r>
              <a:rPr lang="en-US" sz="1600" b="1"/>
              <a:t>valid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yang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 Protes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sarana</a:t>
            </a:r>
            <a:r>
              <a:rPr lang="en-US" sz="1600" b="1"/>
              <a:t> lain </a:t>
            </a:r>
            <a:r>
              <a:rPr lang="en-US" sz="1600"/>
              <a:t>(</a:t>
            </a:r>
            <a:r>
              <a:rPr lang="en-US" sz="1600" err="1"/>
              <a:t>contoh</a:t>
            </a:r>
            <a:r>
              <a:rPr lang="en-US" sz="1600"/>
              <a:t>: </a:t>
            </a:r>
            <a:r>
              <a:rPr lang="en-US" sz="1600" err="1"/>
              <a:t>mengontak</a:t>
            </a:r>
            <a:r>
              <a:rPr lang="en-US" sz="1600"/>
              <a:t> LINE OA,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asisten</a:t>
            </a:r>
            <a:r>
              <a:rPr lang="en-US" sz="1600"/>
              <a:t> </a:t>
            </a:r>
            <a:r>
              <a:rPr lang="en-US" sz="1600" err="1"/>
              <a:t>pengajar</a:t>
            </a:r>
            <a:r>
              <a:rPr lang="en-US" sz="1600"/>
              <a:t>, dan lain </a:t>
            </a:r>
            <a:r>
              <a:rPr lang="en-US" sz="1600" err="1"/>
              <a:t>sebagainya</a:t>
            </a:r>
            <a:r>
              <a:rPr lang="en-US" sz="1600"/>
              <a:t>)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</a:t>
            </a:r>
            <a:r>
              <a:rPr lang="en-US" sz="1600" b="1" err="1"/>
              <a:t>diproses</a:t>
            </a:r>
            <a:r>
              <a:rPr lang="en-US" sz="1600" b="1"/>
              <a:t> </a:t>
            </a:r>
            <a:r>
              <a:rPr lang="en-US" sz="1600" b="1" err="1"/>
              <a:t>lebih</a:t>
            </a:r>
            <a:r>
              <a:rPr lang="en-US" sz="1600" b="1"/>
              <a:t> </a:t>
            </a:r>
            <a:r>
              <a:rPr lang="en-US" sz="1600" b="1" err="1"/>
              <a:t>lanjut</a:t>
            </a:r>
            <a:r>
              <a:rPr lang="en-US" sz="1600" b="1"/>
              <a:t>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err="1"/>
              <a:t>Binusmaya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1AE92-5582-4B60-2B61-9FCF9FCCD61E}"/>
              </a:ext>
            </a:extLst>
          </p:cNvPr>
          <p:cNvSpPr txBox="1"/>
          <p:nvPr/>
        </p:nvSpPr>
        <p:spPr>
          <a:xfrm>
            <a:off x="920181" y="940981"/>
            <a:ext cx="76427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3016690442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D35F-C4FC-34F4-B3ED-C55932EC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C9B1C-30A1-B5D5-9C34-CB673DDE5A5E}"/>
              </a:ext>
            </a:extLst>
          </p:cNvPr>
          <p:cNvSpPr txBox="1">
            <a:spLocks/>
          </p:cNvSpPr>
          <p:nvPr/>
        </p:nvSpPr>
        <p:spPr>
          <a:xfrm>
            <a:off x="920182" y="1494979"/>
            <a:ext cx="7642800" cy="37084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</a:pPr>
            <a:r>
              <a:rPr lang="en-US" sz="1600" err="1"/>
              <a:t>Apabila</a:t>
            </a:r>
            <a:r>
              <a:rPr lang="en-US" sz="1600"/>
              <a:t> </a:t>
            </a:r>
            <a:r>
              <a:rPr lang="en-US" sz="1600" b="1"/>
              <a:t>salah </a:t>
            </a:r>
            <a:r>
              <a:rPr lang="en-US" sz="1600" b="1" err="1"/>
              <a:t>satu</a:t>
            </a:r>
            <a:r>
              <a:rPr lang="en-US" sz="1600" b="1"/>
              <a:t> </a:t>
            </a:r>
            <a:r>
              <a:rPr lang="en-US" sz="1600" b="1" err="1"/>
              <a:t>anggota</a:t>
            </a:r>
            <a:r>
              <a:rPr lang="en-US" sz="1600" b="1"/>
              <a:t> </a:t>
            </a:r>
            <a:r>
              <a:rPr lang="en-US" sz="1600" b="1" err="1"/>
              <a:t>kelompok</a:t>
            </a:r>
            <a:r>
              <a:rPr lang="en-US" sz="1600"/>
              <a:t> </a:t>
            </a:r>
            <a:r>
              <a:rPr lang="en-US" sz="1600" err="1"/>
              <a:t>telah</a:t>
            </a:r>
            <a:r>
              <a:rPr lang="en-US" sz="1600"/>
              <a:t> </a:t>
            </a:r>
            <a:r>
              <a:rPr lang="en-US" sz="1600" err="1"/>
              <a:t>mengajukan</a:t>
            </a:r>
            <a:r>
              <a:rPr lang="en-US" sz="1600"/>
              <a:t> </a:t>
            </a:r>
            <a:r>
              <a:rPr lang="en-US" sz="1600" err="1"/>
              <a:t>protes</a:t>
            </a:r>
            <a:r>
              <a:rPr lang="en-US" sz="1600"/>
              <a:t> </a:t>
            </a:r>
            <a:r>
              <a:rPr lang="en-US" sz="1600" err="1"/>
              <a:t>nilai</a:t>
            </a:r>
            <a:r>
              <a:rPr lang="en-US" sz="1600"/>
              <a:t>, </a:t>
            </a:r>
            <a:r>
              <a:rPr lang="en-US" sz="1600" err="1"/>
              <a:t>anggota</a:t>
            </a:r>
            <a:r>
              <a:rPr lang="en-US" sz="1600"/>
              <a:t> </a:t>
            </a:r>
            <a:r>
              <a:rPr lang="en-US" sz="1600" err="1"/>
              <a:t>kelompok</a:t>
            </a:r>
            <a:r>
              <a:rPr lang="en-US" sz="1600"/>
              <a:t> </a:t>
            </a:r>
            <a:r>
              <a:rPr lang="en-US" sz="1600" err="1"/>
              <a:t>lainnya</a:t>
            </a:r>
            <a:r>
              <a:rPr lang="en-US" sz="1600"/>
              <a:t> </a:t>
            </a:r>
            <a:r>
              <a:rPr lang="en-US" sz="1600" err="1"/>
              <a:t>diperbolehkan</a:t>
            </a:r>
            <a:r>
              <a:rPr lang="en-US" sz="1600"/>
              <a:t> </a:t>
            </a:r>
            <a:r>
              <a:rPr lang="en-US" sz="1600" err="1"/>
              <a:t>mengajukan</a:t>
            </a:r>
            <a:r>
              <a:rPr lang="en-US" sz="1600"/>
              <a:t> </a:t>
            </a:r>
            <a:r>
              <a:rPr lang="en-US" sz="1600" b="1" err="1"/>
              <a:t>protes</a:t>
            </a:r>
            <a:r>
              <a:rPr lang="en-US" sz="1600" b="1"/>
              <a:t> 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 b="1" err="1"/>
              <a:t>untuk</a:t>
            </a:r>
            <a:r>
              <a:rPr lang="en-US" sz="1600" b="1"/>
              <a:t> </a:t>
            </a:r>
            <a:r>
              <a:rPr lang="en-US" sz="1600" b="1" err="1"/>
              <a:t>melengkapi</a:t>
            </a:r>
            <a:r>
              <a:rPr lang="en-US" sz="1600" b="1"/>
              <a:t> </a:t>
            </a:r>
            <a:r>
              <a:rPr lang="en-US" sz="1600" b="1" err="1"/>
              <a:t>bukti</a:t>
            </a:r>
            <a:r>
              <a:rPr lang="en-US" sz="1600" b="1"/>
              <a:t> </a:t>
            </a:r>
            <a:r>
              <a:rPr lang="en-US" sz="1600" b="1" err="1"/>
              <a:t>atau</a:t>
            </a:r>
            <a:r>
              <a:rPr lang="en-US" sz="1600" b="1"/>
              <a:t> </a:t>
            </a:r>
            <a:r>
              <a:rPr lang="en-US" sz="1600" b="1" err="1"/>
              <a:t>catatan</a:t>
            </a:r>
            <a:r>
              <a:rPr lang="en-US" sz="1600" b="1"/>
              <a:t> </a:t>
            </a:r>
            <a:r>
              <a:rPr lang="en-US" sz="1600" b="1" err="1"/>
              <a:t>pendukung</a:t>
            </a:r>
            <a:r>
              <a:rPr lang="en-US" sz="1600"/>
              <a:t>. </a:t>
            </a:r>
            <a:r>
              <a:rPr lang="en-US" sz="1600" err="1"/>
              <a:t>Namun</a:t>
            </a:r>
            <a:r>
              <a:rPr lang="en-US" sz="1600"/>
              <a:t>, </a:t>
            </a:r>
            <a:r>
              <a:rPr lang="en-US" sz="1600" b="1" err="1"/>
              <a:t>hasil</a:t>
            </a:r>
            <a:r>
              <a:rPr lang="en-US" sz="1600" b="1"/>
              <a:t> </a:t>
            </a:r>
            <a:r>
              <a:rPr lang="en-US" sz="1600" b="1" err="1"/>
              <a:t>akhir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 </a:t>
            </a:r>
            <a:r>
              <a:rPr lang="en-US" sz="1600" err="1"/>
              <a:t>tersebut</a:t>
            </a:r>
            <a:r>
              <a:rPr lang="en-US" sz="1600"/>
              <a:t> </a:t>
            </a:r>
            <a:r>
              <a:rPr lang="en-US" sz="1600" err="1"/>
              <a:t>akan</a:t>
            </a:r>
            <a:r>
              <a:rPr lang="en-US" sz="1600"/>
              <a:t> </a:t>
            </a:r>
            <a:r>
              <a:rPr lang="en-US" sz="1600" b="1" err="1"/>
              <a:t>berlaku</a:t>
            </a:r>
            <a:r>
              <a:rPr lang="en-US" sz="1600" b="1"/>
              <a:t> </a:t>
            </a:r>
            <a:r>
              <a:rPr lang="en-US" sz="1600" b="1" err="1"/>
              <a:t>untuk</a:t>
            </a:r>
            <a:r>
              <a:rPr lang="en-US" sz="1600" b="1"/>
              <a:t> </a:t>
            </a:r>
            <a:r>
              <a:rPr lang="en-US" sz="1600" b="1" err="1"/>
              <a:t>seluruh</a:t>
            </a:r>
            <a:r>
              <a:rPr lang="en-US" sz="1600" b="1"/>
              <a:t> </a:t>
            </a:r>
            <a:r>
              <a:rPr lang="en-US" sz="1600" b="1" err="1"/>
              <a:t>anggota</a:t>
            </a:r>
            <a:r>
              <a:rPr lang="en-US" sz="1600" b="1"/>
              <a:t> </a:t>
            </a:r>
            <a:r>
              <a:rPr lang="en-US" sz="1600" b="1" err="1"/>
              <a:t>kelompok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 </a:t>
            </a:r>
            <a:r>
              <a:rPr lang="en-US" sz="1600" err="1"/>
              <a:t>penerapan</a:t>
            </a:r>
            <a:r>
              <a:rPr lang="en-US" sz="1600"/>
              <a:t> </a:t>
            </a:r>
            <a:r>
              <a:rPr lang="en-US" sz="1600" b="1" err="1"/>
              <a:t>penalti</a:t>
            </a:r>
            <a:r>
              <a:rPr lang="en-US" sz="1600" b="1"/>
              <a:t> (</a:t>
            </a:r>
            <a:r>
              <a:rPr lang="en-US" sz="1600" b="1" err="1"/>
              <a:t>pengurangan</a:t>
            </a:r>
            <a:r>
              <a:rPr lang="en-US" sz="1600" b="1"/>
              <a:t> </a:t>
            </a:r>
            <a:r>
              <a:rPr lang="en-US" sz="1600" b="1" err="1"/>
              <a:t>nilai</a:t>
            </a:r>
            <a:r>
              <a:rPr lang="en-US" sz="1600" b="1"/>
              <a:t> </a:t>
            </a:r>
            <a:r>
              <a:rPr lang="en-US" sz="1600" b="1" err="1"/>
              <a:t>sebear</a:t>
            </a:r>
            <a:r>
              <a:rPr lang="en-US" sz="1600" b="1"/>
              <a:t> 20 </a:t>
            </a:r>
            <a:r>
              <a:rPr lang="en-US" sz="1600" b="1" err="1"/>
              <a:t>poin</a:t>
            </a:r>
            <a:r>
              <a:rPr lang="en-US" sz="1600" b="1"/>
              <a:t>)</a:t>
            </a:r>
            <a:r>
              <a:rPr lang="en-US" sz="1600"/>
              <a:t>, </a:t>
            </a:r>
            <a:r>
              <a:rPr lang="en-US" sz="1600" err="1"/>
              <a:t>terlepas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 </a:t>
            </a:r>
            <a:r>
              <a:rPr lang="en-US" sz="1600" err="1"/>
              <a:t>ada</a:t>
            </a:r>
            <a:r>
              <a:rPr lang="en-US" sz="1600"/>
              <a:t> </a:t>
            </a:r>
            <a:r>
              <a:rPr lang="en-US" sz="1600" err="1"/>
              <a:t>atau</a:t>
            </a:r>
            <a:r>
              <a:rPr lang="en-US" sz="1600"/>
              <a:t> </a:t>
            </a:r>
            <a:r>
              <a:rPr lang="en-US" sz="1600" err="1"/>
              <a:t>tidaknya</a:t>
            </a:r>
            <a:r>
              <a:rPr lang="en-US" sz="1600"/>
              <a:t> </a:t>
            </a:r>
            <a:r>
              <a:rPr lang="en-US" sz="1600" err="1"/>
              <a:t>partisipasi</a:t>
            </a:r>
            <a:r>
              <a:rPr lang="en-US" sz="1600"/>
              <a:t> </a:t>
            </a:r>
            <a:r>
              <a:rPr lang="en-US" sz="1600" err="1"/>
              <a:t>setiap</a:t>
            </a:r>
            <a:r>
              <a:rPr lang="en-US" sz="1600"/>
              <a:t> </a:t>
            </a:r>
            <a:r>
              <a:rPr lang="en-US" sz="1600" err="1"/>
              <a:t>anggota</a:t>
            </a:r>
            <a:r>
              <a:rPr lang="en-US" sz="1600"/>
              <a:t> </a:t>
            </a:r>
            <a:r>
              <a:rPr lang="en-US" sz="1600" err="1"/>
              <a:t>dalam</a:t>
            </a:r>
            <a:r>
              <a:rPr lang="en-US" sz="1600"/>
              <a:t> </a:t>
            </a:r>
            <a:r>
              <a:rPr lang="en-US" sz="1600" err="1"/>
              <a:t>pengajuan</a:t>
            </a:r>
            <a:r>
              <a:rPr lang="en-US" sz="1600"/>
              <a:t> </a:t>
            </a:r>
            <a:r>
              <a:rPr lang="en-US" sz="1600" err="1"/>
              <a:t>protes</a:t>
            </a:r>
            <a:r>
              <a:rPr lang="en-US" sz="1600"/>
              <a:t>.</a:t>
            </a:r>
            <a:endParaRPr lang="en-US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7EEE5-448A-488C-BA37-F9C26E39A4A7}"/>
              </a:ext>
            </a:extLst>
          </p:cNvPr>
          <p:cNvSpPr txBox="1"/>
          <p:nvPr/>
        </p:nvSpPr>
        <p:spPr>
          <a:xfrm>
            <a:off x="920181" y="940981"/>
            <a:ext cx="76427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461986039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496734"/>
            <a:ext cx="7642800" cy="23271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berhasil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harus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memastikan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telah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menerima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bukti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berupa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kode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Binusåmaya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Practicum. Jika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menerima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bukti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kelompok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bersangkutan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diperbolehkan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memprotes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apabila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terjadi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perbedaan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yang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dikumpul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file, size, date, time).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54540D-98C7-0680-EF12-567F6630540D}"/>
              </a:ext>
            </a:extLst>
          </p:cNvPr>
          <p:cNvGrpSpPr/>
          <p:nvPr/>
        </p:nvGrpSpPr>
        <p:grpSpPr>
          <a:xfrm>
            <a:off x="1189810" y="3823847"/>
            <a:ext cx="7103543" cy="1211553"/>
            <a:chOff x="0" y="0"/>
            <a:chExt cx="7213600" cy="12307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A7A95D-75F0-99D9-848E-EB2A47439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4646"/>
            <a:stretch/>
          </p:blipFill>
          <p:spPr>
            <a:xfrm>
              <a:off x="0" y="0"/>
              <a:ext cx="7213600" cy="12307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DEB458-27F2-BDA4-6702-117410FD2EEE}"/>
                </a:ext>
              </a:extLst>
            </p:cNvPr>
            <p:cNvSpPr/>
            <p:nvPr/>
          </p:nvSpPr>
          <p:spPr>
            <a:xfrm>
              <a:off x="2386077" y="863117"/>
              <a:ext cx="1386489" cy="3676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F0F866E-A2BB-3CCE-9CF9-16AD33801B40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&amp; Bukti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09975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563950"/>
            <a:ext cx="7642800" cy="1772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Apabila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pertanyaan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silakan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tanyakan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kepada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asisten</a:t>
            </a:r>
            <a:r>
              <a:rPr lang="en-US" sz="1600" b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masing-masing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Zoom / group LINE / forum (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sesuai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kesepakatan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pengajar</a:t>
            </a:r>
            <a:r>
              <a:rPr lang="en-US" sz="160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704D6C-03BF-CF73-4EB4-BC2EC5B077BF}"/>
              </a:ext>
            </a:extLst>
          </p:cNvPr>
          <p:cNvSpPr txBox="1"/>
          <p:nvPr/>
        </p:nvSpPr>
        <p:spPr>
          <a:xfrm>
            <a:off x="920182" y="940981"/>
            <a:ext cx="7319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Lainnya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420479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F6E678-642E-4140-B0A9-8C332B86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583" y="2766219"/>
            <a:ext cx="7286018" cy="1325563"/>
          </a:xfrm>
        </p:spPr>
        <p:txBody>
          <a:bodyPr>
            <a:no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 Penggunaan Binusmaya Praktikum untuk Pengumpulan Proyek</a:t>
            </a:r>
          </a:p>
        </p:txBody>
      </p:sp>
    </p:spTree>
    <p:extLst>
      <p:ext uri="{BB962C8B-B14F-4D97-AF65-F5344CB8AC3E}">
        <p14:creationId xmlns:p14="http://schemas.microsoft.com/office/powerpoint/2010/main" val="19981763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1956644"/>
            <a:ext cx="7642800" cy="861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>
                <a:effectLst/>
                <a:ea typeface="Open Sans"/>
                <a:cs typeface="Open Sans"/>
              </a:rPr>
              <a:t>Login </a:t>
            </a:r>
            <a:r>
              <a:rPr lang="en-US" sz="1600" err="1">
                <a:effectLst/>
                <a:ea typeface="Open Sans"/>
                <a:cs typeface="Open Sans"/>
              </a:rPr>
              <a:t>Binusmaya</a:t>
            </a:r>
            <a:r>
              <a:rPr lang="en-US" sz="1600">
                <a:effectLst/>
                <a:ea typeface="Open Sans"/>
                <a:cs typeface="Open Sans"/>
              </a:rPr>
              <a:t> Practicum </a:t>
            </a:r>
            <a:r>
              <a:rPr lang="en-US" sz="1600" err="1">
                <a:effectLst/>
                <a:ea typeface="Open Sans"/>
                <a:cs typeface="Open Sans"/>
              </a:rPr>
              <a:t>melalui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u="sng">
                <a:solidFill>
                  <a:srgbClr val="0563C1"/>
                </a:solidFill>
                <a:effectLst/>
                <a:ea typeface="Open Sans"/>
                <a:cs typeface="Open Sans"/>
                <a:hlinkClick r:id="rId2"/>
              </a:rPr>
              <a:t>https://bluejack.binus.ac.id/prk/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dengan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kredensial</a:t>
            </a:r>
            <a:r>
              <a:rPr lang="en-US" sz="1600">
                <a:ea typeface="Open Sans"/>
                <a:cs typeface="Open Sans"/>
              </a:rPr>
              <a:t> NIM</a:t>
            </a:r>
            <a:r>
              <a:rPr lang="en-US" sz="1600">
                <a:effectLst/>
                <a:ea typeface="Open Sans"/>
                <a:cs typeface="Open Sans"/>
              </a:rPr>
              <a:t> dan password </a:t>
            </a:r>
            <a:r>
              <a:rPr lang="en-US" sz="1600" err="1">
                <a:effectLst/>
                <a:ea typeface="Open Sans"/>
                <a:cs typeface="Open Sans"/>
              </a:rPr>
              <a:t>Binusmaya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</p:txBody>
      </p:sp>
      <p:pic>
        <p:nvPicPr>
          <p:cNvPr id="2" name="Picture 1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3B11D9CD-AEB1-4E7E-BCB5-09EA6482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063" y="3429000"/>
            <a:ext cx="2971873" cy="278690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2C378E-59A6-7BE9-8807-7ACCB09452DC}"/>
              </a:ext>
            </a:extLst>
          </p:cNvPr>
          <p:cNvSpPr txBox="1"/>
          <p:nvPr/>
        </p:nvSpPr>
        <p:spPr>
          <a:xfrm>
            <a:off x="920182" y="940981"/>
            <a:ext cx="764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368332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2416080"/>
            <a:ext cx="7642800" cy="861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ffectLst/>
                <a:ea typeface="Open Sans"/>
                <a:cs typeface="Open Sans"/>
              </a:rPr>
              <a:t>Perhatikan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mata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kuliah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dari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akan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dikumpulkan</a:t>
            </a:r>
            <a:r>
              <a:rPr lang="en-US" sz="1600">
                <a:effectLst/>
                <a:ea typeface="Open Sans"/>
                <a:cs typeface="Open Sans"/>
              </a:rPr>
              <a:t> dan </a:t>
            </a:r>
            <a:r>
              <a:rPr lang="en-US" sz="1600" err="1">
                <a:effectLst/>
                <a:ea typeface="Open Sans"/>
                <a:cs typeface="Open Sans"/>
              </a:rPr>
              <a:t>anggota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kelompok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proyek</a:t>
            </a:r>
            <a:r>
              <a:rPr lang="en-US" sz="1600">
                <a:effectLst/>
                <a:ea typeface="Open Sans"/>
                <a:cs typeface="Open Sans"/>
              </a:rPr>
              <a:t> pada menu </a:t>
            </a:r>
            <a:r>
              <a:rPr lang="en-US" sz="1600" b="1">
                <a:ea typeface="Open Sans"/>
                <a:cs typeface="Open Sans"/>
              </a:rPr>
              <a:t>Home</a:t>
            </a:r>
            <a:r>
              <a:rPr lang="en-US" sz="1600" b="1">
                <a:effectLst/>
                <a:ea typeface="Open Sans"/>
                <a:cs typeface="Open Sans"/>
              </a:rPr>
              <a:t> &gt; </a:t>
            </a:r>
            <a:r>
              <a:rPr lang="en-US" sz="1600" b="1" err="1">
                <a:effectLst/>
                <a:ea typeface="Open Sans"/>
                <a:cs typeface="Open Sans"/>
              </a:rPr>
              <a:t>Pilih</a:t>
            </a:r>
            <a:r>
              <a:rPr lang="en-US" sz="1600" b="1">
                <a:effectLst/>
                <a:ea typeface="Open Sans"/>
                <a:cs typeface="Open Sans"/>
              </a:rPr>
              <a:t> Mata Kuliah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F5E2A1-2643-EA6E-4CE3-BAC85759BA17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89A7919-8C7A-6E18-A2F8-4BD4B581C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9" b="13499"/>
          <a:stretch>
            <a:fillRect/>
          </a:stretch>
        </p:blipFill>
        <p:spPr>
          <a:xfrm>
            <a:off x="1675279" y="3431758"/>
            <a:ext cx="6143625" cy="29935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9930135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0CFA9-C3A6-EF81-99AD-140B8C40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E5C8-E749-5B6D-5586-CA7259E44E48}"/>
              </a:ext>
            </a:extLst>
          </p:cNvPr>
          <p:cNvSpPr txBox="1">
            <a:spLocks/>
          </p:cNvSpPr>
          <p:nvPr/>
        </p:nvSpPr>
        <p:spPr>
          <a:xfrm>
            <a:off x="920182" y="2416080"/>
            <a:ext cx="7642800" cy="861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ingin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melihat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anggota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kelompok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menekan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"Group Detail" </a:t>
            </a:r>
            <a:r>
              <a:rPr lang="en-US" sz="1600">
                <a:ea typeface="Open Sans"/>
                <a:cs typeface="Open Sans"/>
              </a:rPr>
              <a:t>dan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melihat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soal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serta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proyek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dapat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menekan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"Case &amp; Submission"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973A6-D424-32B8-5A91-A5DBF76133E4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FF8D67-78B1-F922-A6F3-53AB90C7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22"/>
          <a:stretch>
            <a:fillRect/>
          </a:stretch>
        </p:blipFill>
        <p:spPr>
          <a:xfrm>
            <a:off x="1890346" y="3666909"/>
            <a:ext cx="5717371" cy="28452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7318671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2418309"/>
            <a:ext cx="7642800" cy="21466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600" i="1">
                <a:effectLst/>
                <a:ea typeface="Open Sans"/>
                <a:cs typeface="Open Sans"/>
              </a:rPr>
              <a:t>Compress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menjadi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>
                <a:effectLst/>
                <a:ea typeface="Open Sans"/>
                <a:cs typeface="Open Sans"/>
              </a:rPr>
              <a:t>.zip</a:t>
            </a:r>
            <a:r>
              <a:rPr lang="en-US" sz="1600">
                <a:effectLst/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i="1">
                <a:effectLst/>
                <a:ea typeface="Open Sans"/>
                <a:cs typeface="Open Sans"/>
              </a:rPr>
              <a:t>Upload </a:t>
            </a:r>
            <a:r>
              <a:rPr lang="en-US" sz="1600">
                <a:effectLst/>
                <a:ea typeface="Open Sans"/>
                <a:cs typeface="Open Sans"/>
              </a:rPr>
              <a:t>file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dengan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menekan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>
                <a:effectLst/>
                <a:ea typeface="Open Sans"/>
                <a:cs typeface="Open Sans"/>
              </a:rPr>
              <a:t>“Upload”</a:t>
            </a:r>
            <a:r>
              <a:rPr lang="en-US" sz="1600">
                <a:effectLst/>
                <a:ea typeface="Open Sans"/>
                <a:cs typeface="Open Sans"/>
              </a:rPr>
              <a:t> pada case </a:t>
            </a:r>
            <a:r>
              <a:rPr lang="en-US" sz="1600" err="1">
                <a:effectLst/>
                <a:ea typeface="Open Sans"/>
                <a:cs typeface="Open Sans"/>
              </a:rPr>
              <a:t>dengan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tipe</a:t>
            </a:r>
            <a:r>
              <a:rPr lang="en-US" sz="1600" b="1">
                <a:ea typeface="Open Sans"/>
                <a:cs typeface="Open Sans"/>
              </a:rPr>
              <a:t> Project.</a:t>
            </a: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DCFBE-3D4E-9EF6-2CC0-B84BE7444D1F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F4DD0D-7E0B-7624-DB66-2C749AFD7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92" r="17917" b="41296"/>
          <a:stretch>
            <a:fillRect/>
          </a:stretch>
        </p:blipFill>
        <p:spPr>
          <a:xfrm>
            <a:off x="2089078" y="3905250"/>
            <a:ext cx="5292810" cy="26670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6947052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22C45-B80D-B062-D59C-8ED7F177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FA1C5-646C-C4D2-308C-AAC9CF4EB213}"/>
              </a:ext>
            </a:extLst>
          </p:cNvPr>
          <p:cNvSpPr txBox="1">
            <a:spLocks/>
          </p:cNvSpPr>
          <p:nvPr/>
        </p:nvSpPr>
        <p:spPr>
          <a:xfrm>
            <a:off x="920182" y="2418309"/>
            <a:ext cx="7642800" cy="21466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Saat  </a:t>
            </a:r>
            <a:r>
              <a:rPr lang="en-US" sz="1600" i="1">
                <a:ea typeface="Open Sans"/>
                <a:cs typeface="Open Sans"/>
              </a:rPr>
              <a:t>upload </a:t>
            </a:r>
            <a:r>
              <a:rPr lang="en-US" sz="1600" err="1">
                <a:ea typeface="Open Sans"/>
                <a:cs typeface="Open Sans"/>
              </a:rPr>
              <a:t>djawaban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err="1">
                <a:ea typeface="Open Sans"/>
                <a:cs typeface="Open Sans"/>
              </a:rPr>
              <a:t>membaca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menyetujui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bagian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Agreements </a:t>
            </a:r>
            <a:r>
              <a:rPr lang="en-US" sz="1600" err="1">
                <a:ea typeface="Open Sans"/>
                <a:cs typeface="Open Sans"/>
              </a:rPr>
              <a:t>terlebih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dahulu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Setelah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itu</a:t>
            </a:r>
            <a:r>
              <a:rPr lang="en-US" sz="1600">
                <a:ea typeface="Open Sans"/>
                <a:cs typeface="Open Sans"/>
              </a:rPr>
              <a:t>, proses </a:t>
            </a:r>
            <a:r>
              <a:rPr lang="en-US" sz="1600" i="1">
                <a:ea typeface="Open Sans"/>
                <a:cs typeface="Open Sans"/>
              </a:rPr>
              <a:t>upload </a:t>
            </a:r>
            <a:r>
              <a:rPr lang="en-US" sz="1600" err="1">
                <a:ea typeface="Open Sans"/>
                <a:cs typeface="Open Sans"/>
              </a:rPr>
              <a:t>akan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dimulai</a:t>
            </a:r>
            <a:r>
              <a:rPr lang="en-US" sz="1600">
                <a:ea typeface="Open Sans"/>
                <a:cs typeface="Open Sans"/>
              </a:rPr>
              <a:t>. </a:t>
            </a:r>
            <a:r>
              <a:rPr lang="en-US" sz="1600" b="1">
                <a:ea typeface="Open Sans"/>
                <a:cs typeface="Open Sans"/>
              </a:rPr>
              <a:t>Mohon </a:t>
            </a:r>
            <a:r>
              <a:rPr lang="en-US" sz="1600" b="1" err="1">
                <a:ea typeface="Open Sans"/>
                <a:cs typeface="Open Sans"/>
              </a:rPr>
              <a:t>tunggu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hingga</a:t>
            </a:r>
            <a:r>
              <a:rPr lang="en-US" sz="1600" b="1">
                <a:ea typeface="Open Sans"/>
                <a:cs typeface="Open Sans"/>
              </a:rPr>
              <a:t> proses </a:t>
            </a:r>
            <a:r>
              <a:rPr lang="en-US" sz="1600" b="1" i="1">
                <a:ea typeface="Open Sans"/>
                <a:cs typeface="Open Sans"/>
              </a:rPr>
              <a:t>upload </a:t>
            </a:r>
            <a:r>
              <a:rPr lang="en-US" sz="1600" b="1" err="1">
                <a:ea typeface="Open Sans"/>
                <a:cs typeface="Open Sans"/>
              </a:rPr>
              <a:t>selesai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sepenuhnya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 sz="160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10E53-9727-A606-C2D2-502D68446839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6" name="Picture 5" descr="A screenshot of a facebook page&#10;&#10;AI-generated content may be incorrect.">
            <a:extLst>
              <a:ext uri="{FF2B5EF4-FFF2-40B4-BE49-F238E27FC236}">
                <a16:creationId xmlns:a16="http://schemas.microsoft.com/office/drawing/2014/main" id="{DA163208-1563-F150-3D63-3DFC42E61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8" y="4124325"/>
            <a:ext cx="2657475" cy="2400300"/>
          </a:xfrm>
          <a:prstGeom prst="rect">
            <a:avLst/>
          </a:prstGeom>
        </p:spPr>
      </p:pic>
      <p:pic>
        <p:nvPicPr>
          <p:cNvPr id="7" name="Picture 6" descr="A screenshot of a uploading message&#10;&#10;AI-generated content may be incorrect.">
            <a:extLst>
              <a:ext uri="{FF2B5EF4-FFF2-40B4-BE49-F238E27FC236}">
                <a16:creationId xmlns:a16="http://schemas.microsoft.com/office/drawing/2014/main" id="{04A24D0F-4B68-09C1-E009-BAE4855B2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988" y="4348163"/>
            <a:ext cx="3581400" cy="177165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6211591-068E-E0B7-E004-4D9E4F8D3E6A}"/>
              </a:ext>
            </a:extLst>
          </p:cNvPr>
          <p:cNvSpPr/>
          <p:nvPr/>
        </p:nvSpPr>
        <p:spPr>
          <a:xfrm>
            <a:off x="4034615" y="5115575"/>
            <a:ext cx="705772" cy="4098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98471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D99C9-ED9B-A614-C5DE-4647AC28E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2275D-0DDA-8F3F-60B7-A1A52B1D30D5}"/>
              </a:ext>
            </a:extLst>
          </p:cNvPr>
          <p:cNvSpPr txBox="1">
            <a:spLocks/>
          </p:cNvSpPr>
          <p:nvPr/>
        </p:nvSpPr>
        <p:spPr>
          <a:xfrm>
            <a:off x="920182" y="2418309"/>
            <a:ext cx="7642800" cy="21466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Detail 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akan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>
                <a:ea typeface="Open Sans"/>
                <a:cs typeface="Open Sans"/>
              </a:rPr>
              <a:t> di </a:t>
            </a:r>
            <a:r>
              <a:rPr lang="en-US" sz="1600" err="1">
                <a:ea typeface="Open Sans"/>
                <a:cs typeface="Open Sans"/>
              </a:rPr>
              <a:t>bagian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b="1">
                <a:ea typeface="Open Sans"/>
                <a:cs typeface="Open Sans"/>
              </a:rPr>
              <a:t>Submitted Answer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>
                <a:ea typeface="Open Sans"/>
                <a:cs typeface="Open Sans"/>
              </a:rPr>
              <a:t>Akan 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peringatan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 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proyek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melebihi</a:t>
            </a:r>
            <a:r>
              <a:rPr lang="en-US" sz="1600" b="1">
                <a:ea typeface="Open Sans"/>
                <a:cs typeface="Open Sans"/>
              </a:rPr>
              <a:t> batas yang </a:t>
            </a:r>
            <a:r>
              <a:rPr lang="en-US" sz="1600" b="1" err="1">
                <a:ea typeface="Open Sans"/>
                <a:cs typeface="Open Sans"/>
              </a:rPr>
              <a:t>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>
                <a:ea typeface="Open Sans"/>
                <a:cs typeface="Open Sans"/>
              </a:rPr>
              <a:t>.</a:t>
            </a:r>
            <a:endParaRPr lang="en-US"/>
          </a:p>
          <a:p>
            <a:pPr algn="just">
              <a:lnSpc>
                <a:spcPct val="160000"/>
              </a:lnSpc>
            </a:pP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file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proyek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i="1">
                <a:ea typeface="Open Sans"/>
                <a:cs typeface="Open Sans"/>
              </a:rPr>
              <a:t>size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menghindari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pengurangan</a:t>
            </a:r>
            <a:r>
              <a:rPr lang="en-US" sz="1600" b="1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sebesar</a:t>
            </a:r>
            <a:r>
              <a:rPr lang="en-US" sz="1600" b="1">
                <a:ea typeface="Open Sans"/>
                <a:cs typeface="Open Sans"/>
              </a:rPr>
              <a:t> 20%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lvl="0" algn="just">
              <a:lnSpc>
                <a:spcPct val="160000"/>
              </a:lnSpc>
            </a:pPr>
            <a:endParaRPr lang="en-US" sz="1600">
              <a:effectLst/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08DAD-F272-F4C4-9C52-920F61DCB118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2F98ABC-FC10-83E6-BB7D-71F6669B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55" y="4743182"/>
            <a:ext cx="7644136" cy="15609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4301034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91C4-04E0-415B-8E11-C299FFF76742}"/>
              </a:ext>
            </a:extLst>
          </p:cNvPr>
          <p:cNvSpPr txBox="1">
            <a:spLocks/>
          </p:cNvSpPr>
          <p:nvPr/>
        </p:nvSpPr>
        <p:spPr>
          <a:xfrm>
            <a:off x="920182" y="2418309"/>
            <a:ext cx="7642800" cy="32556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>
                <a:effectLst/>
                <a:ea typeface="Open Sans"/>
                <a:cs typeface="Open Sans"/>
              </a:rPr>
              <a:t>Cek </a:t>
            </a:r>
            <a:r>
              <a:rPr lang="en-US" sz="1600" err="1">
                <a:effectLst/>
                <a:ea typeface="Open Sans"/>
                <a:cs typeface="Open Sans"/>
              </a:rPr>
              <a:t>kembali</a:t>
            </a:r>
            <a:r>
              <a:rPr lang="en-US" sz="1600">
                <a:effectLst/>
                <a:ea typeface="Open Sans"/>
                <a:cs typeface="Open Sans"/>
              </a:rPr>
              <a:t> detail yang </a:t>
            </a:r>
            <a:r>
              <a:rPr lang="en-US" sz="1600" err="1">
                <a:effectLst/>
                <a:ea typeface="Open Sans"/>
                <a:cs typeface="Open Sans"/>
              </a:rPr>
              <a:t>ditampilkan</a:t>
            </a:r>
            <a:r>
              <a:rPr lang="en-US" sz="1600">
                <a:effectLst/>
                <a:ea typeface="Open Sans"/>
                <a:cs typeface="Open Sans"/>
              </a:rPr>
              <a:t> (</a:t>
            </a:r>
            <a:r>
              <a:rPr lang="en-US" sz="1600" i="1">
                <a:effectLst/>
                <a:ea typeface="Open Sans"/>
                <a:cs typeface="Open Sans"/>
              </a:rPr>
              <a:t>file name, modified date</a:t>
            </a:r>
            <a:r>
              <a:rPr lang="en-US" sz="1600">
                <a:effectLst/>
                <a:ea typeface="Open Sans"/>
                <a:cs typeface="Open Sans"/>
              </a:rPr>
              <a:t>, dan </a:t>
            </a:r>
            <a:r>
              <a:rPr lang="en-US" sz="1600" i="1">
                <a:effectLst/>
                <a:ea typeface="Open Sans"/>
                <a:cs typeface="Open Sans"/>
              </a:rPr>
              <a:t>size</a:t>
            </a:r>
            <a:r>
              <a:rPr lang="en-US" sz="1600">
                <a:effectLst/>
                <a:ea typeface="Open Sans"/>
                <a:cs typeface="Open Sans"/>
              </a:rPr>
              <a:t>)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>
                <a:effectLst/>
                <a:ea typeface="Open Sans"/>
                <a:cs typeface="Open Sans"/>
              </a:rPr>
              <a:t>Pada </a:t>
            </a:r>
            <a:r>
              <a:rPr lang="en-US" sz="1600" err="1">
                <a:effectLst/>
                <a:ea typeface="Open Sans"/>
                <a:cs typeface="Open Sans"/>
              </a:rPr>
              <a:t>tahap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ini</a:t>
            </a:r>
            <a:r>
              <a:rPr lang="en-US" sz="1600">
                <a:effectLst/>
                <a:ea typeface="Open Sans"/>
                <a:cs typeface="Open Sans"/>
              </a:rPr>
              <a:t>, </a:t>
            </a:r>
            <a:r>
              <a:rPr lang="en-US" sz="1600" err="1">
                <a:effectLst/>
                <a:ea typeface="Open Sans"/>
                <a:cs typeface="Open Sans"/>
              </a:rPr>
              <a:t>mahasiswa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dapat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melakukan</a:t>
            </a:r>
            <a:r>
              <a:rPr lang="en-US" sz="1600">
                <a:effectLst/>
                <a:ea typeface="Open Sans"/>
                <a:cs typeface="Open Sans"/>
              </a:rPr>
              <a:t> 2 (dua) </a:t>
            </a:r>
            <a:r>
              <a:rPr lang="en-US" sz="1600" err="1">
                <a:effectLst/>
                <a:ea typeface="Open Sans"/>
                <a:cs typeface="Open Sans"/>
              </a:rPr>
              <a:t>pilihan</a:t>
            </a:r>
            <a:r>
              <a:rPr lang="en-US" sz="1600">
                <a:effectLst/>
                <a:ea typeface="Open Sans"/>
                <a:cs typeface="Open Sans"/>
              </a:rPr>
              <a:t>:</a:t>
            </a:r>
          </a:p>
          <a:p>
            <a:pPr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i="1">
                <a:effectLst/>
                <a:ea typeface="Open Sans"/>
                <a:cs typeface="Open Sans"/>
              </a:rPr>
              <a:t>Upload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kembali</a:t>
            </a:r>
            <a:r>
              <a:rPr lang="en-US" sz="1600">
                <a:effectLst/>
                <a:ea typeface="Open Sans"/>
                <a:cs typeface="Open Sans"/>
              </a:rPr>
              <a:t>.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baru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akan</a:t>
            </a:r>
            <a:r>
              <a:rPr lang="en-US" sz="1600" b="1">
                <a:effectLst/>
                <a:ea typeface="Open Sans"/>
                <a:cs typeface="Open Sans"/>
              </a:rPr>
              <a:t> </a:t>
            </a:r>
            <a:r>
              <a:rPr lang="en-US" sz="1600" b="1" err="1">
                <a:effectLst/>
                <a:ea typeface="Open Sans"/>
                <a:cs typeface="Open Sans"/>
              </a:rPr>
              <a:t>menimpa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i="1">
                <a:effectLst/>
                <a:ea typeface="Open Sans"/>
                <a:cs typeface="Open Sans"/>
              </a:rPr>
              <a:t>file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 err="1">
                <a:effectLst/>
                <a:ea typeface="Open Sans"/>
                <a:cs typeface="Open Sans"/>
              </a:rPr>
              <a:t>sebelumnya</a:t>
            </a:r>
            <a:endParaRPr lang="en-US" sz="1600">
              <a:effectLst/>
              <a:ea typeface="Open Sans"/>
              <a:cs typeface="Open Sans"/>
            </a:endParaRPr>
          </a:p>
          <a:p>
            <a:pPr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600" b="1">
                <a:ea typeface="Open Sans"/>
                <a:cs typeface="Open Sans"/>
              </a:rPr>
              <a:t>WAJIB </a:t>
            </a:r>
            <a:r>
              <a:rPr lang="en-US" sz="1600" i="1">
                <a:ea typeface="Open Sans"/>
                <a:cs typeface="Open Sans"/>
              </a:rPr>
              <a:t>download</a:t>
            </a:r>
            <a:r>
              <a:rPr lang="en-US" sz="1600" i="1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untuk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mengecek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apakah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jawaban</a:t>
            </a:r>
            <a:r>
              <a:rPr lang="en-US" sz="1600">
                <a:effectLst/>
                <a:ea typeface="Open Sans"/>
                <a:cs typeface="Open Sans"/>
              </a:rPr>
              <a:t> yang </a:t>
            </a:r>
            <a:r>
              <a:rPr lang="en-US" sz="1600">
                <a:ea typeface="Open Sans"/>
                <a:cs typeface="Open Sans"/>
              </a:rPr>
              <a:t>di-</a:t>
            </a:r>
            <a:r>
              <a:rPr lang="en-US" sz="1600" i="1">
                <a:ea typeface="Open Sans"/>
                <a:cs typeface="Open Sans"/>
              </a:rPr>
              <a:t>upload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sudah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benar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atau</a:t>
            </a:r>
            <a:r>
              <a:rPr lang="en-US" sz="1600">
                <a:effectLst/>
                <a:ea typeface="Open Sans"/>
                <a:cs typeface="Open Sans"/>
              </a:rPr>
              <a:t> </a:t>
            </a:r>
            <a:r>
              <a:rPr lang="en-US" sz="1600" err="1">
                <a:effectLst/>
                <a:ea typeface="Open Sans"/>
                <a:cs typeface="Open Sans"/>
              </a:rPr>
              <a:t>belum</a:t>
            </a:r>
            <a:endParaRPr lang="en-US" sz="1600">
              <a:effectLst/>
              <a:ea typeface="Open Sans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83A0D3-6559-54C9-B533-B2AEE763A443}"/>
              </a:ext>
            </a:extLst>
          </p:cNvPr>
          <p:cNvSpPr txBox="1"/>
          <p:nvPr/>
        </p:nvSpPr>
        <p:spPr>
          <a:xfrm>
            <a:off x="920182" y="940981"/>
            <a:ext cx="764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Binusmaya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Proyek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523D53-51D3-1142-67DC-72013F96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57" t="40361" r="19344" b="43976"/>
          <a:stretch>
            <a:fillRect/>
          </a:stretch>
        </p:blipFill>
        <p:spPr>
          <a:xfrm>
            <a:off x="1199891" y="5067213"/>
            <a:ext cx="6909730" cy="10331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2918619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A21C12-6658-2154-649B-BD2E457B85CB}"/>
              </a:ext>
            </a:extLst>
          </p:cNvPr>
          <p:cNvSpPr/>
          <p:nvPr/>
        </p:nvSpPr>
        <p:spPr>
          <a:xfrm>
            <a:off x="881743" y="1577255"/>
            <a:ext cx="7990114" cy="3854716"/>
          </a:xfrm>
          <a:prstGeom prst="roundRect">
            <a:avLst>
              <a:gd name="adj" fmla="val 8785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577256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file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tersimpan</a:t>
            </a:r>
            <a:r>
              <a:rPr lang="en-US" sz="1600" b="1"/>
              <a:t> (</a:t>
            </a:r>
            <a:r>
              <a:rPr lang="en-US" sz="1600" b="1" i="1"/>
              <a:t>saved</a:t>
            </a:r>
            <a:r>
              <a:rPr lang="en-US" sz="1600" b="1"/>
              <a:t>)</a:t>
            </a:r>
            <a:r>
              <a:rPr lang="en-US" sz="1600"/>
              <a:t> dan </a:t>
            </a:r>
            <a:r>
              <a:rPr lang="en-US" sz="1600" b="1" err="1"/>
              <a:t>tertutup</a:t>
            </a:r>
            <a:r>
              <a:rPr lang="en-US" sz="1600" b="1"/>
              <a:t> (</a:t>
            </a:r>
            <a:r>
              <a:rPr lang="en-US" sz="1600" b="1" i="1"/>
              <a:t>closed</a:t>
            </a:r>
            <a:r>
              <a:rPr lang="en-US" sz="1600" b="1"/>
              <a:t>)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mempermudah</a:t>
            </a:r>
            <a:r>
              <a:rPr lang="en-US" sz="1600"/>
              <a:t>, </a:t>
            </a:r>
            <a:r>
              <a:rPr lang="en-US" sz="1600" err="1"/>
              <a:t>masukkan</a:t>
            </a:r>
            <a:r>
              <a:rPr lang="en-US" sz="1600"/>
              <a:t> </a:t>
            </a:r>
            <a:r>
              <a:rPr lang="en-US" sz="1600" b="1" err="1"/>
              <a:t>semua</a:t>
            </a:r>
            <a:r>
              <a:rPr lang="en-US" sz="1600" b="1"/>
              <a:t> file </a:t>
            </a:r>
            <a:r>
              <a:rPr lang="en-US" sz="1600"/>
              <a:t>yang </a:t>
            </a:r>
            <a:r>
              <a:rPr lang="en-US" sz="1600" err="1"/>
              <a:t>ingin</a:t>
            </a:r>
            <a:r>
              <a:rPr lang="en-US" sz="1600"/>
              <a:t> </a:t>
            </a:r>
            <a:r>
              <a:rPr lang="en-US" sz="1600" err="1"/>
              <a:t>dikumpulkan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err="1"/>
              <a:t>satu</a:t>
            </a:r>
            <a:r>
              <a:rPr lang="en-US" sz="1600"/>
              <a:t> folder (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hanya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menyimpan</a:t>
            </a:r>
            <a:r>
              <a:rPr lang="en-US" sz="1600"/>
              <a:t> 1 zip).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Zip folder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b="1" err="1"/>
              <a:t>klik</a:t>
            </a:r>
            <a:r>
              <a:rPr lang="en-US" sz="1600" b="1"/>
              <a:t> </a:t>
            </a:r>
            <a:r>
              <a:rPr lang="en-US" sz="1600" b="1" err="1"/>
              <a:t>kanan</a:t>
            </a:r>
            <a:r>
              <a:rPr lang="en-US" sz="1600" b="1"/>
              <a:t> pada folder </a:t>
            </a:r>
            <a:r>
              <a:rPr lang="en-US" sz="1600" b="1">
                <a:sym typeface="Wingdings" pitchFamily="2" charset="2"/>
              </a:rPr>
              <a:t> Send to  Compressed (zipped) folder</a:t>
            </a:r>
            <a:r>
              <a:rPr lang="en-US" sz="1600">
                <a:sym typeface="Wingdings" pitchFamily="2" charset="2"/>
              </a:rPr>
              <a:t>.</a:t>
            </a:r>
          </a:p>
          <a:p>
            <a:pPr lvl="1" algn="just">
              <a:lnSpc>
                <a:spcPct val="160000"/>
              </a:lnSpc>
            </a:pPr>
            <a:r>
              <a:rPr lang="en-US" sz="1400">
                <a:sym typeface="Wingdings" pitchFamily="2" charset="2"/>
              </a:rPr>
              <a:t>Cara lain </a:t>
            </a:r>
            <a:r>
              <a:rPr lang="en-US" sz="1400" err="1">
                <a:sym typeface="Wingdings" pitchFamily="2" charset="2"/>
              </a:rPr>
              <a:t>untuk</a:t>
            </a:r>
            <a:r>
              <a:rPr lang="en-US" sz="1400">
                <a:sym typeface="Wingdings" pitchFamily="2" charset="2"/>
              </a:rPr>
              <a:t> zip </a:t>
            </a:r>
            <a:r>
              <a:rPr lang="en-US" sz="1400" err="1">
                <a:sym typeface="Wingdings" pitchFamily="2" charset="2"/>
              </a:rPr>
              <a:t>adalah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err="1">
                <a:sym typeface="Wingdings" pitchFamily="2" charset="2"/>
              </a:rPr>
              <a:t>dengan</a:t>
            </a:r>
            <a:r>
              <a:rPr lang="en-US" sz="1400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klik</a:t>
            </a:r>
            <a:r>
              <a:rPr lang="en-US" sz="1400" b="1">
                <a:sym typeface="Wingdings" pitchFamily="2" charset="2"/>
              </a:rPr>
              <a:t> </a:t>
            </a:r>
            <a:r>
              <a:rPr lang="en-US" sz="1400" b="1" err="1">
                <a:sym typeface="Wingdings" pitchFamily="2" charset="2"/>
              </a:rPr>
              <a:t>kanan</a:t>
            </a:r>
            <a:r>
              <a:rPr lang="en-US" sz="1400" b="1">
                <a:sym typeface="Wingdings" pitchFamily="2" charset="2"/>
              </a:rPr>
              <a:t> pada </a:t>
            </a:r>
            <a:r>
              <a:rPr lang="en-US" sz="1400" b="1" err="1">
                <a:sym typeface="Wingdings" pitchFamily="2" charset="2"/>
              </a:rPr>
              <a:t>foler</a:t>
            </a:r>
            <a:r>
              <a:rPr lang="en-US" sz="1400" b="1">
                <a:sym typeface="Wingdings" pitchFamily="2" charset="2"/>
              </a:rPr>
              <a:t>  7-Zip  Add to Archive  </a:t>
            </a:r>
            <a:r>
              <a:rPr lang="en-US" sz="1400" b="1" err="1">
                <a:sym typeface="Wingdings" pitchFamily="2" charset="2"/>
              </a:rPr>
              <a:t>ubah</a:t>
            </a:r>
            <a:r>
              <a:rPr lang="en-US" sz="1400" b="1">
                <a:sym typeface="Wingdings" pitchFamily="2" charset="2"/>
              </a:rPr>
              <a:t> archive format </a:t>
            </a:r>
            <a:r>
              <a:rPr lang="en-US" sz="1400" b="1" err="1">
                <a:sym typeface="Wingdings" pitchFamily="2" charset="2"/>
              </a:rPr>
              <a:t>menjadi</a:t>
            </a:r>
            <a:r>
              <a:rPr lang="en-US" sz="1400" b="1">
                <a:sym typeface="Wingdings" pitchFamily="2" charset="2"/>
              </a:rPr>
              <a:t> .zip</a:t>
            </a:r>
            <a:r>
              <a:rPr lang="en-US" sz="1400">
                <a:sym typeface="Wingdings" pitchFamily="2" charset="2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sym typeface="Wingdings" pitchFamily="2" charset="2"/>
              </a:rPr>
              <a:t>Pastikan</a:t>
            </a:r>
            <a:r>
              <a:rPr lang="en-US" sz="1600">
                <a:sym typeface="Wingdings" pitchFamily="2" charset="2"/>
              </a:rPr>
              <a:t> zip yang </a:t>
            </a:r>
            <a:r>
              <a:rPr lang="en-US" sz="1600" err="1">
                <a:sym typeface="Wingdings" pitchFamily="2" charset="2"/>
              </a:rPr>
              <a:t>dibuat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berekstensi</a:t>
            </a:r>
            <a:r>
              <a:rPr lang="en-US" sz="1600">
                <a:sym typeface="Wingdings" pitchFamily="2" charset="2"/>
              </a:rPr>
              <a:t> .zip, </a:t>
            </a:r>
            <a:r>
              <a:rPr lang="en-US" sz="1600" b="1" err="1">
                <a:sym typeface="Wingdings" pitchFamily="2" charset="2"/>
              </a:rPr>
              <a:t>bukan</a:t>
            </a:r>
            <a:r>
              <a:rPr lang="en-US" sz="160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ekstensi</a:t>
            </a:r>
            <a:r>
              <a:rPr lang="en-US" sz="1600">
                <a:sym typeface="Wingdings" pitchFamily="2" charset="2"/>
              </a:rPr>
              <a:t> lain </a:t>
            </a:r>
            <a:r>
              <a:rPr lang="en-US" sz="1600" err="1">
                <a:sym typeface="Wingdings" pitchFamily="2" charset="2"/>
              </a:rPr>
              <a:t>seperti</a:t>
            </a:r>
            <a:r>
              <a:rPr lang="en-US" sz="1600">
                <a:sym typeface="Wingdings" pitchFamily="2" charset="2"/>
              </a:rPr>
              <a:t> .7z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Compress (ZIP) File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502CE8-3BF4-5F89-AF00-F98E0E184FE5}"/>
              </a:ext>
            </a:extLst>
          </p:cNvPr>
          <p:cNvSpPr/>
          <p:nvPr/>
        </p:nvSpPr>
        <p:spPr>
          <a:xfrm>
            <a:off x="881743" y="5649926"/>
            <a:ext cx="7990114" cy="935935"/>
          </a:xfrm>
          <a:prstGeom prst="roundRect">
            <a:avLst>
              <a:gd name="adj" fmla="val 2506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91F322-7AB2-1F56-8FC0-68B316E04B4A}"/>
              </a:ext>
            </a:extLst>
          </p:cNvPr>
          <p:cNvSpPr txBox="1">
            <a:spLocks/>
          </p:cNvSpPr>
          <p:nvPr/>
        </p:nvSpPr>
        <p:spPr>
          <a:xfrm>
            <a:off x="1054099" y="5637869"/>
            <a:ext cx="7696201" cy="935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en-US" sz="1600" b="1" err="1"/>
              <a:t>Hindari</a:t>
            </a:r>
            <a:r>
              <a:rPr lang="en-US" sz="1600" b="1"/>
              <a:t> </a:t>
            </a:r>
            <a:r>
              <a:rPr lang="en-US" sz="1600" b="1" err="1"/>
              <a:t>membuka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file Zip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dimasukkan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b="1"/>
              <a:t>FTP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mencegah</a:t>
            </a:r>
            <a:r>
              <a:rPr lang="en-US" sz="1600"/>
              <a:t> file corrupt.</a:t>
            </a:r>
          </a:p>
        </p:txBody>
      </p:sp>
    </p:spTree>
    <p:extLst>
      <p:ext uri="{BB962C8B-B14F-4D97-AF65-F5344CB8AC3E}">
        <p14:creationId xmlns:p14="http://schemas.microsoft.com/office/powerpoint/2010/main" val="39043385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Panduan Compress (ZIP) File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BE000E-51B4-3481-5BF7-ED75F14E2E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020"/>
          <a:stretch/>
        </p:blipFill>
        <p:spPr>
          <a:xfrm>
            <a:off x="1549406" y="4917897"/>
            <a:ext cx="3289300" cy="1576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9604B-5121-358A-F3FD-1DC651D258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401" b="78871"/>
          <a:stretch/>
        </p:blipFill>
        <p:spPr>
          <a:xfrm>
            <a:off x="5320507" y="4917897"/>
            <a:ext cx="2360607" cy="6858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BB0ED5-CC04-4DB2-D959-1F8B6B2DFB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917" t="88206"/>
          <a:stretch/>
        </p:blipFill>
        <p:spPr>
          <a:xfrm>
            <a:off x="5407026" y="5904594"/>
            <a:ext cx="2187568" cy="3828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66E2C8-089A-9BD1-BA16-9043A036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4286733"/>
            <a:ext cx="7523844" cy="55399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1600"/>
              <a:t>Cara </a:t>
            </a:r>
            <a:r>
              <a:rPr lang="en-US" sz="1600" err="1"/>
              <a:t>kedua</a:t>
            </a:r>
            <a:r>
              <a:rPr lang="en-US" sz="1600"/>
              <a:t>: </a:t>
            </a:r>
            <a:r>
              <a:rPr lang="en-US" sz="1600" b="1">
                <a:sym typeface="Wingdings" pitchFamily="2" charset="2"/>
              </a:rPr>
              <a:t>7-Zip  Add to Archive  </a:t>
            </a:r>
            <a:r>
              <a:rPr lang="en-US" sz="1600" b="1" err="1">
                <a:sym typeface="Wingdings" pitchFamily="2" charset="2"/>
              </a:rPr>
              <a:t>ubah</a:t>
            </a:r>
            <a:r>
              <a:rPr lang="en-US" sz="1600" b="1">
                <a:sym typeface="Wingdings" pitchFamily="2" charset="2"/>
              </a:rPr>
              <a:t> archive format </a:t>
            </a:r>
            <a:r>
              <a:rPr lang="en-US" sz="1600" b="1" err="1">
                <a:sym typeface="Wingdings" pitchFamily="2" charset="2"/>
              </a:rPr>
              <a:t>menjadi</a:t>
            </a:r>
            <a:r>
              <a:rPr lang="en-US" sz="1600" b="1">
                <a:sym typeface="Wingdings" pitchFamily="2" charset="2"/>
              </a:rPr>
              <a:t> .zip.</a:t>
            </a:r>
            <a:endParaRPr lang="en-US" sz="1600">
              <a:sym typeface="Wingdings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277798-8A46-0948-A585-44BA4F0BC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341" y="2440639"/>
            <a:ext cx="3365500" cy="171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461A029-5E6B-0AB1-2889-67B0E9837837}"/>
              </a:ext>
            </a:extLst>
          </p:cNvPr>
          <p:cNvSpPr txBox="1">
            <a:spLocks/>
          </p:cNvSpPr>
          <p:nvPr/>
        </p:nvSpPr>
        <p:spPr>
          <a:xfrm>
            <a:off x="1054098" y="1890003"/>
            <a:ext cx="7033987" cy="429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Font typeface="Arial" pitchFamily="34" charset="0"/>
              <a:buNone/>
            </a:pPr>
            <a:r>
              <a:rPr lang="en-US" sz="1600"/>
              <a:t>Cara </a:t>
            </a:r>
            <a:r>
              <a:rPr lang="en-US" sz="1600" err="1"/>
              <a:t>pertama</a:t>
            </a:r>
            <a:r>
              <a:rPr lang="en-US" sz="1600"/>
              <a:t>: </a:t>
            </a:r>
            <a:r>
              <a:rPr lang="en-US" sz="1600" b="1">
                <a:sym typeface="Wingdings" pitchFamily="2" charset="2"/>
              </a:rPr>
              <a:t>Send to  Compressed (zipped) folder</a:t>
            </a:r>
            <a:r>
              <a:rPr lang="en-US" sz="1600">
                <a:sym typeface="Wingdings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24442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Lain-lain</a:t>
            </a:r>
          </a:p>
        </p:txBody>
      </p:sp>
    </p:spTree>
    <p:extLst>
      <p:ext uri="{BB962C8B-B14F-4D97-AF65-F5344CB8AC3E}">
        <p14:creationId xmlns:p14="http://schemas.microsoft.com/office/powerpoint/2010/main" val="38364313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Contact Center Lab Software: </a:t>
            </a:r>
            <a:r>
              <a:rPr lang="en-US" sz="1600">
                <a:hlinkClick r:id="rId2"/>
              </a:rPr>
              <a:t>https://linktr.ee/OfficialAccountSLC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Contact Center LSC: </a:t>
            </a:r>
            <a:r>
              <a:rPr lang="en-US" sz="1600">
                <a:hlinkClick r:id="rId3"/>
              </a:rPr>
              <a:t>https://linktr.ee/contactlsc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Binusmaya</a:t>
            </a:r>
            <a:r>
              <a:rPr lang="en-US" sz="1600"/>
              <a:t> Practicum: </a:t>
            </a:r>
            <a:r>
              <a:rPr lang="en-US" sz="1600">
                <a:hlinkClick r:id="rId4"/>
              </a:rPr>
              <a:t>https://bluejack.binus.ac.id/prk/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Labfacility</a:t>
            </a:r>
            <a:r>
              <a:rPr lang="en-US" sz="1600"/>
              <a:t> </a:t>
            </a:r>
            <a:r>
              <a:rPr lang="en-US" sz="1600">
                <a:hlinkClick r:id="rId5"/>
              </a:rPr>
              <a:t>http://labfacility.apps.binus.ac.id/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SLC (</a:t>
            </a:r>
            <a:r>
              <a:rPr lang="en-US" sz="1600" err="1"/>
              <a:t>SocMed</a:t>
            </a:r>
            <a:r>
              <a:rPr lang="en-US" sz="1600"/>
              <a:t>, Web, </a:t>
            </a:r>
            <a:r>
              <a:rPr lang="en-US" sz="1600" err="1"/>
              <a:t>dsb</a:t>
            </a:r>
            <a:r>
              <a:rPr lang="en-US" sz="1600"/>
              <a:t>.) 	: </a:t>
            </a:r>
            <a:r>
              <a:rPr lang="en-US" sz="1600">
                <a:hlinkClick r:id="rId6"/>
              </a:rPr>
              <a:t>https://linktr.ee/slcbinusuniv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0A3548-72D9-69CE-7CE8-9A3C60F6778F}"/>
              </a:ext>
            </a:extLst>
          </p:cNvPr>
          <p:cNvGrpSpPr/>
          <p:nvPr/>
        </p:nvGrpSpPr>
        <p:grpSpPr>
          <a:xfrm>
            <a:off x="1219200" y="3886200"/>
            <a:ext cx="6977681" cy="2400092"/>
            <a:chOff x="1371600" y="3429000"/>
            <a:chExt cx="7543800" cy="25948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412B12-1B0B-AE60-2A02-29FEEF4F3A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18310"/>
            <a:stretch/>
          </p:blipFill>
          <p:spPr>
            <a:xfrm>
              <a:off x="1371600" y="3429000"/>
              <a:ext cx="5216084" cy="2529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9F82496-ABE7-8FF5-2F9B-15826AA13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348094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9023CB9-95B5-7097-94CB-CA06FD8286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965737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9B403FBE-7453-678B-6584-3809B870D71B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4350351"/>
              <a:ext cx="1680016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 err="1"/>
                <a:t>Terkait</a:t>
              </a:r>
              <a:r>
                <a:rPr lang="en-US" sz="1200"/>
                <a:t> </a:t>
              </a:r>
              <a:r>
                <a:rPr lang="en-US" sz="1200" err="1"/>
                <a:t>praktikum</a:t>
              </a:r>
              <a:r>
                <a:rPr lang="en-US" sz="1200"/>
                <a:t>, </a:t>
              </a:r>
              <a:r>
                <a:rPr lang="en-US" sz="1200" err="1"/>
                <a:t>protes</a:t>
              </a:r>
              <a:r>
                <a:rPr lang="en-US" sz="1200"/>
                <a:t> </a:t>
              </a:r>
              <a:r>
                <a:rPr lang="en-US" sz="1200" err="1"/>
                <a:t>nilai</a:t>
              </a:r>
              <a:r>
                <a:rPr lang="en-US" sz="1200"/>
                <a:t>, </a:t>
              </a:r>
              <a:r>
                <a:rPr lang="en-US" sz="1200" err="1"/>
                <a:t>dsb</a:t>
              </a:r>
              <a:r>
                <a:rPr lang="en-US" sz="1200"/>
                <a:t>.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C4299511-3E07-439A-9EE9-5E805CB4A991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5084417"/>
              <a:ext cx="1966408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/>
                <a:t>Terkait NAR (New Assistant Recruitment)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4197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Dokumen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peraturan</a:t>
            </a:r>
            <a:r>
              <a:rPr lang="en-US" sz="1400" b="1"/>
              <a:t> </a:t>
            </a:r>
            <a:r>
              <a:rPr lang="en-US" sz="1400" b="1" err="1"/>
              <a:t>praktikum</a:t>
            </a:r>
            <a:r>
              <a:rPr lang="en-US" sz="1400" b="1"/>
              <a:t>, Academic Book</a:t>
            </a:r>
            <a:r>
              <a:rPr lang="en-US" sz="1400"/>
              <a:t>, </a:t>
            </a:r>
            <a:r>
              <a:rPr lang="en-US" sz="1400" err="1"/>
              <a:t>dsb</a:t>
            </a:r>
            <a:r>
              <a:rPr lang="en-US" sz="1400"/>
              <a:t>.: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Practicum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Home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Rules &amp; Procedures</a:t>
            </a: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kalender</a:t>
            </a:r>
            <a:r>
              <a:rPr lang="en-US" sz="1400" b="1"/>
              <a:t> </a:t>
            </a:r>
            <a:r>
              <a:rPr lang="en-US" sz="1400" b="1" err="1"/>
              <a:t>perkuliahan</a:t>
            </a:r>
            <a:r>
              <a:rPr lang="en-US" sz="14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Academic Calendar</a:t>
            </a: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mengakses</a:t>
            </a:r>
            <a:r>
              <a:rPr lang="en-US" sz="1400"/>
              <a:t> </a:t>
            </a:r>
            <a:r>
              <a:rPr lang="en-US" sz="1400" b="1" err="1"/>
              <a:t>kalender</a:t>
            </a:r>
            <a:r>
              <a:rPr lang="en-US" sz="1400" b="1"/>
              <a:t> </a:t>
            </a:r>
            <a:r>
              <a:rPr lang="en-US" sz="1400" b="1" err="1"/>
              <a:t>praktikum</a:t>
            </a:r>
            <a:r>
              <a:rPr lang="en-US" sz="14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Download Center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Practicum</a:t>
            </a: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9C776F-F0F9-6B15-C980-11A311B81ABC}"/>
              </a:ext>
            </a:extLst>
          </p:cNvPr>
          <p:cNvGrpSpPr/>
          <p:nvPr/>
        </p:nvGrpSpPr>
        <p:grpSpPr>
          <a:xfrm>
            <a:off x="1828800" y="4155948"/>
            <a:ext cx="5486400" cy="2514600"/>
            <a:chOff x="1219200" y="3372695"/>
            <a:chExt cx="7010400" cy="33207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1EFED9-7116-565B-F4E9-AF49172C1D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62" t="21107" r="9590" b="8333"/>
            <a:stretch/>
          </p:blipFill>
          <p:spPr>
            <a:xfrm>
              <a:off x="1219200" y="3372695"/>
              <a:ext cx="7010400" cy="33207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733FC68C-C9A5-6782-5243-8E27EBA39D9A}"/>
                </a:ext>
              </a:extLst>
            </p:cNvPr>
            <p:cNvSpPr/>
            <p:nvPr/>
          </p:nvSpPr>
          <p:spPr>
            <a:xfrm>
              <a:off x="1981200" y="6283016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82D362A-E349-DB8B-C80B-758F0A57B914}"/>
                </a:ext>
              </a:extLst>
            </p:cNvPr>
            <p:cNvSpPr/>
            <p:nvPr/>
          </p:nvSpPr>
          <p:spPr>
            <a:xfrm>
              <a:off x="1973643" y="4975321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88116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Hal-</a:t>
            </a:r>
            <a:r>
              <a:rPr lang="en-US" sz="1600" err="1"/>
              <a:t>hal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dijelaskan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sebagian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mengetahui</a:t>
            </a:r>
            <a:r>
              <a:rPr lang="en-US" sz="1600"/>
              <a:t> dan </a:t>
            </a:r>
            <a:r>
              <a:rPr lang="en-US" sz="1600" err="1"/>
              <a:t>mematuhi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b="1" err="1"/>
              <a:t>mengikat</a:t>
            </a:r>
            <a:r>
              <a:rPr lang="en-US" sz="1600" b="1"/>
              <a:t>,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dipahami</a:t>
            </a:r>
            <a:r>
              <a:rPr lang="en-US" sz="1600" b="1"/>
              <a:t>, dan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dipatuhi</a:t>
            </a:r>
            <a:r>
              <a:rPr lang="en-US" sz="1600" b="1"/>
              <a:t> oleh </a:t>
            </a:r>
            <a:r>
              <a:rPr lang="en-US" sz="1600" b="1" err="1"/>
              <a:t>seluruh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tanpa</a:t>
            </a:r>
            <a:r>
              <a:rPr lang="en-US" sz="1600" b="1"/>
              <a:t> </a:t>
            </a:r>
            <a:r>
              <a:rPr lang="en-US" sz="1600" b="1" err="1"/>
              <a:t>terkecuali</a:t>
            </a:r>
            <a:r>
              <a:rPr lang="en-US" sz="1600" b="1"/>
              <a:t>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membaca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Informasi</a:t>
            </a:r>
            <a:r>
              <a:rPr lang="en-US" sz="1600"/>
              <a:t> </a:t>
            </a:r>
            <a:r>
              <a:rPr lang="en-US" sz="1600" err="1"/>
              <a:t>selengkapnya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diunduh</a:t>
            </a:r>
            <a:r>
              <a:rPr lang="en-US" sz="1600"/>
              <a:t> di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4650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 txBox="1">
            <a:spLocks noChangeArrowheads="1"/>
          </p:cNvSpPr>
          <p:nvPr/>
        </p:nvSpPr>
        <p:spPr bwMode="auto">
          <a:xfrm>
            <a:off x="1371600" y="3048000"/>
            <a:ext cx="640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92676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14972BA45BD47B3B120E9D54CA4F5" ma:contentTypeVersion="14" ma:contentTypeDescription="Create a new document." ma:contentTypeScope="" ma:versionID="657e6c44314c0a0a8eb4161617243879">
  <xsd:schema xmlns:xsd="http://www.w3.org/2001/XMLSchema" xmlns:xs="http://www.w3.org/2001/XMLSchema" xmlns:p="http://schemas.microsoft.com/office/2006/metadata/properties" xmlns:ns2="06dd7198-9f69-4b52-9ad8-623c9ba944b5" xmlns:ns3="1f003750-f5da-409e-99e6-8ff9bea2e38b" targetNamespace="http://schemas.microsoft.com/office/2006/metadata/properties" ma:root="true" ma:fieldsID="e29c561de29e116c1589bf9763c5d313" ns2:_="" ns3:_="">
    <xsd:import namespace="06dd7198-9f69-4b52-9ad8-623c9ba944b5"/>
    <xsd:import namespace="1f003750-f5da-409e-99e6-8ff9bea2e38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dd7198-9f69-4b52-9ad8-623c9ba944b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03750-f5da-409e-99e6-8ff9bea2e3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003750-f5da-409e-99e6-8ff9bea2e38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29E61BB-210C-4B95-B262-75BF9DDC64E5}">
  <ds:schemaRefs>
    <ds:schemaRef ds:uri="06dd7198-9f69-4b52-9ad8-623c9ba944b5"/>
    <ds:schemaRef ds:uri="1f003750-f5da-409e-99e6-8ff9bea2e3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84E8D8D-5310-4481-8E59-CA1A97D1D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E93290-8030-4A5A-8B8B-B7DF0E266C5B}">
  <ds:schemaRefs>
    <ds:schemaRef ds:uri="06dd7198-9f69-4b52-9ad8-623c9ba944b5"/>
    <ds:schemaRef ds:uri="1f003750-f5da-409e-99e6-8ff9bea2e3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78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79" baseType="lpstr">
      <vt:lpstr>Office Theme</vt:lpstr>
      <vt:lpstr>   Briefing Pelaksanaan Ujian Akhir Praktikum &amp; Pengumpulan Proyek Praktikum       Software Laboratory Center Genap 2526</vt:lpstr>
      <vt:lpstr>PowerPoint Presentation</vt:lpstr>
      <vt:lpstr>PowerPoint Presentation</vt:lpstr>
      <vt:lpstr>PowerPoint Presentation</vt:lpstr>
      <vt:lpstr>PowerPoint Presentation</vt:lpstr>
      <vt:lpstr>Ujian Akhir Praktikum (UAP)</vt:lpstr>
      <vt:lpstr>PowerPoint Presentation</vt:lpstr>
      <vt:lpstr>Prosedur Pelaksanaan 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Sistem Pelaksanaan UAP</vt:lpstr>
      <vt:lpstr>PowerPoint Presentation</vt:lpstr>
      <vt:lpstr>PowerPoint Presentation</vt:lpstr>
      <vt:lpstr>PowerPoint Presentation</vt:lpstr>
      <vt:lpstr>PowerPoint Presentation</vt:lpstr>
      <vt:lpstr>Peraturan Pelaksanaan 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Penggunaan Web Uploader untuk Pelaksanaan TM/UAP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Penilaian dan Protes Nilai</vt:lpstr>
      <vt:lpstr>PowerPoint Presentation</vt:lpstr>
      <vt:lpstr>PowerPoint Presentation</vt:lpstr>
      <vt:lpstr>PowerPoint Presentation</vt:lpstr>
      <vt:lpstr>PowerPoint Presentation</vt:lpstr>
      <vt:lpstr>Kelas Tambahan</vt:lpstr>
      <vt:lpstr>PowerPoint Presentation</vt:lpstr>
      <vt:lpstr>Proyek Praktikum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Penggunaan Binusmaya Praktikum untuk Pengumpulan Proyek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Lain-lain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[KdMtk] – [Nama Mtk] xxxx     [pengajar1] (XX99-9)  [pengajar2] (XX99-9)    Software Laboratory Center 2020</dc:title>
  <dc:creator>Douglas Rakasiwi Nugroho</dc:creator>
  <cp:revision>1</cp:revision>
  <dcterms:created xsi:type="dcterms:W3CDTF">2021-02-10T00:08:20Z</dcterms:created>
  <dcterms:modified xsi:type="dcterms:W3CDTF">2026-05-07T07:57:01Z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0x01010076B14972BA45BD47B3B120E9D54CA4F5</vt:lpwstr>
  </property>
  <property fmtid="{D5CDD505-2E9C-101B-9397-08002B2CF9AE}" pid="3" name="MediaServiceImageTags">
    <vt:lpwstr/>
  </property>
</Properties>
</file>